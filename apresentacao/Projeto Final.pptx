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27" r:id="rId11"/>
    <p:sldId id="265" r:id="rId12"/>
    <p:sldId id="267" r:id="rId13"/>
    <p:sldId id="287" r:id="rId14"/>
    <p:sldId id="319" r:id="rId15"/>
    <p:sldId id="320" r:id="rId16"/>
    <p:sldId id="321" r:id="rId17"/>
    <p:sldId id="323" r:id="rId18"/>
    <p:sldId id="324" r:id="rId19"/>
    <p:sldId id="325" r:id="rId20"/>
    <p:sldId id="322" r:id="rId21"/>
    <p:sldId id="313" r:id="rId22"/>
    <p:sldId id="326" r:id="rId23"/>
    <p:sldId id="315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F975"/>
    <a:srgbClr val="376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94" autoAdjust="0"/>
    <p:restoredTop sz="94660"/>
  </p:normalViewPr>
  <p:slideViewPr>
    <p:cSldViewPr>
      <p:cViewPr varScale="1">
        <p:scale>
          <a:sx n="105" d="100"/>
          <a:sy n="105" d="100"/>
        </p:scale>
        <p:origin x="123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ED97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ED97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96392" y="1466748"/>
            <a:ext cx="5310505" cy="4293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75628" y="1299108"/>
            <a:ext cx="5134609" cy="397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ED97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201411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848" y="6044184"/>
            <a:ext cx="1723644" cy="4526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ED97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201411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848" y="6044184"/>
            <a:ext cx="1723644" cy="4526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ED97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7847" y="6044184"/>
            <a:ext cx="1723644" cy="4526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17780"/>
            <a:ext cx="7128509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6737" y="1549590"/>
            <a:ext cx="11058525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300352" y="6332854"/>
            <a:ext cx="2112010" cy="12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8ED97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jpg"/><Relationship Id="rId2" Type="http://schemas.openxmlformats.org/officeDocument/2006/relationships/image" Target="../media/image4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MACEDOx/Projeto_Fina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labdata.fia.com.br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202795" cy="6858000"/>
            <a:chOff x="0" y="0"/>
            <a:chExt cx="1220279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847" y="6044184"/>
              <a:ext cx="1723644" cy="4526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8567" y="2049779"/>
              <a:ext cx="2458211" cy="27584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146041" y="5415534"/>
              <a:ext cx="8046720" cy="1005840"/>
            </a:xfrm>
            <a:custGeom>
              <a:avLst/>
              <a:gdLst/>
              <a:ahLst/>
              <a:cxnLst/>
              <a:rect l="l" t="t" r="r" b="b"/>
              <a:pathLst>
                <a:path w="8046720" h="1005839">
                  <a:moveTo>
                    <a:pt x="8046719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8046719" y="1005840"/>
                  </a:lnTo>
                  <a:lnTo>
                    <a:pt x="8046719" y="0"/>
                  </a:lnTo>
                  <a:close/>
                </a:path>
              </a:pathLst>
            </a:custGeom>
            <a:solidFill>
              <a:srgbClr val="0D2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46041" y="5415534"/>
              <a:ext cx="8046720" cy="1005840"/>
            </a:xfrm>
            <a:custGeom>
              <a:avLst/>
              <a:gdLst/>
              <a:ahLst/>
              <a:cxnLst/>
              <a:rect l="l" t="t" r="r" b="b"/>
              <a:pathLst>
                <a:path w="8046720" h="1005839">
                  <a:moveTo>
                    <a:pt x="0" y="1005840"/>
                  </a:moveTo>
                  <a:lnTo>
                    <a:pt x="8046719" y="1005840"/>
                  </a:lnTo>
                  <a:lnTo>
                    <a:pt x="8046719" y="0"/>
                  </a:lnTo>
                  <a:lnTo>
                    <a:pt x="0" y="0"/>
                  </a:lnTo>
                  <a:lnTo>
                    <a:pt x="0" y="1005840"/>
                  </a:lnTo>
                  <a:close/>
                </a:path>
              </a:pathLst>
            </a:custGeom>
            <a:ln w="19812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155947" y="5652312"/>
            <a:ext cx="8037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4670">
              <a:lnSpc>
                <a:spcPct val="100000"/>
              </a:lnSpc>
              <a:spcBef>
                <a:spcPts val="100"/>
              </a:spcBef>
            </a:pPr>
            <a:r>
              <a:rPr lang="pt-BR" sz="2000" b="1" spc="-10" dirty="0">
                <a:solidFill>
                  <a:srgbClr val="FFFFFF"/>
                </a:solidFill>
                <a:latin typeface="Calibri"/>
                <a:cs typeface="Calibri"/>
              </a:rPr>
              <a:t>Pós e MBA Data </a:t>
            </a:r>
            <a:r>
              <a:rPr lang="pt-BR" sz="2000" b="1" spc="-10" dirty="0" err="1">
                <a:solidFill>
                  <a:srgbClr val="FFFFFF"/>
                </a:solidFill>
                <a:latin typeface="Calibri"/>
                <a:cs typeface="Calibri"/>
              </a:rPr>
              <a:t>Engineer</a:t>
            </a:r>
            <a:r>
              <a:rPr lang="pt-BR"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pt-BR" sz="2000" b="1" spc="-35" dirty="0">
                <a:solidFill>
                  <a:srgbClr val="C3F975"/>
                </a:solidFill>
                <a:latin typeface="Segoe UI"/>
                <a:cs typeface="Segoe UI"/>
              </a:rPr>
              <a:t>Projeto Final SPTrans</a:t>
            </a:r>
            <a:endParaRPr sz="20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846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98450" y="-9398"/>
            <a:ext cx="11888470" cy="6517640"/>
            <a:chOff x="298450" y="-9398"/>
            <a:chExt cx="11888470" cy="6517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848" y="6044184"/>
              <a:ext cx="1723644" cy="4526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8610" y="762"/>
              <a:ext cx="11868150" cy="6497320"/>
            </a:xfrm>
            <a:custGeom>
              <a:avLst/>
              <a:gdLst/>
              <a:ahLst/>
              <a:cxnLst/>
              <a:rect l="l" t="t" r="r" b="b"/>
              <a:pathLst>
                <a:path w="11868150" h="6497320">
                  <a:moveTo>
                    <a:pt x="0" y="6496812"/>
                  </a:moveTo>
                  <a:lnTo>
                    <a:pt x="11868150" y="6496812"/>
                  </a:lnTo>
                </a:path>
                <a:path w="11868150" h="6497320">
                  <a:moveTo>
                    <a:pt x="0" y="0"/>
                  </a:moveTo>
                  <a:lnTo>
                    <a:pt x="0" y="6496189"/>
                  </a:lnTo>
                </a:path>
              </a:pathLst>
            </a:custGeom>
            <a:ln w="19812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5652" y="1295399"/>
              <a:ext cx="365760" cy="3657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8824" y="1274063"/>
              <a:ext cx="388619" cy="3870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4283" y="1223771"/>
              <a:ext cx="387095" cy="3886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231636" y="1601723"/>
              <a:ext cx="5622290" cy="3060700"/>
            </a:xfrm>
            <a:custGeom>
              <a:avLst/>
              <a:gdLst/>
              <a:ahLst/>
              <a:cxnLst/>
              <a:rect l="l" t="t" r="r" b="b"/>
              <a:pathLst>
                <a:path w="5622290" h="3060700">
                  <a:moveTo>
                    <a:pt x="979932" y="480822"/>
                  </a:moveTo>
                  <a:lnTo>
                    <a:pt x="977684" y="434517"/>
                  </a:lnTo>
                  <a:lnTo>
                    <a:pt x="971092" y="389458"/>
                  </a:lnTo>
                  <a:lnTo>
                    <a:pt x="960361" y="345846"/>
                  </a:lnTo>
                  <a:lnTo>
                    <a:pt x="945680" y="303872"/>
                  </a:lnTo>
                  <a:lnTo>
                    <a:pt x="927277" y="263766"/>
                  </a:lnTo>
                  <a:lnTo>
                    <a:pt x="905344" y="225691"/>
                  </a:lnTo>
                  <a:lnTo>
                    <a:pt x="880097" y="189890"/>
                  </a:lnTo>
                  <a:lnTo>
                    <a:pt x="851725" y="156527"/>
                  </a:lnTo>
                  <a:lnTo>
                    <a:pt x="820432" y="125831"/>
                  </a:lnTo>
                  <a:lnTo>
                    <a:pt x="786447" y="97980"/>
                  </a:lnTo>
                  <a:lnTo>
                    <a:pt x="749960" y="73202"/>
                  </a:lnTo>
                  <a:lnTo>
                    <a:pt x="711161" y="51676"/>
                  </a:lnTo>
                  <a:lnTo>
                    <a:pt x="670293" y="33616"/>
                  </a:lnTo>
                  <a:lnTo>
                    <a:pt x="627519" y="19215"/>
                  </a:lnTo>
                  <a:lnTo>
                    <a:pt x="583069" y="8674"/>
                  </a:lnTo>
                  <a:lnTo>
                    <a:pt x="537146" y="2209"/>
                  </a:lnTo>
                  <a:lnTo>
                    <a:pt x="489966" y="0"/>
                  </a:lnTo>
                  <a:lnTo>
                    <a:pt x="442772" y="2209"/>
                  </a:lnTo>
                  <a:lnTo>
                    <a:pt x="396849" y="8674"/>
                  </a:lnTo>
                  <a:lnTo>
                    <a:pt x="352399" y="19215"/>
                  </a:lnTo>
                  <a:lnTo>
                    <a:pt x="309626" y="33616"/>
                  </a:lnTo>
                  <a:lnTo>
                    <a:pt x="268757" y="51676"/>
                  </a:lnTo>
                  <a:lnTo>
                    <a:pt x="229958" y="73202"/>
                  </a:lnTo>
                  <a:lnTo>
                    <a:pt x="193471" y="97980"/>
                  </a:lnTo>
                  <a:lnTo>
                    <a:pt x="159486" y="125831"/>
                  </a:lnTo>
                  <a:lnTo>
                    <a:pt x="128193" y="156527"/>
                  </a:lnTo>
                  <a:lnTo>
                    <a:pt x="99822" y="189890"/>
                  </a:lnTo>
                  <a:lnTo>
                    <a:pt x="74574" y="225691"/>
                  </a:lnTo>
                  <a:lnTo>
                    <a:pt x="52641" y="263766"/>
                  </a:lnTo>
                  <a:lnTo>
                    <a:pt x="34239" y="303872"/>
                  </a:lnTo>
                  <a:lnTo>
                    <a:pt x="19558" y="345846"/>
                  </a:lnTo>
                  <a:lnTo>
                    <a:pt x="8826" y="389458"/>
                  </a:lnTo>
                  <a:lnTo>
                    <a:pt x="2235" y="434517"/>
                  </a:lnTo>
                  <a:lnTo>
                    <a:pt x="0" y="480822"/>
                  </a:lnTo>
                  <a:lnTo>
                    <a:pt x="2235" y="527138"/>
                  </a:lnTo>
                  <a:lnTo>
                    <a:pt x="8826" y="572198"/>
                  </a:lnTo>
                  <a:lnTo>
                    <a:pt x="19558" y="615810"/>
                  </a:lnTo>
                  <a:lnTo>
                    <a:pt x="34239" y="657783"/>
                  </a:lnTo>
                  <a:lnTo>
                    <a:pt x="52641" y="697890"/>
                  </a:lnTo>
                  <a:lnTo>
                    <a:pt x="74574" y="735965"/>
                  </a:lnTo>
                  <a:lnTo>
                    <a:pt x="99822" y="771766"/>
                  </a:lnTo>
                  <a:lnTo>
                    <a:pt x="128193" y="805129"/>
                  </a:lnTo>
                  <a:lnTo>
                    <a:pt x="159486" y="835825"/>
                  </a:lnTo>
                  <a:lnTo>
                    <a:pt x="193471" y="863676"/>
                  </a:lnTo>
                  <a:lnTo>
                    <a:pt x="229958" y="888453"/>
                  </a:lnTo>
                  <a:lnTo>
                    <a:pt x="268757" y="909980"/>
                  </a:lnTo>
                  <a:lnTo>
                    <a:pt x="309626" y="928039"/>
                  </a:lnTo>
                  <a:lnTo>
                    <a:pt x="352399" y="942441"/>
                  </a:lnTo>
                  <a:lnTo>
                    <a:pt x="396849" y="952982"/>
                  </a:lnTo>
                  <a:lnTo>
                    <a:pt x="442772" y="959446"/>
                  </a:lnTo>
                  <a:lnTo>
                    <a:pt x="489966" y="961644"/>
                  </a:lnTo>
                  <a:lnTo>
                    <a:pt x="537146" y="959446"/>
                  </a:lnTo>
                  <a:lnTo>
                    <a:pt x="583069" y="952982"/>
                  </a:lnTo>
                  <a:lnTo>
                    <a:pt x="627519" y="942441"/>
                  </a:lnTo>
                  <a:lnTo>
                    <a:pt x="670293" y="928039"/>
                  </a:lnTo>
                  <a:lnTo>
                    <a:pt x="711161" y="909980"/>
                  </a:lnTo>
                  <a:lnTo>
                    <a:pt x="749960" y="888453"/>
                  </a:lnTo>
                  <a:lnTo>
                    <a:pt x="786447" y="863676"/>
                  </a:lnTo>
                  <a:lnTo>
                    <a:pt x="820432" y="835825"/>
                  </a:lnTo>
                  <a:lnTo>
                    <a:pt x="851725" y="805129"/>
                  </a:lnTo>
                  <a:lnTo>
                    <a:pt x="880097" y="771766"/>
                  </a:lnTo>
                  <a:lnTo>
                    <a:pt x="905344" y="735965"/>
                  </a:lnTo>
                  <a:lnTo>
                    <a:pt x="927277" y="697890"/>
                  </a:lnTo>
                  <a:lnTo>
                    <a:pt x="945680" y="657783"/>
                  </a:lnTo>
                  <a:lnTo>
                    <a:pt x="960361" y="615810"/>
                  </a:lnTo>
                  <a:lnTo>
                    <a:pt x="971092" y="572198"/>
                  </a:lnTo>
                  <a:lnTo>
                    <a:pt x="977684" y="527138"/>
                  </a:lnTo>
                  <a:lnTo>
                    <a:pt x="979932" y="480822"/>
                  </a:lnTo>
                  <a:close/>
                </a:path>
                <a:path w="5622290" h="3060700">
                  <a:moveTo>
                    <a:pt x="2141220" y="480822"/>
                  </a:moveTo>
                  <a:lnTo>
                    <a:pt x="2138972" y="434517"/>
                  </a:lnTo>
                  <a:lnTo>
                    <a:pt x="2132380" y="389458"/>
                  </a:lnTo>
                  <a:lnTo>
                    <a:pt x="2121649" y="345846"/>
                  </a:lnTo>
                  <a:lnTo>
                    <a:pt x="2106968" y="303872"/>
                  </a:lnTo>
                  <a:lnTo>
                    <a:pt x="2088565" y="263766"/>
                  </a:lnTo>
                  <a:lnTo>
                    <a:pt x="2066632" y="225691"/>
                  </a:lnTo>
                  <a:lnTo>
                    <a:pt x="2041385" y="189890"/>
                  </a:lnTo>
                  <a:lnTo>
                    <a:pt x="2013013" y="156527"/>
                  </a:lnTo>
                  <a:lnTo>
                    <a:pt x="1981720" y="125831"/>
                  </a:lnTo>
                  <a:lnTo>
                    <a:pt x="1947735" y="97980"/>
                  </a:lnTo>
                  <a:lnTo>
                    <a:pt x="1911248" y="73202"/>
                  </a:lnTo>
                  <a:lnTo>
                    <a:pt x="1872449" y="51676"/>
                  </a:lnTo>
                  <a:lnTo>
                    <a:pt x="1831581" y="33616"/>
                  </a:lnTo>
                  <a:lnTo>
                    <a:pt x="1788807" y="19215"/>
                  </a:lnTo>
                  <a:lnTo>
                    <a:pt x="1744357" y="8674"/>
                  </a:lnTo>
                  <a:lnTo>
                    <a:pt x="1698434" y="2209"/>
                  </a:lnTo>
                  <a:lnTo>
                    <a:pt x="1651254" y="0"/>
                  </a:lnTo>
                  <a:lnTo>
                    <a:pt x="1604060" y="2209"/>
                  </a:lnTo>
                  <a:lnTo>
                    <a:pt x="1558137" y="8674"/>
                  </a:lnTo>
                  <a:lnTo>
                    <a:pt x="1513687" y="19215"/>
                  </a:lnTo>
                  <a:lnTo>
                    <a:pt x="1470914" y="33616"/>
                  </a:lnTo>
                  <a:lnTo>
                    <a:pt x="1430045" y="51676"/>
                  </a:lnTo>
                  <a:lnTo>
                    <a:pt x="1391246" y="73202"/>
                  </a:lnTo>
                  <a:lnTo>
                    <a:pt x="1354759" y="97980"/>
                  </a:lnTo>
                  <a:lnTo>
                    <a:pt x="1320774" y="125831"/>
                  </a:lnTo>
                  <a:lnTo>
                    <a:pt x="1289481" y="156527"/>
                  </a:lnTo>
                  <a:lnTo>
                    <a:pt x="1261110" y="189890"/>
                  </a:lnTo>
                  <a:lnTo>
                    <a:pt x="1235862" y="225691"/>
                  </a:lnTo>
                  <a:lnTo>
                    <a:pt x="1213929" y="263766"/>
                  </a:lnTo>
                  <a:lnTo>
                    <a:pt x="1195527" y="303872"/>
                  </a:lnTo>
                  <a:lnTo>
                    <a:pt x="1180846" y="345846"/>
                  </a:lnTo>
                  <a:lnTo>
                    <a:pt x="1170114" y="389458"/>
                  </a:lnTo>
                  <a:lnTo>
                    <a:pt x="1163523" y="434517"/>
                  </a:lnTo>
                  <a:lnTo>
                    <a:pt x="1161288" y="480822"/>
                  </a:lnTo>
                  <a:lnTo>
                    <a:pt x="1163523" y="527138"/>
                  </a:lnTo>
                  <a:lnTo>
                    <a:pt x="1170114" y="572198"/>
                  </a:lnTo>
                  <a:lnTo>
                    <a:pt x="1180846" y="615810"/>
                  </a:lnTo>
                  <a:lnTo>
                    <a:pt x="1195527" y="657783"/>
                  </a:lnTo>
                  <a:lnTo>
                    <a:pt x="1213929" y="697890"/>
                  </a:lnTo>
                  <a:lnTo>
                    <a:pt x="1235862" y="735965"/>
                  </a:lnTo>
                  <a:lnTo>
                    <a:pt x="1261110" y="771766"/>
                  </a:lnTo>
                  <a:lnTo>
                    <a:pt x="1289481" y="805129"/>
                  </a:lnTo>
                  <a:lnTo>
                    <a:pt x="1320774" y="835825"/>
                  </a:lnTo>
                  <a:lnTo>
                    <a:pt x="1354759" y="863676"/>
                  </a:lnTo>
                  <a:lnTo>
                    <a:pt x="1391246" y="888453"/>
                  </a:lnTo>
                  <a:lnTo>
                    <a:pt x="1430045" y="909980"/>
                  </a:lnTo>
                  <a:lnTo>
                    <a:pt x="1470914" y="928039"/>
                  </a:lnTo>
                  <a:lnTo>
                    <a:pt x="1513687" y="942441"/>
                  </a:lnTo>
                  <a:lnTo>
                    <a:pt x="1558137" y="952982"/>
                  </a:lnTo>
                  <a:lnTo>
                    <a:pt x="1604060" y="959446"/>
                  </a:lnTo>
                  <a:lnTo>
                    <a:pt x="1651254" y="961644"/>
                  </a:lnTo>
                  <a:lnTo>
                    <a:pt x="1698434" y="959446"/>
                  </a:lnTo>
                  <a:lnTo>
                    <a:pt x="1744357" y="952982"/>
                  </a:lnTo>
                  <a:lnTo>
                    <a:pt x="1788807" y="942441"/>
                  </a:lnTo>
                  <a:lnTo>
                    <a:pt x="1831581" y="928039"/>
                  </a:lnTo>
                  <a:lnTo>
                    <a:pt x="1872449" y="909980"/>
                  </a:lnTo>
                  <a:lnTo>
                    <a:pt x="1911248" y="888453"/>
                  </a:lnTo>
                  <a:lnTo>
                    <a:pt x="1947735" y="863676"/>
                  </a:lnTo>
                  <a:lnTo>
                    <a:pt x="1981720" y="835825"/>
                  </a:lnTo>
                  <a:lnTo>
                    <a:pt x="2013013" y="805129"/>
                  </a:lnTo>
                  <a:lnTo>
                    <a:pt x="2041385" y="771766"/>
                  </a:lnTo>
                  <a:lnTo>
                    <a:pt x="2066632" y="735965"/>
                  </a:lnTo>
                  <a:lnTo>
                    <a:pt x="2088565" y="697890"/>
                  </a:lnTo>
                  <a:lnTo>
                    <a:pt x="2106968" y="657783"/>
                  </a:lnTo>
                  <a:lnTo>
                    <a:pt x="2121649" y="615810"/>
                  </a:lnTo>
                  <a:lnTo>
                    <a:pt x="2132380" y="572198"/>
                  </a:lnTo>
                  <a:lnTo>
                    <a:pt x="2138972" y="527138"/>
                  </a:lnTo>
                  <a:lnTo>
                    <a:pt x="2141220" y="480822"/>
                  </a:lnTo>
                  <a:close/>
                </a:path>
                <a:path w="5622290" h="3060700">
                  <a:moveTo>
                    <a:pt x="3355848" y="480822"/>
                  </a:moveTo>
                  <a:lnTo>
                    <a:pt x="3353600" y="434517"/>
                  </a:lnTo>
                  <a:lnTo>
                    <a:pt x="3347008" y="389458"/>
                  </a:lnTo>
                  <a:lnTo>
                    <a:pt x="3336277" y="345846"/>
                  </a:lnTo>
                  <a:lnTo>
                    <a:pt x="3321596" y="303872"/>
                  </a:lnTo>
                  <a:lnTo>
                    <a:pt x="3303193" y="263766"/>
                  </a:lnTo>
                  <a:lnTo>
                    <a:pt x="3281261" y="225691"/>
                  </a:lnTo>
                  <a:lnTo>
                    <a:pt x="3256013" y="189890"/>
                  </a:lnTo>
                  <a:lnTo>
                    <a:pt x="3227641" y="156527"/>
                  </a:lnTo>
                  <a:lnTo>
                    <a:pt x="3196348" y="125831"/>
                  </a:lnTo>
                  <a:lnTo>
                    <a:pt x="3162363" y="97980"/>
                  </a:lnTo>
                  <a:lnTo>
                    <a:pt x="3125876" y="73202"/>
                  </a:lnTo>
                  <a:lnTo>
                    <a:pt x="3087078" y="51676"/>
                  </a:lnTo>
                  <a:lnTo>
                    <a:pt x="3046209" y="33616"/>
                  </a:lnTo>
                  <a:lnTo>
                    <a:pt x="3003435" y="19215"/>
                  </a:lnTo>
                  <a:lnTo>
                    <a:pt x="2958985" y="8674"/>
                  </a:lnTo>
                  <a:lnTo>
                    <a:pt x="2913062" y="2209"/>
                  </a:lnTo>
                  <a:lnTo>
                    <a:pt x="2865882" y="0"/>
                  </a:lnTo>
                  <a:lnTo>
                    <a:pt x="2818688" y="2209"/>
                  </a:lnTo>
                  <a:lnTo>
                    <a:pt x="2772765" y="8674"/>
                  </a:lnTo>
                  <a:lnTo>
                    <a:pt x="2728315" y="19215"/>
                  </a:lnTo>
                  <a:lnTo>
                    <a:pt x="2685542" y="33616"/>
                  </a:lnTo>
                  <a:lnTo>
                    <a:pt x="2644673" y="51676"/>
                  </a:lnTo>
                  <a:lnTo>
                    <a:pt x="2605875" y="73202"/>
                  </a:lnTo>
                  <a:lnTo>
                    <a:pt x="2569387" y="97980"/>
                  </a:lnTo>
                  <a:lnTo>
                    <a:pt x="2535402" y="125831"/>
                  </a:lnTo>
                  <a:lnTo>
                    <a:pt x="2504109" y="156527"/>
                  </a:lnTo>
                  <a:lnTo>
                    <a:pt x="2475738" y="189890"/>
                  </a:lnTo>
                  <a:lnTo>
                    <a:pt x="2450490" y="225691"/>
                  </a:lnTo>
                  <a:lnTo>
                    <a:pt x="2428557" y="263766"/>
                  </a:lnTo>
                  <a:lnTo>
                    <a:pt x="2410155" y="303872"/>
                  </a:lnTo>
                  <a:lnTo>
                    <a:pt x="2395474" y="345846"/>
                  </a:lnTo>
                  <a:lnTo>
                    <a:pt x="2384742" y="389458"/>
                  </a:lnTo>
                  <a:lnTo>
                    <a:pt x="2378151" y="434517"/>
                  </a:lnTo>
                  <a:lnTo>
                    <a:pt x="2375916" y="480822"/>
                  </a:lnTo>
                  <a:lnTo>
                    <a:pt x="2378151" y="527138"/>
                  </a:lnTo>
                  <a:lnTo>
                    <a:pt x="2384742" y="572198"/>
                  </a:lnTo>
                  <a:lnTo>
                    <a:pt x="2395474" y="615810"/>
                  </a:lnTo>
                  <a:lnTo>
                    <a:pt x="2410155" y="657783"/>
                  </a:lnTo>
                  <a:lnTo>
                    <a:pt x="2428557" y="697890"/>
                  </a:lnTo>
                  <a:lnTo>
                    <a:pt x="2450490" y="735965"/>
                  </a:lnTo>
                  <a:lnTo>
                    <a:pt x="2475738" y="771766"/>
                  </a:lnTo>
                  <a:lnTo>
                    <a:pt x="2504109" y="805129"/>
                  </a:lnTo>
                  <a:lnTo>
                    <a:pt x="2535402" y="835825"/>
                  </a:lnTo>
                  <a:lnTo>
                    <a:pt x="2569387" y="863676"/>
                  </a:lnTo>
                  <a:lnTo>
                    <a:pt x="2605875" y="888453"/>
                  </a:lnTo>
                  <a:lnTo>
                    <a:pt x="2644673" y="909980"/>
                  </a:lnTo>
                  <a:lnTo>
                    <a:pt x="2685542" y="928039"/>
                  </a:lnTo>
                  <a:lnTo>
                    <a:pt x="2728315" y="942441"/>
                  </a:lnTo>
                  <a:lnTo>
                    <a:pt x="2772765" y="952982"/>
                  </a:lnTo>
                  <a:lnTo>
                    <a:pt x="2818688" y="959446"/>
                  </a:lnTo>
                  <a:lnTo>
                    <a:pt x="2865882" y="961644"/>
                  </a:lnTo>
                  <a:lnTo>
                    <a:pt x="2913062" y="959446"/>
                  </a:lnTo>
                  <a:lnTo>
                    <a:pt x="2958985" y="952982"/>
                  </a:lnTo>
                  <a:lnTo>
                    <a:pt x="3003435" y="942441"/>
                  </a:lnTo>
                  <a:lnTo>
                    <a:pt x="3046209" y="928039"/>
                  </a:lnTo>
                  <a:lnTo>
                    <a:pt x="3087078" y="909980"/>
                  </a:lnTo>
                  <a:lnTo>
                    <a:pt x="3125876" y="888453"/>
                  </a:lnTo>
                  <a:lnTo>
                    <a:pt x="3162363" y="863676"/>
                  </a:lnTo>
                  <a:lnTo>
                    <a:pt x="3196348" y="835825"/>
                  </a:lnTo>
                  <a:lnTo>
                    <a:pt x="3227641" y="805129"/>
                  </a:lnTo>
                  <a:lnTo>
                    <a:pt x="3256013" y="771766"/>
                  </a:lnTo>
                  <a:lnTo>
                    <a:pt x="3281261" y="735965"/>
                  </a:lnTo>
                  <a:lnTo>
                    <a:pt x="3303193" y="697890"/>
                  </a:lnTo>
                  <a:lnTo>
                    <a:pt x="3321596" y="657783"/>
                  </a:lnTo>
                  <a:lnTo>
                    <a:pt x="3336277" y="615810"/>
                  </a:lnTo>
                  <a:lnTo>
                    <a:pt x="3347008" y="572198"/>
                  </a:lnTo>
                  <a:lnTo>
                    <a:pt x="3353600" y="527138"/>
                  </a:lnTo>
                  <a:lnTo>
                    <a:pt x="3355848" y="480822"/>
                  </a:lnTo>
                  <a:close/>
                </a:path>
                <a:path w="5622290" h="3060700">
                  <a:moveTo>
                    <a:pt x="5622036" y="2580132"/>
                  </a:moveTo>
                  <a:lnTo>
                    <a:pt x="5619788" y="2533904"/>
                  </a:lnTo>
                  <a:lnTo>
                    <a:pt x="5613184" y="2488908"/>
                  </a:lnTo>
                  <a:lnTo>
                    <a:pt x="5602427" y="2445359"/>
                  </a:lnTo>
                  <a:lnTo>
                    <a:pt x="5587733" y="2403449"/>
                  </a:lnTo>
                  <a:lnTo>
                    <a:pt x="5569293" y="2363393"/>
                  </a:lnTo>
                  <a:lnTo>
                    <a:pt x="5547322" y="2325395"/>
                  </a:lnTo>
                  <a:lnTo>
                    <a:pt x="5522036" y="2289645"/>
                  </a:lnTo>
                  <a:lnTo>
                    <a:pt x="5493613" y="2256332"/>
                  </a:lnTo>
                  <a:lnTo>
                    <a:pt x="5462282" y="2225687"/>
                  </a:lnTo>
                  <a:lnTo>
                    <a:pt x="5428234" y="2197887"/>
                  </a:lnTo>
                  <a:lnTo>
                    <a:pt x="5391683" y="2173147"/>
                  </a:lnTo>
                  <a:lnTo>
                    <a:pt x="5352834" y="2151659"/>
                  </a:lnTo>
                  <a:lnTo>
                    <a:pt x="5311889" y="2133625"/>
                  </a:lnTo>
                  <a:lnTo>
                    <a:pt x="5269065" y="2119249"/>
                  </a:lnTo>
                  <a:lnTo>
                    <a:pt x="5224551" y="2108733"/>
                  </a:lnTo>
                  <a:lnTo>
                    <a:pt x="5178564" y="2102281"/>
                  </a:lnTo>
                  <a:lnTo>
                    <a:pt x="5131308" y="2100072"/>
                  </a:lnTo>
                  <a:lnTo>
                    <a:pt x="5084038" y="2102281"/>
                  </a:lnTo>
                  <a:lnTo>
                    <a:pt x="5038052" y="2108733"/>
                  </a:lnTo>
                  <a:lnTo>
                    <a:pt x="4993538" y="2119249"/>
                  </a:lnTo>
                  <a:lnTo>
                    <a:pt x="4950714" y="2133625"/>
                  </a:lnTo>
                  <a:lnTo>
                    <a:pt x="4909769" y="2151659"/>
                  </a:lnTo>
                  <a:lnTo>
                    <a:pt x="4870920" y="2173147"/>
                  </a:lnTo>
                  <a:lnTo>
                    <a:pt x="4834369" y="2197887"/>
                  </a:lnTo>
                  <a:lnTo>
                    <a:pt x="4800320" y="2225687"/>
                  </a:lnTo>
                  <a:lnTo>
                    <a:pt x="4768989" y="2256332"/>
                  </a:lnTo>
                  <a:lnTo>
                    <a:pt x="4740567" y="2289645"/>
                  </a:lnTo>
                  <a:lnTo>
                    <a:pt x="4715281" y="2325395"/>
                  </a:lnTo>
                  <a:lnTo>
                    <a:pt x="4693310" y="2363393"/>
                  </a:lnTo>
                  <a:lnTo>
                    <a:pt x="4674870" y="2403449"/>
                  </a:lnTo>
                  <a:lnTo>
                    <a:pt x="4660176" y="2445359"/>
                  </a:lnTo>
                  <a:lnTo>
                    <a:pt x="4649419" y="2488908"/>
                  </a:lnTo>
                  <a:lnTo>
                    <a:pt x="4642815" y="2533904"/>
                  </a:lnTo>
                  <a:lnTo>
                    <a:pt x="4640580" y="2580132"/>
                  </a:lnTo>
                  <a:lnTo>
                    <a:pt x="4642815" y="2626372"/>
                  </a:lnTo>
                  <a:lnTo>
                    <a:pt x="4649419" y="2671368"/>
                  </a:lnTo>
                  <a:lnTo>
                    <a:pt x="4660176" y="2714917"/>
                  </a:lnTo>
                  <a:lnTo>
                    <a:pt x="4674870" y="2756827"/>
                  </a:lnTo>
                  <a:lnTo>
                    <a:pt x="4693310" y="2796883"/>
                  </a:lnTo>
                  <a:lnTo>
                    <a:pt x="4715281" y="2834881"/>
                  </a:lnTo>
                  <a:lnTo>
                    <a:pt x="4740567" y="2870631"/>
                  </a:lnTo>
                  <a:lnTo>
                    <a:pt x="4768989" y="2903944"/>
                  </a:lnTo>
                  <a:lnTo>
                    <a:pt x="4800320" y="2934589"/>
                  </a:lnTo>
                  <a:lnTo>
                    <a:pt x="4834369" y="2962389"/>
                  </a:lnTo>
                  <a:lnTo>
                    <a:pt x="4870920" y="2987129"/>
                  </a:lnTo>
                  <a:lnTo>
                    <a:pt x="4909769" y="3008617"/>
                  </a:lnTo>
                  <a:lnTo>
                    <a:pt x="4950714" y="3026651"/>
                  </a:lnTo>
                  <a:lnTo>
                    <a:pt x="4993538" y="3041027"/>
                  </a:lnTo>
                  <a:lnTo>
                    <a:pt x="5038052" y="3051543"/>
                  </a:lnTo>
                  <a:lnTo>
                    <a:pt x="5084038" y="3057995"/>
                  </a:lnTo>
                  <a:lnTo>
                    <a:pt x="5131308" y="3060192"/>
                  </a:lnTo>
                  <a:lnTo>
                    <a:pt x="5178564" y="3057995"/>
                  </a:lnTo>
                  <a:lnTo>
                    <a:pt x="5224551" y="3051543"/>
                  </a:lnTo>
                  <a:lnTo>
                    <a:pt x="5269065" y="3041027"/>
                  </a:lnTo>
                  <a:lnTo>
                    <a:pt x="5311889" y="3026651"/>
                  </a:lnTo>
                  <a:lnTo>
                    <a:pt x="5352834" y="3008617"/>
                  </a:lnTo>
                  <a:lnTo>
                    <a:pt x="5391683" y="2987129"/>
                  </a:lnTo>
                  <a:lnTo>
                    <a:pt x="5428234" y="2962389"/>
                  </a:lnTo>
                  <a:lnTo>
                    <a:pt x="5462282" y="2934589"/>
                  </a:lnTo>
                  <a:lnTo>
                    <a:pt x="5493613" y="2903944"/>
                  </a:lnTo>
                  <a:lnTo>
                    <a:pt x="5522036" y="2870631"/>
                  </a:lnTo>
                  <a:lnTo>
                    <a:pt x="5547322" y="2834881"/>
                  </a:lnTo>
                  <a:lnTo>
                    <a:pt x="5569293" y="2796883"/>
                  </a:lnTo>
                  <a:lnTo>
                    <a:pt x="5587733" y="2756827"/>
                  </a:lnTo>
                  <a:lnTo>
                    <a:pt x="5602427" y="2714917"/>
                  </a:lnTo>
                  <a:lnTo>
                    <a:pt x="5613184" y="2671368"/>
                  </a:lnTo>
                  <a:lnTo>
                    <a:pt x="5619788" y="2626372"/>
                  </a:lnTo>
                  <a:lnTo>
                    <a:pt x="5622036" y="25801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8180" y="1732788"/>
            <a:ext cx="1676400" cy="99821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434343"/>
                </a:solidFill>
                <a:latin typeface="Calibri"/>
                <a:cs typeface="Calibri"/>
              </a:rPr>
              <a:t>BUSINESS</a:t>
            </a:r>
            <a:r>
              <a:rPr sz="1050" b="1" spc="-5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434343"/>
                </a:solidFill>
                <a:latin typeface="Calibri"/>
                <a:cs typeface="Calibri"/>
              </a:rPr>
              <a:t>SCHOOL</a:t>
            </a:r>
            <a:endParaRPr sz="1050">
              <a:latin typeface="Calibri"/>
              <a:cs typeface="Calibri"/>
            </a:endParaRPr>
          </a:p>
          <a:p>
            <a:pPr marL="144145" marR="138430" algn="ctr">
              <a:lnSpc>
                <a:spcPct val="100000"/>
              </a:lnSpc>
              <a:spcBef>
                <a:spcPts val="10"/>
              </a:spcBef>
            </a:pPr>
            <a:r>
              <a:rPr sz="800" spc="-10" dirty="0">
                <a:solidFill>
                  <a:srgbClr val="434343"/>
                </a:solidFill>
                <a:latin typeface="Calibri"/>
                <a:cs typeface="Calibri"/>
              </a:rPr>
              <a:t>Graduação,</a:t>
            </a:r>
            <a:r>
              <a:rPr sz="800" spc="5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34343"/>
                </a:solidFill>
                <a:latin typeface="Calibri"/>
                <a:cs typeface="Calibri"/>
              </a:rPr>
              <a:t>pós-graduação,</a:t>
            </a:r>
            <a:r>
              <a:rPr sz="800" spc="5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434343"/>
                </a:solidFill>
                <a:latin typeface="Calibri"/>
                <a:cs typeface="Calibri"/>
              </a:rPr>
              <a:t>MBA,</a:t>
            </a:r>
            <a:r>
              <a:rPr sz="800" spc="50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Pós-</a:t>
            </a:r>
            <a:r>
              <a:rPr sz="800" spc="-4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MBA,</a:t>
            </a:r>
            <a:r>
              <a:rPr sz="800" spc="-3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Mestrado</a:t>
            </a:r>
            <a:r>
              <a:rPr sz="800" spc="-3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34343"/>
                </a:solidFill>
                <a:latin typeface="Calibri"/>
                <a:cs typeface="Calibri"/>
              </a:rPr>
              <a:t>Profissional,</a:t>
            </a:r>
            <a:r>
              <a:rPr sz="800" spc="50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Curso</a:t>
            </a:r>
            <a:r>
              <a:rPr sz="800" spc="-2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434343"/>
                </a:solidFill>
                <a:latin typeface="Calibri"/>
                <a:cs typeface="Calibri"/>
              </a:rPr>
              <a:t>In</a:t>
            </a:r>
            <a:endParaRPr sz="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800" i="1" spc="-10" dirty="0">
                <a:solidFill>
                  <a:srgbClr val="434343"/>
                </a:solidFill>
                <a:latin typeface="Calibri"/>
                <a:cs typeface="Calibri"/>
              </a:rPr>
              <a:t>Company</a:t>
            </a:r>
            <a:r>
              <a:rPr sz="800" i="1" spc="1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e</a:t>
            </a:r>
            <a:r>
              <a:rPr sz="800" spc="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434343"/>
                </a:solidFill>
                <a:latin typeface="Calibri"/>
                <a:cs typeface="Calibri"/>
              </a:rPr>
              <a:t>EAD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00883" y="1719072"/>
            <a:ext cx="1434465" cy="99821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b="1" spc="-10" dirty="0">
                <a:solidFill>
                  <a:srgbClr val="434343"/>
                </a:solidFill>
                <a:latin typeface="Calibri"/>
                <a:cs typeface="Calibri"/>
              </a:rPr>
              <a:t>CONSULTING</a:t>
            </a:r>
            <a:endParaRPr sz="1050">
              <a:latin typeface="Calibri"/>
              <a:cs typeface="Calibri"/>
            </a:endParaRPr>
          </a:p>
          <a:p>
            <a:pPr marL="153035" marR="144780" indent="-635" algn="ctr">
              <a:lnSpc>
                <a:spcPct val="100000"/>
              </a:lnSpc>
              <a:spcBef>
                <a:spcPts val="10"/>
              </a:spcBef>
            </a:pPr>
            <a:r>
              <a:rPr sz="800" spc="-10" dirty="0">
                <a:solidFill>
                  <a:srgbClr val="434343"/>
                </a:solidFill>
                <a:latin typeface="Calibri"/>
                <a:cs typeface="Calibri"/>
              </a:rPr>
              <a:t>Consultoria</a:t>
            </a:r>
            <a:r>
              <a:rPr sz="800" spc="5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34343"/>
                </a:solidFill>
                <a:latin typeface="Calibri"/>
                <a:cs typeface="Calibri"/>
              </a:rPr>
              <a:t>personalizada</a:t>
            </a:r>
            <a:r>
              <a:rPr sz="800" spc="50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que</a:t>
            </a:r>
            <a:r>
              <a:rPr sz="800" spc="-2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oferece</a:t>
            </a:r>
            <a:r>
              <a:rPr sz="800" spc="-10" dirty="0">
                <a:solidFill>
                  <a:srgbClr val="434343"/>
                </a:solidFill>
                <a:latin typeface="Calibri"/>
                <a:cs typeface="Calibri"/>
              </a:rPr>
              <a:t> soluções</a:t>
            </a:r>
            <a:r>
              <a:rPr sz="800" spc="50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baseadas</a:t>
            </a:r>
            <a:r>
              <a:rPr sz="800" spc="-1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em</a:t>
            </a:r>
            <a:r>
              <a:rPr sz="800" spc="-3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seu</a:t>
            </a:r>
            <a:r>
              <a:rPr sz="800" spc="-3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34343"/>
                </a:solidFill>
                <a:latin typeface="Calibri"/>
                <a:cs typeface="Calibri"/>
              </a:rPr>
              <a:t>problema</a:t>
            </a:r>
            <a:r>
              <a:rPr sz="800" spc="50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de</a:t>
            </a:r>
            <a:r>
              <a:rPr sz="800" spc="-2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34343"/>
                </a:solidFill>
                <a:latin typeface="Calibri"/>
                <a:cs typeface="Calibri"/>
              </a:rPr>
              <a:t>negócio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33671" y="1719072"/>
            <a:ext cx="1598930" cy="99821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42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5"/>
              </a:spcBef>
            </a:pPr>
            <a:endParaRPr sz="105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1050" b="1" spc="-10" dirty="0">
                <a:solidFill>
                  <a:srgbClr val="434343"/>
                </a:solidFill>
                <a:latin typeface="Calibri"/>
                <a:cs typeface="Calibri"/>
              </a:rPr>
              <a:t>RESEARCH</a:t>
            </a:r>
            <a:endParaRPr sz="1050">
              <a:latin typeface="Calibri"/>
              <a:cs typeface="Calibri"/>
            </a:endParaRPr>
          </a:p>
          <a:p>
            <a:pPr marL="111125" marR="101600" algn="ctr">
              <a:lnSpc>
                <a:spcPct val="100000"/>
              </a:lnSpc>
              <a:spcBef>
                <a:spcPts val="10"/>
              </a:spcBef>
            </a:pPr>
            <a:r>
              <a:rPr sz="800" spc="-10" dirty="0">
                <a:solidFill>
                  <a:srgbClr val="434343"/>
                </a:solidFill>
                <a:latin typeface="Calibri"/>
                <a:cs typeface="Calibri"/>
              </a:rPr>
              <a:t>Atualização</a:t>
            </a:r>
            <a:r>
              <a:rPr sz="800" spc="4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dos</a:t>
            </a:r>
            <a:r>
              <a:rPr sz="800" spc="3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34343"/>
                </a:solidFill>
                <a:latin typeface="Calibri"/>
                <a:cs typeface="Calibri"/>
              </a:rPr>
              <a:t>conhecimentos</a:t>
            </a:r>
            <a:r>
              <a:rPr sz="800" spc="5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spc="-50" dirty="0">
                <a:solidFill>
                  <a:srgbClr val="434343"/>
                </a:solidFill>
                <a:latin typeface="Calibri"/>
                <a:cs typeface="Calibri"/>
              </a:rPr>
              <a:t>e</a:t>
            </a:r>
            <a:r>
              <a:rPr sz="800" spc="50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do</a:t>
            </a:r>
            <a:r>
              <a:rPr sz="800" spc="-4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material</a:t>
            </a:r>
            <a:r>
              <a:rPr sz="800" spc="-3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didático</a:t>
            </a:r>
            <a:r>
              <a:rPr sz="800" spc="-2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34343"/>
                </a:solidFill>
                <a:latin typeface="Calibri"/>
                <a:cs typeface="Calibri"/>
              </a:rPr>
              <a:t>oferecidos</a:t>
            </a:r>
            <a:r>
              <a:rPr sz="800" spc="50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nas</a:t>
            </a:r>
            <a:r>
              <a:rPr sz="800" spc="-3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434343"/>
                </a:solidFill>
                <a:latin typeface="Calibri"/>
                <a:cs typeface="Calibri"/>
              </a:rPr>
              <a:t>atividades de</a:t>
            </a:r>
            <a:r>
              <a:rPr sz="800" spc="-4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434343"/>
                </a:solidFill>
                <a:latin typeface="Calibri"/>
                <a:cs typeface="Calibri"/>
              </a:rPr>
              <a:t>ensino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87461" y="2559811"/>
            <a:ext cx="11430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700" spc="-35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primeira</a:t>
            </a:r>
            <a:r>
              <a:rPr sz="700" spc="-2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escola</a:t>
            </a:r>
            <a:r>
              <a:rPr sz="700" spc="-2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brasileira</a:t>
            </a:r>
            <a:r>
              <a:rPr sz="700" spc="-25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spc="-50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11006" y="2842386"/>
            <a:ext cx="6184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solidFill>
                  <a:srgbClr val="434343"/>
                </a:solidFill>
                <a:latin typeface="Segoe UI"/>
                <a:cs typeface="Segoe UI"/>
              </a:rPr>
              <a:t>ranking</a:t>
            </a:r>
            <a:r>
              <a:rPr sz="700" i="1" spc="-45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spc="-10" dirty="0">
                <a:solidFill>
                  <a:srgbClr val="434343"/>
                </a:solidFill>
                <a:latin typeface="Segoe UI"/>
                <a:cs typeface="Segoe UI"/>
              </a:rPr>
              <a:t>LATAM</a:t>
            </a:r>
            <a:endParaRPr sz="700">
              <a:latin typeface="Segoe UI"/>
              <a:cs typeface="Segoe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42303" y="1601724"/>
            <a:ext cx="5568950" cy="3060700"/>
            <a:chOff x="6242303" y="1601724"/>
            <a:chExt cx="5568950" cy="306070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58144" y="3806952"/>
              <a:ext cx="650748" cy="69799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85859" y="1935480"/>
              <a:ext cx="637031" cy="3581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60563" y="1965960"/>
              <a:ext cx="630935" cy="27432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27363" y="1683686"/>
              <a:ext cx="960119" cy="82931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00543" y="1683686"/>
              <a:ext cx="961644" cy="82931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43827" y="1683686"/>
              <a:ext cx="960120" cy="82931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88607" y="2069592"/>
              <a:ext cx="622935" cy="0"/>
            </a:xfrm>
            <a:custGeom>
              <a:avLst/>
              <a:gdLst/>
              <a:ahLst/>
              <a:cxnLst/>
              <a:rect l="l" t="t" r="r" b="b"/>
              <a:pathLst>
                <a:path w="622934">
                  <a:moveTo>
                    <a:pt x="0" y="0"/>
                  </a:moveTo>
                  <a:lnTo>
                    <a:pt x="622808" y="0"/>
                  </a:lnTo>
                </a:path>
              </a:pathLst>
            </a:custGeom>
            <a:ln w="15240">
              <a:solidFill>
                <a:srgbClr val="FAB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20072" y="1601723"/>
              <a:ext cx="2091055" cy="962025"/>
            </a:xfrm>
            <a:custGeom>
              <a:avLst/>
              <a:gdLst/>
              <a:ahLst/>
              <a:cxnLst/>
              <a:rect l="l" t="t" r="r" b="b"/>
              <a:pathLst>
                <a:path w="2091054" h="962025">
                  <a:moveTo>
                    <a:pt x="981456" y="480822"/>
                  </a:moveTo>
                  <a:lnTo>
                    <a:pt x="979208" y="434517"/>
                  </a:lnTo>
                  <a:lnTo>
                    <a:pt x="972604" y="389458"/>
                  </a:lnTo>
                  <a:lnTo>
                    <a:pt x="961847" y="345846"/>
                  </a:lnTo>
                  <a:lnTo>
                    <a:pt x="947153" y="303872"/>
                  </a:lnTo>
                  <a:lnTo>
                    <a:pt x="928712" y="263766"/>
                  </a:lnTo>
                  <a:lnTo>
                    <a:pt x="906741" y="225691"/>
                  </a:lnTo>
                  <a:lnTo>
                    <a:pt x="881456" y="189890"/>
                  </a:lnTo>
                  <a:lnTo>
                    <a:pt x="853033" y="156527"/>
                  </a:lnTo>
                  <a:lnTo>
                    <a:pt x="821702" y="125831"/>
                  </a:lnTo>
                  <a:lnTo>
                    <a:pt x="787654" y="97980"/>
                  </a:lnTo>
                  <a:lnTo>
                    <a:pt x="751103" y="73202"/>
                  </a:lnTo>
                  <a:lnTo>
                    <a:pt x="712254" y="51676"/>
                  </a:lnTo>
                  <a:lnTo>
                    <a:pt x="671309" y="33616"/>
                  </a:lnTo>
                  <a:lnTo>
                    <a:pt x="628484" y="19215"/>
                  </a:lnTo>
                  <a:lnTo>
                    <a:pt x="583971" y="8674"/>
                  </a:lnTo>
                  <a:lnTo>
                    <a:pt x="537984" y="2209"/>
                  </a:lnTo>
                  <a:lnTo>
                    <a:pt x="490728" y="0"/>
                  </a:lnTo>
                  <a:lnTo>
                    <a:pt x="443458" y="2209"/>
                  </a:lnTo>
                  <a:lnTo>
                    <a:pt x="397471" y="8674"/>
                  </a:lnTo>
                  <a:lnTo>
                    <a:pt x="352958" y="19215"/>
                  </a:lnTo>
                  <a:lnTo>
                    <a:pt x="310134" y="33616"/>
                  </a:lnTo>
                  <a:lnTo>
                    <a:pt x="269189" y="51676"/>
                  </a:lnTo>
                  <a:lnTo>
                    <a:pt x="230339" y="73202"/>
                  </a:lnTo>
                  <a:lnTo>
                    <a:pt x="193789" y="97980"/>
                  </a:lnTo>
                  <a:lnTo>
                    <a:pt x="159740" y="125831"/>
                  </a:lnTo>
                  <a:lnTo>
                    <a:pt x="128409" y="156527"/>
                  </a:lnTo>
                  <a:lnTo>
                    <a:pt x="99987" y="189890"/>
                  </a:lnTo>
                  <a:lnTo>
                    <a:pt x="74701" y="225691"/>
                  </a:lnTo>
                  <a:lnTo>
                    <a:pt x="52730" y="263766"/>
                  </a:lnTo>
                  <a:lnTo>
                    <a:pt x="34290" y="303872"/>
                  </a:lnTo>
                  <a:lnTo>
                    <a:pt x="19596" y="345846"/>
                  </a:lnTo>
                  <a:lnTo>
                    <a:pt x="8839" y="389458"/>
                  </a:lnTo>
                  <a:lnTo>
                    <a:pt x="2235" y="434517"/>
                  </a:lnTo>
                  <a:lnTo>
                    <a:pt x="0" y="480822"/>
                  </a:lnTo>
                  <a:lnTo>
                    <a:pt x="2235" y="527138"/>
                  </a:lnTo>
                  <a:lnTo>
                    <a:pt x="8839" y="572198"/>
                  </a:lnTo>
                  <a:lnTo>
                    <a:pt x="19596" y="615810"/>
                  </a:lnTo>
                  <a:lnTo>
                    <a:pt x="34290" y="657783"/>
                  </a:lnTo>
                  <a:lnTo>
                    <a:pt x="52730" y="697890"/>
                  </a:lnTo>
                  <a:lnTo>
                    <a:pt x="74701" y="735965"/>
                  </a:lnTo>
                  <a:lnTo>
                    <a:pt x="99987" y="771766"/>
                  </a:lnTo>
                  <a:lnTo>
                    <a:pt x="128409" y="805129"/>
                  </a:lnTo>
                  <a:lnTo>
                    <a:pt x="159740" y="835825"/>
                  </a:lnTo>
                  <a:lnTo>
                    <a:pt x="193789" y="863676"/>
                  </a:lnTo>
                  <a:lnTo>
                    <a:pt x="230339" y="888453"/>
                  </a:lnTo>
                  <a:lnTo>
                    <a:pt x="269189" y="909980"/>
                  </a:lnTo>
                  <a:lnTo>
                    <a:pt x="310134" y="928039"/>
                  </a:lnTo>
                  <a:lnTo>
                    <a:pt x="352958" y="942441"/>
                  </a:lnTo>
                  <a:lnTo>
                    <a:pt x="397471" y="952982"/>
                  </a:lnTo>
                  <a:lnTo>
                    <a:pt x="443458" y="959446"/>
                  </a:lnTo>
                  <a:lnTo>
                    <a:pt x="490728" y="961644"/>
                  </a:lnTo>
                  <a:lnTo>
                    <a:pt x="537984" y="959446"/>
                  </a:lnTo>
                  <a:lnTo>
                    <a:pt x="583971" y="952982"/>
                  </a:lnTo>
                  <a:lnTo>
                    <a:pt x="628484" y="942441"/>
                  </a:lnTo>
                  <a:lnTo>
                    <a:pt x="671309" y="928039"/>
                  </a:lnTo>
                  <a:lnTo>
                    <a:pt x="712254" y="909980"/>
                  </a:lnTo>
                  <a:lnTo>
                    <a:pt x="751103" y="888453"/>
                  </a:lnTo>
                  <a:lnTo>
                    <a:pt x="787654" y="863676"/>
                  </a:lnTo>
                  <a:lnTo>
                    <a:pt x="821702" y="835825"/>
                  </a:lnTo>
                  <a:lnTo>
                    <a:pt x="853033" y="805129"/>
                  </a:lnTo>
                  <a:lnTo>
                    <a:pt x="881456" y="771766"/>
                  </a:lnTo>
                  <a:lnTo>
                    <a:pt x="906741" y="735965"/>
                  </a:lnTo>
                  <a:lnTo>
                    <a:pt x="928712" y="697890"/>
                  </a:lnTo>
                  <a:lnTo>
                    <a:pt x="947153" y="657783"/>
                  </a:lnTo>
                  <a:lnTo>
                    <a:pt x="961847" y="615810"/>
                  </a:lnTo>
                  <a:lnTo>
                    <a:pt x="972604" y="572198"/>
                  </a:lnTo>
                  <a:lnTo>
                    <a:pt x="979208" y="527138"/>
                  </a:lnTo>
                  <a:lnTo>
                    <a:pt x="981456" y="480822"/>
                  </a:lnTo>
                  <a:close/>
                </a:path>
                <a:path w="2091054" h="962025">
                  <a:moveTo>
                    <a:pt x="2090928" y="480822"/>
                  </a:moveTo>
                  <a:lnTo>
                    <a:pt x="2088680" y="434517"/>
                  </a:lnTo>
                  <a:lnTo>
                    <a:pt x="2082076" y="389458"/>
                  </a:lnTo>
                  <a:lnTo>
                    <a:pt x="2071319" y="345846"/>
                  </a:lnTo>
                  <a:lnTo>
                    <a:pt x="2056625" y="303872"/>
                  </a:lnTo>
                  <a:lnTo>
                    <a:pt x="2038184" y="263766"/>
                  </a:lnTo>
                  <a:lnTo>
                    <a:pt x="2016213" y="225691"/>
                  </a:lnTo>
                  <a:lnTo>
                    <a:pt x="1990928" y="189890"/>
                  </a:lnTo>
                  <a:lnTo>
                    <a:pt x="1962505" y="156527"/>
                  </a:lnTo>
                  <a:lnTo>
                    <a:pt x="1931174" y="125831"/>
                  </a:lnTo>
                  <a:lnTo>
                    <a:pt x="1897126" y="97980"/>
                  </a:lnTo>
                  <a:lnTo>
                    <a:pt x="1860575" y="73202"/>
                  </a:lnTo>
                  <a:lnTo>
                    <a:pt x="1821726" y="51676"/>
                  </a:lnTo>
                  <a:lnTo>
                    <a:pt x="1780781" y="33616"/>
                  </a:lnTo>
                  <a:lnTo>
                    <a:pt x="1737956" y="19215"/>
                  </a:lnTo>
                  <a:lnTo>
                    <a:pt x="1693443" y="8674"/>
                  </a:lnTo>
                  <a:lnTo>
                    <a:pt x="1647456" y="2209"/>
                  </a:lnTo>
                  <a:lnTo>
                    <a:pt x="1600200" y="0"/>
                  </a:lnTo>
                  <a:lnTo>
                    <a:pt x="1552930" y="2209"/>
                  </a:lnTo>
                  <a:lnTo>
                    <a:pt x="1506943" y="8674"/>
                  </a:lnTo>
                  <a:lnTo>
                    <a:pt x="1462430" y="19215"/>
                  </a:lnTo>
                  <a:lnTo>
                    <a:pt x="1419606" y="33616"/>
                  </a:lnTo>
                  <a:lnTo>
                    <a:pt x="1378661" y="51676"/>
                  </a:lnTo>
                  <a:lnTo>
                    <a:pt x="1339811" y="73202"/>
                  </a:lnTo>
                  <a:lnTo>
                    <a:pt x="1303261" y="97980"/>
                  </a:lnTo>
                  <a:lnTo>
                    <a:pt x="1269212" y="125831"/>
                  </a:lnTo>
                  <a:lnTo>
                    <a:pt x="1237881" y="156527"/>
                  </a:lnTo>
                  <a:lnTo>
                    <a:pt x="1209459" y="189890"/>
                  </a:lnTo>
                  <a:lnTo>
                    <a:pt x="1184173" y="225691"/>
                  </a:lnTo>
                  <a:lnTo>
                    <a:pt x="1162202" y="263766"/>
                  </a:lnTo>
                  <a:lnTo>
                    <a:pt x="1143762" y="303872"/>
                  </a:lnTo>
                  <a:lnTo>
                    <a:pt x="1129068" y="345846"/>
                  </a:lnTo>
                  <a:lnTo>
                    <a:pt x="1118311" y="389458"/>
                  </a:lnTo>
                  <a:lnTo>
                    <a:pt x="1111707" y="434517"/>
                  </a:lnTo>
                  <a:lnTo>
                    <a:pt x="1109472" y="480822"/>
                  </a:lnTo>
                  <a:lnTo>
                    <a:pt x="1111707" y="527138"/>
                  </a:lnTo>
                  <a:lnTo>
                    <a:pt x="1118311" y="572198"/>
                  </a:lnTo>
                  <a:lnTo>
                    <a:pt x="1129068" y="615810"/>
                  </a:lnTo>
                  <a:lnTo>
                    <a:pt x="1143762" y="657783"/>
                  </a:lnTo>
                  <a:lnTo>
                    <a:pt x="1162202" y="697890"/>
                  </a:lnTo>
                  <a:lnTo>
                    <a:pt x="1184173" y="735965"/>
                  </a:lnTo>
                  <a:lnTo>
                    <a:pt x="1209459" y="771766"/>
                  </a:lnTo>
                  <a:lnTo>
                    <a:pt x="1237881" y="805129"/>
                  </a:lnTo>
                  <a:lnTo>
                    <a:pt x="1269212" y="835825"/>
                  </a:lnTo>
                  <a:lnTo>
                    <a:pt x="1303261" y="863676"/>
                  </a:lnTo>
                  <a:lnTo>
                    <a:pt x="1339811" y="888453"/>
                  </a:lnTo>
                  <a:lnTo>
                    <a:pt x="1378661" y="909980"/>
                  </a:lnTo>
                  <a:lnTo>
                    <a:pt x="1419606" y="928039"/>
                  </a:lnTo>
                  <a:lnTo>
                    <a:pt x="1462430" y="942441"/>
                  </a:lnTo>
                  <a:lnTo>
                    <a:pt x="1506943" y="952982"/>
                  </a:lnTo>
                  <a:lnTo>
                    <a:pt x="1552930" y="959446"/>
                  </a:lnTo>
                  <a:lnTo>
                    <a:pt x="1600200" y="961644"/>
                  </a:lnTo>
                  <a:lnTo>
                    <a:pt x="1647456" y="959446"/>
                  </a:lnTo>
                  <a:lnTo>
                    <a:pt x="1693443" y="952982"/>
                  </a:lnTo>
                  <a:lnTo>
                    <a:pt x="1737956" y="942441"/>
                  </a:lnTo>
                  <a:lnTo>
                    <a:pt x="1780781" y="928039"/>
                  </a:lnTo>
                  <a:lnTo>
                    <a:pt x="1821726" y="909980"/>
                  </a:lnTo>
                  <a:lnTo>
                    <a:pt x="1860575" y="888453"/>
                  </a:lnTo>
                  <a:lnTo>
                    <a:pt x="1897126" y="863676"/>
                  </a:lnTo>
                  <a:lnTo>
                    <a:pt x="1931174" y="835825"/>
                  </a:lnTo>
                  <a:lnTo>
                    <a:pt x="1962505" y="805129"/>
                  </a:lnTo>
                  <a:lnTo>
                    <a:pt x="1990928" y="771766"/>
                  </a:lnTo>
                  <a:lnTo>
                    <a:pt x="2016213" y="735965"/>
                  </a:lnTo>
                  <a:lnTo>
                    <a:pt x="2038184" y="697890"/>
                  </a:lnTo>
                  <a:lnTo>
                    <a:pt x="2056625" y="657783"/>
                  </a:lnTo>
                  <a:lnTo>
                    <a:pt x="2071319" y="615810"/>
                  </a:lnTo>
                  <a:lnTo>
                    <a:pt x="2082076" y="572198"/>
                  </a:lnTo>
                  <a:lnTo>
                    <a:pt x="2088680" y="527138"/>
                  </a:lnTo>
                  <a:lnTo>
                    <a:pt x="2090928" y="4808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30127" y="1805940"/>
              <a:ext cx="801624" cy="5486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55479" y="1688592"/>
              <a:ext cx="1304544" cy="78333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242304" y="3701795"/>
              <a:ext cx="4457700" cy="960119"/>
            </a:xfrm>
            <a:custGeom>
              <a:avLst/>
              <a:gdLst/>
              <a:ahLst/>
              <a:cxnLst/>
              <a:rect l="l" t="t" r="r" b="b"/>
              <a:pathLst>
                <a:path w="4457700" h="960120">
                  <a:moveTo>
                    <a:pt x="981456" y="480060"/>
                  </a:moveTo>
                  <a:lnTo>
                    <a:pt x="979208" y="433832"/>
                  </a:lnTo>
                  <a:lnTo>
                    <a:pt x="972604" y="388835"/>
                  </a:lnTo>
                  <a:lnTo>
                    <a:pt x="961847" y="345287"/>
                  </a:lnTo>
                  <a:lnTo>
                    <a:pt x="947153" y="303377"/>
                  </a:lnTo>
                  <a:lnTo>
                    <a:pt x="928712" y="263321"/>
                  </a:lnTo>
                  <a:lnTo>
                    <a:pt x="906741" y="225323"/>
                  </a:lnTo>
                  <a:lnTo>
                    <a:pt x="881456" y="189572"/>
                  </a:lnTo>
                  <a:lnTo>
                    <a:pt x="853033" y="156260"/>
                  </a:lnTo>
                  <a:lnTo>
                    <a:pt x="821702" y="125615"/>
                  </a:lnTo>
                  <a:lnTo>
                    <a:pt x="787654" y="97815"/>
                  </a:lnTo>
                  <a:lnTo>
                    <a:pt x="751103" y="73075"/>
                  </a:lnTo>
                  <a:lnTo>
                    <a:pt x="712254" y="51587"/>
                  </a:lnTo>
                  <a:lnTo>
                    <a:pt x="671309" y="33553"/>
                  </a:lnTo>
                  <a:lnTo>
                    <a:pt x="628484" y="19177"/>
                  </a:lnTo>
                  <a:lnTo>
                    <a:pt x="583971" y="8661"/>
                  </a:lnTo>
                  <a:lnTo>
                    <a:pt x="537984" y="2209"/>
                  </a:lnTo>
                  <a:lnTo>
                    <a:pt x="490728" y="0"/>
                  </a:lnTo>
                  <a:lnTo>
                    <a:pt x="443458" y="2209"/>
                  </a:lnTo>
                  <a:lnTo>
                    <a:pt x="397471" y="8661"/>
                  </a:lnTo>
                  <a:lnTo>
                    <a:pt x="352958" y="19177"/>
                  </a:lnTo>
                  <a:lnTo>
                    <a:pt x="310134" y="33553"/>
                  </a:lnTo>
                  <a:lnTo>
                    <a:pt x="269189" y="51587"/>
                  </a:lnTo>
                  <a:lnTo>
                    <a:pt x="230339" y="73075"/>
                  </a:lnTo>
                  <a:lnTo>
                    <a:pt x="193789" y="97815"/>
                  </a:lnTo>
                  <a:lnTo>
                    <a:pt x="159740" y="125615"/>
                  </a:lnTo>
                  <a:lnTo>
                    <a:pt x="128409" y="156260"/>
                  </a:lnTo>
                  <a:lnTo>
                    <a:pt x="99987" y="189572"/>
                  </a:lnTo>
                  <a:lnTo>
                    <a:pt x="74701" y="225323"/>
                  </a:lnTo>
                  <a:lnTo>
                    <a:pt x="52730" y="263321"/>
                  </a:lnTo>
                  <a:lnTo>
                    <a:pt x="34290" y="303377"/>
                  </a:lnTo>
                  <a:lnTo>
                    <a:pt x="19596" y="345287"/>
                  </a:lnTo>
                  <a:lnTo>
                    <a:pt x="8839" y="388835"/>
                  </a:lnTo>
                  <a:lnTo>
                    <a:pt x="2235" y="433832"/>
                  </a:lnTo>
                  <a:lnTo>
                    <a:pt x="0" y="480060"/>
                  </a:lnTo>
                  <a:lnTo>
                    <a:pt x="2235" y="526300"/>
                  </a:lnTo>
                  <a:lnTo>
                    <a:pt x="8839" y="571296"/>
                  </a:lnTo>
                  <a:lnTo>
                    <a:pt x="19596" y="614845"/>
                  </a:lnTo>
                  <a:lnTo>
                    <a:pt x="34290" y="656755"/>
                  </a:lnTo>
                  <a:lnTo>
                    <a:pt x="52730" y="696810"/>
                  </a:lnTo>
                  <a:lnTo>
                    <a:pt x="74701" y="734809"/>
                  </a:lnTo>
                  <a:lnTo>
                    <a:pt x="99987" y="770559"/>
                  </a:lnTo>
                  <a:lnTo>
                    <a:pt x="128409" y="803871"/>
                  </a:lnTo>
                  <a:lnTo>
                    <a:pt x="159740" y="834517"/>
                  </a:lnTo>
                  <a:lnTo>
                    <a:pt x="193789" y="862317"/>
                  </a:lnTo>
                  <a:lnTo>
                    <a:pt x="230339" y="887056"/>
                  </a:lnTo>
                  <a:lnTo>
                    <a:pt x="269189" y="908545"/>
                  </a:lnTo>
                  <a:lnTo>
                    <a:pt x="310134" y="926579"/>
                  </a:lnTo>
                  <a:lnTo>
                    <a:pt x="352958" y="940955"/>
                  </a:lnTo>
                  <a:lnTo>
                    <a:pt x="397471" y="951471"/>
                  </a:lnTo>
                  <a:lnTo>
                    <a:pt x="443458" y="957922"/>
                  </a:lnTo>
                  <a:lnTo>
                    <a:pt x="490728" y="960120"/>
                  </a:lnTo>
                  <a:lnTo>
                    <a:pt x="537984" y="957922"/>
                  </a:lnTo>
                  <a:lnTo>
                    <a:pt x="583971" y="951471"/>
                  </a:lnTo>
                  <a:lnTo>
                    <a:pt x="628484" y="940955"/>
                  </a:lnTo>
                  <a:lnTo>
                    <a:pt x="671309" y="926579"/>
                  </a:lnTo>
                  <a:lnTo>
                    <a:pt x="712254" y="908545"/>
                  </a:lnTo>
                  <a:lnTo>
                    <a:pt x="751103" y="887056"/>
                  </a:lnTo>
                  <a:lnTo>
                    <a:pt x="787654" y="862317"/>
                  </a:lnTo>
                  <a:lnTo>
                    <a:pt x="821702" y="834517"/>
                  </a:lnTo>
                  <a:lnTo>
                    <a:pt x="853033" y="803871"/>
                  </a:lnTo>
                  <a:lnTo>
                    <a:pt x="881456" y="770559"/>
                  </a:lnTo>
                  <a:lnTo>
                    <a:pt x="906741" y="734809"/>
                  </a:lnTo>
                  <a:lnTo>
                    <a:pt x="928712" y="696810"/>
                  </a:lnTo>
                  <a:lnTo>
                    <a:pt x="947153" y="656755"/>
                  </a:lnTo>
                  <a:lnTo>
                    <a:pt x="961847" y="614845"/>
                  </a:lnTo>
                  <a:lnTo>
                    <a:pt x="972604" y="571296"/>
                  </a:lnTo>
                  <a:lnTo>
                    <a:pt x="979208" y="526300"/>
                  </a:lnTo>
                  <a:lnTo>
                    <a:pt x="981456" y="480060"/>
                  </a:lnTo>
                  <a:close/>
                </a:path>
                <a:path w="4457700" h="960120">
                  <a:moveTo>
                    <a:pt x="2144268" y="480060"/>
                  </a:moveTo>
                  <a:lnTo>
                    <a:pt x="2142020" y="433832"/>
                  </a:lnTo>
                  <a:lnTo>
                    <a:pt x="2135416" y="388835"/>
                  </a:lnTo>
                  <a:lnTo>
                    <a:pt x="2124659" y="345287"/>
                  </a:lnTo>
                  <a:lnTo>
                    <a:pt x="2109965" y="303377"/>
                  </a:lnTo>
                  <a:lnTo>
                    <a:pt x="2091524" y="263321"/>
                  </a:lnTo>
                  <a:lnTo>
                    <a:pt x="2069553" y="225323"/>
                  </a:lnTo>
                  <a:lnTo>
                    <a:pt x="2044268" y="189572"/>
                  </a:lnTo>
                  <a:lnTo>
                    <a:pt x="2015845" y="156260"/>
                  </a:lnTo>
                  <a:lnTo>
                    <a:pt x="1984514" y="125615"/>
                  </a:lnTo>
                  <a:lnTo>
                    <a:pt x="1950466" y="97815"/>
                  </a:lnTo>
                  <a:lnTo>
                    <a:pt x="1913915" y="73075"/>
                  </a:lnTo>
                  <a:lnTo>
                    <a:pt x="1875066" y="51587"/>
                  </a:lnTo>
                  <a:lnTo>
                    <a:pt x="1834121" y="33553"/>
                  </a:lnTo>
                  <a:lnTo>
                    <a:pt x="1791296" y="19177"/>
                  </a:lnTo>
                  <a:lnTo>
                    <a:pt x="1746783" y="8661"/>
                  </a:lnTo>
                  <a:lnTo>
                    <a:pt x="1700796" y="2209"/>
                  </a:lnTo>
                  <a:lnTo>
                    <a:pt x="1653540" y="0"/>
                  </a:lnTo>
                  <a:lnTo>
                    <a:pt x="1606270" y="2209"/>
                  </a:lnTo>
                  <a:lnTo>
                    <a:pt x="1560283" y="8661"/>
                  </a:lnTo>
                  <a:lnTo>
                    <a:pt x="1515770" y="19177"/>
                  </a:lnTo>
                  <a:lnTo>
                    <a:pt x="1472946" y="33553"/>
                  </a:lnTo>
                  <a:lnTo>
                    <a:pt x="1432001" y="51587"/>
                  </a:lnTo>
                  <a:lnTo>
                    <a:pt x="1393151" y="73075"/>
                  </a:lnTo>
                  <a:lnTo>
                    <a:pt x="1356601" y="97815"/>
                  </a:lnTo>
                  <a:lnTo>
                    <a:pt x="1322552" y="125615"/>
                  </a:lnTo>
                  <a:lnTo>
                    <a:pt x="1291221" y="156260"/>
                  </a:lnTo>
                  <a:lnTo>
                    <a:pt x="1262799" y="189572"/>
                  </a:lnTo>
                  <a:lnTo>
                    <a:pt x="1237513" y="225323"/>
                  </a:lnTo>
                  <a:lnTo>
                    <a:pt x="1215542" y="263321"/>
                  </a:lnTo>
                  <a:lnTo>
                    <a:pt x="1197102" y="303377"/>
                  </a:lnTo>
                  <a:lnTo>
                    <a:pt x="1182408" y="345287"/>
                  </a:lnTo>
                  <a:lnTo>
                    <a:pt x="1171651" y="388835"/>
                  </a:lnTo>
                  <a:lnTo>
                    <a:pt x="1165047" y="433832"/>
                  </a:lnTo>
                  <a:lnTo>
                    <a:pt x="1162812" y="480060"/>
                  </a:lnTo>
                  <a:lnTo>
                    <a:pt x="1165047" y="526300"/>
                  </a:lnTo>
                  <a:lnTo>
                    <a:pt x="1171651" y="571296"/>
                  </a:lnTo>
                  <a:lnTo>
                    <a:pt x="1182408" y="614845"/>
                  </a:lnTo>
                  <a:lnTo>
                    <a:pt x="1197102" y="656755"/>
                  </a:lnTo>
                  <a:lnTo>
                    <a:pt x="1215542" y="696810"/>
                  </a:lnTo>
                  <a:lnTo>
                    <a:pt x="1237513" y="734809"/>
                  </a:lnTo>
                  <a:lnTo>
                    <a:pt x="1262799" y="770559"/>
                  </a:lnTo>
                  <a:lnTo>
                    <a:pt x="1291221" y="803871"/>
                  </a:lnTo>
                  <a:lnTo>
                    <a:pt x="1322552" y="834517"/>
                  </a:lnTo>
                  <a:lnTo>
                    <a:pt x="1356601" y="862317"/>
                  </a:lnTo>
                  <a:lnTo>
                    <a:pt x="1393151" y="887056"/>
                  </a:lnTo>
                  <a:lnTo>
                    <a:pt x="1432001" y="908545"/>
                  </a:lnTo>
                  <a:lnTo>
                    <a:pt x="1472946" y="926579"/>
                  </a:lnTo>
                  <a:lnTo>
                    <a:pt x="1515770" y="940955"/>
                  </a:lnTo>
                  <a:lnTo>
                    <a:pt x="1560283" y="951471"/>
                  </a:lnTo>
                  <a:lnTo>
                    <a:pt x="1606270" y="957922"/>
                  </a:lnTo>
                  <a:lnTo>
                    <a:pt x="1653540" y="960120"/>
                  </a:lnTo>
                  <a:lnTo>
                    <a:pt x="1700796" y="957922"/>
                  </a:lnTo>
                  <a:lnTo>
                    <a:pt x="1746783" y="951471"/>
                  </a:lnTo>
                  <a:lnTo>
                    <a:pt x="1791296" y="940955"/>
                  </a:lnTo>
                  <a:lnTo>
                    <a:pt x="1834121" y="926579"/>
                  </a:lnTo>
                  <a:lnTo>
                    <a:pt x="1875066" y="908545"/>
                  </a:lnTo>
                  <a:lnTo>
                    <a:pt x="1913915" y="887056"/>
                  </a:lnTo>
                  <a:lnTo>
                    <a:pt x="1950466" y="862317"/>
                  </a:lnTo>
                  <a:lnTo>
                    <a:pt x="1984514" y="834517"/>
                  </a:lnTo>
                  <a:lnTo>
                    <a:pt x="2015845" y="803871"/>
                  </a:lnTo>
                  <a:lnTo>
                    <a:pt x="2044268" y="770559"/>
                  </a:lnTo>
                  <a:lnTo>
                    <a:pt x="2069553" y="734809"/>
                  </a:lnTo>
                  <a:lnTo>
                    <a:pt x="2091524" y="696810"/>
                  </a:lnTo>
                  <a:lnTo>
                    <a:pt x="2109965" y="656755"/>
                  </a:lnTo>
                  <a:lnTo>
                    <a:pt x="2124659" y="614845"/>
                  </a:lnTo>
                  <a:lnTo>
                    <a:pt x="2135416" y="571296"/>
                  </a:lnTo>
                  <a:lnTo>
                    <a:pt x="2142020" y="526300"/>
                  </a:lnTo>
                  <a:lnTo>
                    <a:pt x="2144268" y="480060"/>
                  </a:lnTo>
                  <a:close/>
                </a:path>
                <a:path w="4457700" h="960120">
                  <a:moveTo>
                    <a:pt x="3381756" y="480060"/>
                  </a:moveTo>
                  <a:lnTo>
                    <a:pt x="3379508" y="433832"/>
                  </a:lnTo>
                  <a:lnTo>
                    <a:pt x="3372916" y="388835"/>
                  </a:lnTo>
                  <a:lnTo>
                    <a:pt x="3362185" y="345287"/>
                  </a:lnTo>
                  <a:lnTo>
                    <a:pt x="3347504" y="303377"/>
                  </a:lnTo>
                  <a:lnTo>
                    <a:pt x="3329101" y="263321"/>
                  </a:lnTo>
                  <a:lnTo>
                    <a:pt x="3307169" y="225323"/>
                  </a:lnTo>
                  <a:lnTo>
                    <a:pt x="3281921" y="189572"/>
                  </a:lnTo>
                  <a:lnTo>
                    <a:pt x="3253549" y="156260"/>
                  </a:lnTo>
                  <a:lnTo>
                    <a:pt x="3222256" y="125615"/>
                  </a:lnTo>
                  <a:lnTo>
                    <a:pt x="3188271" y="97815"/>
                  </a:lnTo>
                  <a:lnTo>
                    <a:pt x="3151784" y="73075"/>
                  </a:lnTo>
                  <a:lnTo>
                    <a:pt x="3112986" y="51587"/>
                  </a:lnTo>
                  <a:lnTo>
                    <a:pt x="3072117" y="33553"/>
                  </a:lnTo>
                  <a:lnTo>
                    <a:pt x="3029343" y="19177"/>
                  </a:lnTo>
                  <a:lnTo>
                    <a:pt x="2984893" y="8661"/>
                  </a:lnTo>
                  <a:lnTo>
                    <a:pt x="2938970" y="2209"/>
                  </a:lnTo>
                  <a:lnTo>
                    <a:pt x="2891790" y="0"/>
                  </a:lnTo>
                  <a:lnTo>
                    <a:pt x="2844596" y="2209"/>
                  </a:lnTo>
                  <a:lnTo>
                    <a:pt x="2798673" y="8661"/>
                  </a:lnTo>
                  <a:lnTo>
                    <a:pt x="2754223" y="19177"/>
                  </a:lnTo>
                  <a:lnTo>
                    <a:pt x="2711450" y="33553"/>
                  </a:lnTo>
                  <a:lnTo>
                    <a:pt x="2670581" y="51587"/>
                  </a:lnTo>
                  <a:lnTo>
                    <a:pt x="2631783" y="73075"/>
                  </a:lnTo>
                  <a:lnTo>
                    <a:pt x="2595295" y="97815"/>
                  </a:lnTo>
                  <a:lnTo>
                    <a:pt x="2561310" y="125615"/>
                  </a:lnTo>
                  <a:lnTo>
                    <a:pt x="2530017" y="156260"/>
                  </a:lnTo>
                  <a:lnTo>
                    <a:pt x="2501646" y="189572"/>
                  </a:lnTo>
                  <a:lnTo>
                    <a:pt x="2476398" y="225323"/>
                  </a:lnTo>
                  <a:lnTo>
                    <a:pt x="2454465" y="263321"/>
                  </a:lnTo>
                  <a:lnTo>
                    <a:pt x="2436063" y="303377"/>
                  </a:lnTo>
                  <a:lnTo>
                    <a:pt x="2421382" y="345287"/>
                  </a:lnTo>
                  <a:lnTo>
                    <a:pt x="2410650" y="388835"/>
                  </a:lnTo>
                  <a:lnTo>
                    <a:pt x="2404059" y="433832"/>
                  </a:lnTo>
                  <a:lnTo>
                    <a:pt x="2401824" y="480060"/>
                  </a:lnTo>
                  <a:lnTo>
                    <a:pt x="2404059" y="526300"/>
                  </a:lnTo>
                  <a:lnTo>
                    <a:pt x="2410650" y="571296"/>
                  </a:lnTo>
                  <a:lnTo>
                    <a:pt x="2421382" y="614845"/>
                  </a:lnTo>
                  <a:lnTo>
                    <a:pt x="2436063" y="656755"/>
                  </a:lnTo>
                  <a:lnTo>
                    <a:pt x="2454465" y="696810"/>
                  </a:lnTo>
                  <a:lnTo>
                    <a:pt x="2476398" y="734809"/>
                  </a:lnTo>
                  <a:lnTo>
                    <a:pt x="2501646" y="770559"/>
                  </a:lnTo>
                  <a:lnTo>
                    <a:pt x="2530017" y="803871"/>
                  </a:lnTo>
                  <a:lnTo>
                    <a:pt x="2561310" y="834517"/>
                  </a:lnTo>
                  <a:lnTo>
                    <a:pt x="2595295" y="862317"/>
                  </a:lnTo>
                  <a:lnTo>
                    <a:pt x="2631783" y="887056"/>
                  </a:lnTo>
                  <a:lnTo>
                    <a:pt x="2670581" y="908545"/>
                  </a:lnTo>
                  <a:lnTo>
                    <a:pt x="2711450" y="926579"/>
                  </a:lnTo>
                  <a:lnTo>
                    <a:pt x="2754223" y="940955"/>
                  </a:lnTo>
                  <a:lnTo>
                    <a:pt x="2798673" y="951471"/>
                  </a:lnTo>
                  <a:lnTo>
                    <a:pt x="2844596" y="957922"/>
                  </a:lnTo>
                  <a:lnTo>
                    <a:pt x="2891790" y="960120"/>
                  </a:lnTo>
                  <a:lnTo>
                    <a:pt x="2938970" y="957922"/>
                  </a:lnTo>
                  <a:lnTo>
                    <a:pt x="2984893" y="951471"/>
                  </a:lnTo>
                  <a:lnTo>
                    <a:pt x="3029343" y="940955"/>
                  </a:lnTo>
                  <a:lnTo>
                    <a:pt x="3072117" y="926579"/>
                  </a:lnTo>
                  <a:lnTo>
                    <a:pt x="3112986" y="908545"/>
                  </a:lnTo>
                  <a:lnTo>
                    <a:pt x="3151784" y="887056"/>
                  </a:lnTo>
                  <a:lnTo>
                    <a:pt x="3188271" y="862317"/>
                  </a:lnTo>
                  <a:lnTo>
                    <a:pt x="3222256" y="834517"/>
                  </a:lnTo>
                  <a:lnTo>
                    <a:pt x="3253549" y="803871"/>
                  </a:lnTo>
                  <a:lnTo>
                    <a:pt x="3281921" y="770559"/>
                  </a:lnTo>
                  <a:lnTo>
                    <a:pt x="3307169" y="734809"/>
                  </a:lnTo>
                  <a:lnTo>
                    <a:pt x="3329101" y="696810"/>
                  </a:lnTo>
                  <a:lnTo>
                    <a:pt x="3347504" y="656755"/>
                  </a:lnTo>
                  <a:lnTo>
                    <a:pt x="3362185" y="614845"/>
                  </a:lnTo>
                  <a:lnTo>
                    <a:pt x="3372916" y="571296"/>
                  </a:lnTo>
                  <a:lnTo>
                    <a:pt x="3379508" y="526300"/>
                  </a:lnTo>
                  <a:lnTo>
                    <a:pt x="3381756" y="480060"/>
                  </a:lnTo>
                  <a:close/>
                </a:path>
                <a:path w="4457700" h="960120">
                  <a:moveTo>
                    <a:pt x="4457700" y="480060"/>
                  </a:moveTo>
                  <a:lnTo>
                    <a:pt x="4455452" y="433832"/>
                  </a:lnTo>
                  <a:lnTo>
                    <a:pt x="4448861" y="388835"/>
                  </a:lnTo>
                  <a:lnTo>
                    <a:pt x="4438129" y="345287"/>
                  </a:lnTo>
                  <a:lnTo>
                    <a:pt x="4423448" y="303377"/>
                  </a:lnTo>
                  <a:lnTo>
                    <a:pt x="4405046" y="263321"/>
                  </a:lnTo>
                  <a:lnTo>
                    <a:pt x="4383113" y="225323"/>
                  </a:lnTo>
                  <a:lnTo>
                    <a:pt x="4357865" y="189572"/>
                  </a:lnTo>
                  <a:lnTo>
                    <a:pt x="4329493" y="156260"/>
                  </a:lnTo>
                  <a:lnTo>
                    <a:pt x="4298200" y="125615"/>
                  </a:lnTo>
                  <a:lnTo>
                    <a:pt x="4264215" y="97815"/>
                  </a:lnTo>
                  <a:lnTo>
                    <a:pt x="4227728" y="73075"/>
                  </a:lnTo>
                  <a:lnTo>
                    <a:pt x="4188930" y="51587"/>
                  </a:lnTo>
                  <a:lnTo>
                    <a:pt x="4148061" y="33553"/>
                  </a:lnTo>
                  <a:lnTo>
                    <a:pt x="4105287" y="19177"/>
                  </a:lnTo>
                  <a:lnTo>
                    <a:pt x="4060837" y="8661"/>
                  </a:lnTo>
                  <a:lnTo>
                    <a:pt x="4014914" y="2209"/>
                  </a:lnTo>
                  <a:lnTo>
                    <a:pt x="3967734" y="0"/>
                  </a:lnTo>
                  <a:lnTo>
                    <a:pt x="3920540" y="2209"/>
                  </a:lnTo>
                  <a:lnTo>
                    <a:pt x="3874617" y="8661"/>
                  </a:lnTo>
                  <a:lnTo>
                    <a:pt x="3830167" y="19177"/>
                  </a:lnTo>
                  <a:lnTo>
                    <a:pt x="3787394" y="33553"/>
                  </a:lnTo>
                  <a:lnTo>
                    <a:pt x="3746525" y="51587"/>
                  </a:lnTo>
                  <a:lnTo>
                    <a:pt x="3707727" y="73075"/>
                  </a:lnTo>
                  <a:lnTo>
                    <a:pt x="3671239" y="97815"/>
                  </a:lnTo>
                  <a:lnTo>
                    <a:pt x="3637254" y="125615"/>
                  </a:lnTo>
                  <a:lnTo>
                    <a:pt x="3605961" y="156260"/>
                  </a:lnTo>
                  <a:lnTo>
                    <a:pt x="3577590" y="189572"/>
                  </a:lnTo>
                  <a:lnTo>
                    <a:pt x="3552342" y="225323"/>
                  </a:lnTo>
                  <a:lnTo>
                    <a:pt x="3530409" y="263321"/>
                  </a:lnTo>
                  <a:lnTo>
                    <a:pt x="3512007" y="303377"/>
                  </a:lnTo>
                  <a:lnTo>
                    <a:pt x="3497326" y="345287"/>
                  </a:lnTo>
                  <a:lnTo>
                    <a:pt x="3486594" y="388835"/>
                  </a:lnTo>
                  <a:lnTo>
                    <a:pt x="3480003" y="433832"/>
                  </a:lnTo>
                  <a:lnTo>
                    <a:pt x="3477768" y="480060"/>
                  </a:lnTo>
                  <a:lnTo>
                    <a:pt x="3480003" y="526300"/>
                  </a:lnTo>
                  <a:lnTo>
                    <a:pt x="3486594" y="571296"/>
                  </a:lnTo>
                  <a:lnTo>
                    <a:pt x="3497326" y="614845"/>
                  </a:lnTo>
                  <a:lnTo>
                    <a:pt x="3512007" y="656755"/>
                  </a:lnTo>
                  <a:lnTo>
                    <a:pt x="3530409" y="696810"/>
                  </a:lnTo>
                  <a:lnTo>
                    <a:pt x="3552342" y="734809"/>
                  </a:lnTo>
                  <a:lnTo>
                    <a:pt x="3577590" y="770559"/>
                  </a:lnTo>
                  <a:lnTo>
                    <a:pt x="3605961" y="803871"/>
                  </a:lnTo>
                  <a:lnTo>
                    <a:pt x="3637254" y="834517"/>
                  </a:lnTo>
                  <a:lnTo>
                    <a:pt x="3671239" y="862317"/>
                  </a:lnTo>
                  <a:lnTo>
                    <a:pt x="3707727" y="887056"/>
                  </a:lnTo>
                  <a:lnTo>
                    <a:pt x="3746525" y="908545"/>
                  </a:lnTo>
                  <a:lnTo>
                    <a:pt x="3787394" y="926579"/>
                  </a:lnTo>
                  <a:lnTo>
                    <a:pt x="3830167" y="940955"/>
                  </a:lnTo>
                  <a:lnTo>
                    <a:pt x="3874617" y="951471"/>
                  </a:lnTo>
                  <a:lnTo>
                    <a:pt x="3920540" y="957922"/>
                  </a:lnTo>
                  <a:lnTo>
                    <a:pt x="3967734" y="960120"/>
                  </a:lnTo>
                  <a:lnTo>
                    <a:pt x="4014914" y="957922"/>
                  </a:lnTo>
                  <a:lnTo>
                    <a:pt x="4060837" y="951471"/>
                  </a:lnTo>
                  <a:lnTo>
                    <a:pt x="4105287" y="940955"/>
                  </a:lnTo>
                  <a:lnTo>
                    <a:pt x="4148061" y="926579"/>
                  </a:lnTo>
                  <a:lnTo>
                    <a:pt x="4188930" y="908545"/>
                  </a:lnTo>
                  <a:lnTo>
                    <a:pt x="4227728" y="887056"/>
                  </a:lnTo>
                  <a:lnTo>
                    <a:pt x="4264215" y="862317"/>
                  </a:lnTo>
                  <a:lnTo>
                    <a:pt x="4298200" y="834517"/>
                  </a:lnTo>
                  <a:lnTo>
                    <a:pt x="4329493" y="803871"/>
                  </a:lnTo>
                  <a:lnTo>
                    <a:pt x="4357865" y="770559"/>
                  </a:lnTo>
                  <a:lnTo>
                    <a:pt x="4383113" y="734809"/>
                  </a:lnTo>
                  <a:lnTo>
                    <a:pt x="4405046" y="696810"/>
                  </a:lnTo>
                  <a:lnTo>
                    <a:pt x="4423448" y="656755"/>
                  </a:lnTo>
                  <a:lnTo>
                    <a:pt x="4438129" y="614845"/>
                  </a:lnTo>
                  <a:lnTo>
                    <a:pt x="4448861" y="571296"/>
                  </a:lnTo>
                  <a:lnTo>
                    <a:pt x="4455452" y="526300"/>
                  </a:lnTo>
                  <a:lnTo>
                    <a:pt x="4457700" y="48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75831" y="4056888"/>
              <a:ext cx="880871" cy="29413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58455" y="3842003"/>
              <a:ext cx="918972" cy="68427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674607" y="4003547"/>
              <a:ext cx="914400" cy="3794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005059" y="3854196"/>
              <a:ext cx="402335" cy="63093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541007" y="2221992"/>
              <a:ext cx="622935" cy="0"/>
            </a:xfrm>
            <a:custGeom>
              <a:avLst/>
              <a:gdLst/>
              <a:ahLst/>
              <a:cxnLst/>
              <a:rect l="l" t="t" r="r" b="b"/>
              <a:pathLst>
                <a:path w="622934">
                  <a:moveTo>
                    <a:pt x="0" y="0"/>
                  </a:moveTo>
                  <a:lnTo>
                    <a:pt x="622808" y="0"/>
                  </a:lnTo>
                </a:path>
              </a:pathLst>
            </a:custGeom>
            <a:ln w="15240">
              <a:solidFill>
                <a:srgbClr val="FAB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972038" y="4731511"/>
            <a:ext cx="889000" cy="342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7780" algn="just">
              <a:lnSpc>
                <a:spcPct val="98600"/>
              </a:lnSpc>
              <a:spcBef>
                <a:spcPts val="105"/>
              </a:spcBef>
            </a:pP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Referência</a:t>
            </a:r>
            <a:r>
              <a:rPr sz="700" spc="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em</a:t>
            </a:r>
            <a:r>
              <a:rPr sz="700" spc="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cursos</a:t>
            </a:r>
            <a:r>
              <a:rPr sz="700" spc="5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de</a:t>
            </a:r>
            <a:r>
              <a:rPr sz="7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MBA</a:t>
            </a: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nas</a:t>
            </a:r>
            <a:r>
              <a:rPr sz="7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principais</a:t>
            </a:r>
            <a:r>
              <a:rPr sz="700" spc="5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mídias</a:t>
            </a:r>
            <a:r>
              <a:rPr sz="7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de</a:t>
            </a: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 circulação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0908538" y="2631693"/>
            <a:ext cx="8693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Membro</a:t>
            </a:r>
            <a:r>
              <a:rPr sz="7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fundador</a:t>
            </a: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spc="-25" dirty="0">
                <a:solidFill>
                  <a:srgbClr val="FFFFFF"/>
                </a:solidFill>
                <a:latin typeface="Segoe UI"/>
                <a:cs typeface="Segoe UI"/>
              </a:rPr>
              <a:t>da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890250" y="2738069"/>
            <a:ext cx="9080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ANAMBA</a:t>
            </a: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-</a:t>
            </a:r>
            <a:r>
              <a:rPr sz="7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Associação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925557" y="4731511"/>
            <a:ext cx="6572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Filiada</a:t>
            </a:r>
            <a:r>
              <a:rPr sz="7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7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EFMD</a:t>
            </a: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spc="-50" dirty="0">
                <a:solidFill>
                  <a:srgbClr val="FFFFFF"/>
                </a:solidFill>
                <a:latin typeface="Segoe UI"/>
                <a:cs typeface="Segoe UI"/>
              </a:rPr>
              <a:t>-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20026" y="2674061"/>
            <a:ext cx="22555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A primeira</a:t>
            </a:r>
            <a:r>
              <a:rPr sz="700" spc="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escola</a:t>
            </a:r>
            <a:r>
              <a:rPr sz="700" spc="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50" spc="-262" baseline="3968" dirty="0">
                <a:solidFill>
                  <a:srgbClr val="434343"/>
                </a:solidFill>
                <a:latin typeface="Segoe UI"/>
                <a:cs typeface="Segoe UI"/>
              </a:rPr>
              <a:t>s</a:t>
            </a:r>
            <a:r>
              <a:rPr sz="700" spc="-175" dirty="0">
                <a:solidFill>
                  <a:srgbClr val="FFFFFF"/>
                </a:solidFill>
                <a:latin typeface="Segoe UI"/>
                <a:cs typeface="Segoe UI"/>
              </a:rPr>
              <a:t>b</a:t>
            </a:r>
            <a:r>
              <a:rPr sz="1050" spc="-262" baseline="3968" dirty="0">
                <a:solidFill>
                  <a:srgbClr val="434343"/>
                </a:solidFill>
                <a:latin typeface="Segoe UI"/>
                <a:cs typeface="Segoe UI"/>
              </a:rPr>
              <a:t>e</a:t>
            </a:r>
            <a:r>
              <a:rPr sz="700" spc="-175" dirty="0">
                <a:solidFill>
                  <a:srgbClr val="FFFFFF"/>
                </a:solidFill>
                <a:latin typeface="Segoe UI"/>
                <a:cs typeface="Segoe UI"/>
              </a:rPr>
              <a:t>ra</a:t>
            </a:r>
            <a:r>
              <a:rPr sz="1050" spc="-262" baseline="3968" dirty="0">
                <a:solidFill>
                  <a:srgbClr val="434343"/>
                </a:solidFill>
                <a:latin typeface="Segoe UI"/>
                <a:cs typeface="Segoe UI"/>
              </a:rPr>
              <a:t>r</a:t>
            </a:r>
            <a:r>
              <a:rPr sz="1050" spc="-120" baseline="3968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spc="-130" dirty="0">
                <a:solidFill>
                  <a:srgbClr val="FFFFFF"/>
                </a:solidFill>
                <a:latin typeface="Segoe UI"/>
                <a:cs typeface="Segoe UI"/>
              </a:rPr>
              <a:t>s</a:t>
            </a:r>
            <a:r>
              <a:rPr sz="1050" spc="-195" baseline="3968" dirty="0">
                <a:solidFill>
                  <a:srgbClr val="434343"/>
                </a:solidFill>
                <a:latin typeface="Segoe UI"/>
                <a:cs typeface="Segoe UI"/>
              </a:rPr>
              <a:t>fi</a:t>
            </a:r>
            <a:r>
              <a:rPr sz="700" spc="-130" dirty="0">
                <a:solidFill>
                  <a:srgbClr val="FFFFFF"/>
                </a:solidFill>
                <a:latin typeface="Segoe UI"/>
                <a:cs typeface="Segoe UI"/>
              </a:rPr>
              <a:t>il</a:t>
            </a:r>
            <a:r>
              <a:rPr sz="1050" spc="-195" baseline="3968" dirty="0">
                <a:solidFill>
                  <a:srgbClr val="434343"/>
                </a:solidFill>
                <a:latin typeface="Segoe UI"/>
                <a:cs typeface="Segoe UI"/>
              </a:rPr>
              <a:t>n</a:t>
            </a:r>
            <a:r>
              <a:rPr sz="700" spc="-130" dirty="0">
                <a:solidFill>
                  <a:srgbClr val="FFFFFF"/>
                </a:solidFill>
                <a:latin typeface="Segoe UI"/>
                <a:cs typeface="Segoe UI"/>
              </a:rPr>
              <a:t>e</a:t>
            </a:r>
            <a:r>
              <a:rPr sz="1050" spc="-195" baseline="3968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700" spc="-130" dirty="0">
                <a:solidFill>
                  <a:srgbClr val="FFFFFF"/>
                </a:solidFill>
                <a:latin typeface="Segoe UI"/>
                <a:cs typeface="Segoe UI"/>
              </a:rPr>
              <a:t>ir</a:t>
            </a:r>
            <a:r>
              <a:rPr sz="1050" spc="-195" baseline="3968" dirty="0">
                <a:solidFill>
                  <a:srgbClr val="434343"/>
                </a:solidFill>
                <a:latin typeface="Segoe UI"/>
                <a:cs typeface="Segoe UI"/>
              </a:rPr>
              <a:t>li</a:t>
            </a:r>
            <a:r>
              <a:rPr sz="700" spc="-130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1050" spc="-195" baseline="3968" dirty="0">
                <a:solidFill>
                  <a:srgbClr val="434343"/>
                </a:solidFill>
                <a:latin typeface="Segoe UI"/>
                <a:cs typeface="Segoe UI"/>
              </a:rPr>
              <a:t>st</a:t>
            </a:r>
            <a:r>
              <a:rPr sz="700" spc="-130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1050" spc="-195" baseline="3968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1050" spc="22" baseline="3968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1050" baseline="3968" dirty="0">
                <a:solidFill>
                  <a:srgbClr val="434343"/>
                </a:solidFill>
                <a:latin typeface="Segoe UI"/>
                <a:cs typeface="Segoe UI"/>
              </a:rPr>
              <a:t>da </a:t>
            </a:r>
            <a:r>
              <a:rPr sz="1050" spc="-202" baseline="3968" dirty="0">
                <a:solidFill>
                  <a:srgbClr val="434343"/>
                </a:solidFill>
                <a:latin typeface="Segoe UI"/>
                <a:cs typeface="Segoe UI"/>
              </a:rPr>
              <a:t>m</a:t>
            </a:r>
            <a:r>
              <a:rPr sz="1050" spc="-202" baseline="27777" dirty="0">
                <a:solidFill>
                  <a:srgbClr val="434343"/>
                </a:solidFill>
                <a:latin typeface="Segoe UI"/>
                <a:cs typeface="Segoe UI"/>
              </a:rPr>
              <a:t>Ú</a:t>
            </a:r>
            <a:r>
              <a:rPr sz="1050" spc="-202" baseline="3968" dirty="0">
                <a:solidFill>
                  <a:srgbClr val="434343"/>
                </a:solidFill>
                <a:latin typeface="Segoe UI"/>
                <a:cs typeface="Segoe UI"/>
              </a:rPr>
              <a:t>ai</a:t>
            </a:r>
            <a:r>
              <a:rPr sz="1050" spc="-202" baseline="27777" dirty="0">
                <a:solidFill>
                  <a:srgbClr val="434343"/>
                </a:solidFill>
                <a:latin typeface="Segoe UI"/>
                <a:cs typeface="Segoe UI"/>
              </a:rPr>
              <a:t>n</a:t>
            </a:r>
            <a:r>
              <a:rPr sz="1050" spc="-202" baseline="3968" dirty="0">
                <a:solidFill>
                  <a:srgbClr val="434343"/>
                </a:solidFill>
                <a:latin typeface="Segoe UI"/>
                <a:cs typeface="Segoe UI"/>
              </a:rPr>
              <a:t>o</a:t>
            </a:r>
            <a:r>
              <a:rPr sz="1050" spc="-202" baseline="27777" dirty="0">
                <a:solidFill>
                  <a:srgbClr val="434343"/>
                </a:solidFill>
                <a:latin typeface="Segoe UI"/>
                <a:cs typeface="Segoe UI"/>
              </a:rPr>
              <a:t>i</a:t>
            </a:r>
            <a:r>
              <a:rPr sz="1050" spc="-202" baseline="3968" dirty="0">
                <a:solidFill>
                  <a:srgbClr val="434343"/>
                </a:solidFill>
                <a:latin typeface="Segoe UI"/>
                <a:cs typeface="Segoe UI"/>
              </a:rPr>
              <a:t>r</a:t>
            </a:r>
            <a:r>
              <a:rPr sz="1050" spc="-202" baseline="27777" dirty="0">
                <a:solidFill>
                  <a:srgbClr val="434343"/>
                </a:solidFill>
                <a:latin typeface="Segoe UI"/>
                <a:cs typeface="Segoe UI"/>
              </a:rPr>
              <a:t>ca</a:t>
            </a:r>
            <a:r>
              <a:rPr sz="1050" spc="7" baseline="27777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1050" i="1" baseline="27777" dirty="0">
                <a:solidFill>
                  <a:srgbClr val="434343"/>
                </a:solidFill>
                <a:latin typeface="Segoe UI"/>
                <a:cs typeface="Segoe UI"/>
              </a:rPr>
              <a:t>Business</a:t>
            </a:r>
            <a:r>
              <a:rPr sz="1050" i="1" spc="-7" baseline="27777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1050" i="1" spc="-15" baseline="27777" dirty="0">
                <a:solidFill>
                  <a:srgbClr val="434343"/>
                </a:solidFill>
                <a:latin typeface="Segoe UI"/>
                <a:cs typeface="Segoe UI"/>
              </a:rPr>
              <a:t>School</a:t>
            </a:r>
            <a:endParaRPr sz="1050" baseline="27777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20609" y="2887725"/>
            <a:ext cx="1217295" cy="23558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56235" marR="30480" indent="-318770">
              <a:lnSpc>
                <a:spcPts val="819"/>
              </a:lnSpc>
              <a:spcBef>
                <a:spcPts val="140"/>
              </a:spcBef>
            </a:pP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competição</a:t>
            </a:r>
            <a:r>
              <a:rPr sz="7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de</a:t>
            </a:r>
            <a:r>
              <a:rPr sz="7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MBA</a:t>
            </a:r>
            <a:r>
              <a:rPr sz="7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spc="-65" dirty="0">
                <a:solidFill>
                  <a:srgbClr val="FFFFFF"/>
                </a:solidFill>
                <a:latin typeface="Segoe UI"/>
                <a:cs typeface="Segoe UI"/>
              </a:rPr>
              <a:t>d</a:t>
            </a:r>
            <a:r>
              <a:rPr sz="1050" spc="-855" baseline="7936" dirty="0">
                <a:solidFill>
                  <a:srgbClr val="434343"/>
                </a:solidFill>
                <a:latin typeface="Segoe UI"/>
                <a:cs typeface="Segoe UI"/>
              </a:rPr>
              <a:t>m</a:t>
            </a: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o</a:t>
            </a:r>
            <a:r>
              <a:rPr sz="7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50" spc="-30" baseline="7936" dirty="0">
                <a:solidFill>
                  <a:srgbClr val="434343"/>
                </a:solidFill>
                <a:latin typeface="Segoe UI"/>
                <a:cs typeface="Segoe UI"/>
              </a:rPr>
              <a:t>undo</a:t>
            </a:r>
            <a:r>
              <a:rPr sz="1050" spc="750" baseline="7936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spc="-20" dirty="0">
                <a:solidFill>
                  <a:srgbClr val="FFFFFF"/>
                </a:solidFill>
                <a:latin typeface="Segoe UI"/>
                <a:cs typeface="Segoe UI"/>
              </a:rPr>
              <a:t>mundo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66733" y="2738069"/>
            <a:ext cx="9334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-155" dirty="0">
                <a:solidFill>
                  <a:srgbClr val="434343"/>
                </a:solidFill>
                <a:latin typeface="Segoe UI"/>
                <a:cs typeface="Segoe UI"/>
              </a:rPr>
              <a:t>b</a:t>
            </a:r>
            <a:r>
              <a:rPr sz="1050" spc="-232" baseline="23809" dirty="0">
                <a:solidFill>
                  <a:srgbClr val="FFFFFF"/>
                </a:solidFill>
                <a:latin typeface="Segoe UI"/>
                <a:cs typeface="Segoe UI"/>
              </a:rPr>
              <a:t>Ú</a:t>
            </a:r>
            <a:r>
              <a:rPr sz="700" spc="-155" dirty="0">
                <a:solidFill>
                  <a:srgbClr val="434343"/>
                </a:solidFill>
                <a:latin typeface="Segoe UI"/>
                <a:cs typeface="Segoe UI"/>
              </a:rPr>
              <a:t>ra</a:t>
            </a:r>
            <a:r>
              <a:rPr sz="1050" spc="-232" baseline="23809" dirty="0">
                <a:solidFill>
                  <a:srgbClr val="FFFFFF"/>
                </a:solidFill>
                <a:latin typeface="Segoe UI"/>
                <a:cs typeface="Segoe UI"/>
              </a:rPr>
              <a:t>n</a:t>
            </a:r>
            <a:r>
              <a:rPr sz="700" spc="-155" dirty="0">
                <a:solidFill>
                  <a:srgbClr val="434343"/>
                </a:solidFill>
                <a:latin typeface="Segoe UI"/>
                <a:cs typeface="Segoe UI"/>
              </a:rPr>
              <a:t>s</a:t>
            </a:r>
            <a:r>
              <a:rPr sz="1050" spc="-232" baseline="23809" dirty="0">
                <a:solidFill>
                  <a:srgbClr val="FFFFFF"/>
                </a:solidFill>
                <a:latin typeface="Segoe UI"/>
                <a:cs typeface="Segoe UI"/>
              </a:rPr>
              <a:t>ic</a:t>
            </a:r>
            <a:r>
              <a:rPr sz="700" spc="-155" dirty="0">
                <a:solidFill>
                  <a:srgbClr val="434343"/>
                </a:solidFill>
                <a:latin typeface="Segoe UI"/>
                <a:cs typeface="Segoe UI"/>
              </a:rPr>
              <a:t>il</a:t>
            </a:r>
            <a:r>
              <a:rPr sz="1050" spc="-232" baseline="23809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700" spc="-155" dirty="0">
                <a:solidFill>
                  <a:srgbClr val="434343"/>
                </a:solidFill>
                <a:latin typeface="Segoe UI"/>
                <a:cs typeface="Segoe UI"/>
              </a:rPr>
              <a:t>ei</a:t>
            </a:r>
            <a:r>
              <a:rPr sz="1050" i="1" spc="-232" baseline="23809" dirty="0">
                <a:solidFill>
                  <a:srgbClr val="FFFFFF"/>
                </a:solidFill>
                <a:latin typeface="Segoe UI"/>
                <a:cs typeface="Segoe UI"/>
              </a:rPr>
              <a:t>B</a:t>
            </a:r>
            <a:r>
              <a:rPr sz="700" spc="-155" dirty="0">
                <a:solidFill>
                  <a:srgbClr val="434343"/>
                </a:solidFill>
                <a:latin typeface="Segoe UI"/>
                <a:cs typeface="Segoe UI"/>
              </a:rPr>
              <a:t>ra</a:t>
            </a:r>
            <a:r>
              <a:rPr sz="1050" i="1" spc="-232" baseline="23809" dirty="0">
                <a:solidFill>
                  <a:srgbClr val="FFFFFF"/>
                </a:solidFill>
                <a:latin typeface="Segoe UI"/>
                <a:cs typeface="Segoe UI"/>
              </a:rPr>
              <a:t>us</a:t>
            </a:r>
            <a:r>
              <a:rPr sz="700" spc="-155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1050" i="1" spc="-232" baseline="23809" dirty="0">
                <a:solidFill>
                  <a:srgbClr val="FFFFFF"/>
                </a:solidFill>
                <a:latin typeface="Segoe UI"/>
                <a:cs typeface="Segoe UI"/>
              </a:rPr>
              <a:t>in</a:t>
            </a:r>
            <a:r>
              <a:rPr sz="700" spc="-155" dirty="0">
                <a:solidFill>
                  <a:srgbClr val="434343"/>
                </a:solidFill>
                <a:latin typeface="Segoe UI"/>
                <a:cs typeface="Segoe UI"/>
              </a:rPr>
              <a:t>fi</a:t>
            </a:r>
            <a:r>
              <a:rPr sz="1050" i="1" spc="-232" baseline="23809" dirty="0">
                <a:solidFill>
                  <a:srgbClr val="FFFFFF"/>
                </a:solidFill>
                <a:latin typeface="Segoe UI"/>
                <a:cs typeface="Segoe UI"/>
              </a:rPr>
              <a:t>e</a:t>
            </a:r>
            <a:r>
              <a:rPr sz="700" spc="-155" dirty="0">
                <a:solidFill>
                  <a:srgbClr val="434343"/>
                </a:solidFill>
                <a:latin typeface="Segoe UI"/>
                <a:cs typeface="Segoe UI"/>
              </a:rPr>
              <a:t>g</a:t>
            </a:r>
            <a:r>
              <a:rPr sz="1050" i="1" spc="-232" baseline="23809" dirty="0">
                <a:solidFill>
                  <a:srgbClr val="FFFFFF"/>
                </a:solidFill>
                <a:latin typeface="Segoe UI"/>
                <a:cs typeface="Segoe UI"/>
              </a:rPr>
              <a:t>s</a:t>
            </a:r>
            <a:r>
              <a:rPr sz="700" spc="-155" dirty="0">
                <a:solidFill>
                  <a:srgbClr val="434343"/>
                </a:solidFill>
                <a:latin typeface="Segoe UI"/>
                <a:cs typeface="Segoe UI"/>
              </a:rPr>
              <a:t>u</a:t>
            </a:r>
            <a:r>
              <a:rPr sz="1050" i="1" spc="-232" baseline="23809" dirty="0">
                <a:solidFill>
                  <a:srgbClr val="FFFFFF"/>
                </a:solidFill>
                <a:latin typeface="Segoe UI"/>
                <a:cs typeface="Segoe UI"/>
              </a:rPr>
              <a:t>s</a:t>
            </a:r>
            <a:r>
              <a:rPr sz="1050" i="1" spc="209" baseline="23809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spc="-114" dirty="0">
                <a:solidFill>
                  <a:srgbClr val="434343"/>
                </a:solidFill>
                <a:latin typeface="Segoe UI"/>
                <a:cs typeface="Segoe UI"/>
              </a:rPr>
              <a:t>r</a:t>
            </a:r>
            <a:r>
              <a:rPr sz="1050" i="1" spc="-172" baseline="23809" dirty="0">
                <a:solidFill>
                  <a:srgbClr val="FFFFFF"/>
                </a:solidFill>
                <a:latin typeface="Segoe UI"/>
                <a:cs typeface="Segoe UI"/>
              </a:rPr>
              <a:t>S</a:t>
            </a:r>
            <a:r>
              <a:rPr sz="700" spc="-114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1050" i="1" spc="-172" baseline="23809" dirty="0">
                <a:solidFill>
                  <a:srgbClr val="FFFFFF"/>
                </a:solidFill>
                <a:latin typeface="Segoe UI"/>
                <a:cs typeface="Segoe UI"/>
              </a:rPr>
              <a:t>c</a:t>
            </a:r>
            <a:r>
              <a:rPr sz="700" spc="-114" dirty="0">
                <a:solidFill>
                  <a:srgbClr val="434343"/>
                </a:solidFill>
                <a:latin typeface="Segoe UI"/>
                <a:cs typeface="Segoe UI"/>
              </a:rPr>
              <a:t>r</a:t>
            </a:r>
            <a:r>
              <a:rPr sz="1050" i="1" spc="-172" baseline="23809" dirty="0">
                <a:solidFill>
                  <a:srgbClr val="FFFFFF"/>
                </a:solidFill>
                <a:latin typeface="Segoe UI"/>
                <a:cs typeface="Segoe UI"/>
              </a:rPr>
              <a:t>h</a:t>
            </a:r>
            <a:r>
              <a:rPr sz="700" spc="-114" dirty="0">
                <a:solidFill>
                  <a:srgbClr val="434343"/>
                </a:solidFill>
                <a:latin typeface="Segoe UI"/>
                <a:cs typeface="Segoe UI"/>
              </a:rPr>
              <a:t>n</a:t>
            </a:r>
            <a:r>
              <a:rPr sz="1050" i="1" spc="-172" baseline="23809" dirty="0">
                <a:solidFill>
                  <a:srgbClr val="FFFFFF"/>
                </a:solidFill>
                <a:latin typeface="Segoe UI"/>
                <a:cs typeface="Segoe UI"/>
              </a:rPr>
              <a:t>o</a:t>
            </a:r>
            <a:r>
              <a:rPr sz="700" spc="-114" dirty="0">
                <a:solidFill>
                  <a:srgbClr val="434343"/>
                </a:solidFill>
                <a:latin typeface="Segoe UI"/>
                <a:cs typeface="Segoe UI"/>
              </a:rPr>
              <a:t>o</a:t>
            </a:r>
            <a:r>
              <a:rPr sz="1050" i="1" spc="-172" baseline="23809" dirty="0">
                <a:solidFill>
                  <a:srgbClr val="FFFFFF"/>
                </a:solidFill>
                <a:latin typeface="Segoe UI"/>
                <a:cs typeface="Segoe UI"/>
              </a:rPr>
              <a:t>ol</a:t>
            </a:r>
            <a:endParaRPr sz="1050" baseline="23809">
              <a:latin typeface="Segoe UI"/>
              <a:cs typeface="Segoe U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73950" y="2781045"/>
            <a:ext cx="21228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ser</a:t>
            </a:r>
            <a:r>
              <a:rPr sz="7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finalista</a:t>
            </a:r>
            <a:r>
              <a:rPr sz="700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spc="-114" dirty="0">
                <a:solidFill>
                  <a:srgbClr val="FFFFFF"/>
                </a:solidFill>
                <a:latin typeface="Segoe UI"/>
                <a:cs typeface="Segoe UI"/>
              </a:rPr>
              <a:t>d</a:t>
            </a:r>
            <a:r>
              <a:rPr sz="1050" spc="-172" baseline="3968" dirty="0">
                <a:solidFill>
                  <a:srgbClr val="434343"/>
                </a:solidFill>
                <a:latin typeface="Segoe UI"/>
                <a:cs typeface="Segoe UI"/>
              </a:rPr>
              <a:t>c</a:t>
            </a:r>
            <a:r>
              <a:rPr sz="700" spc="-114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1050" spc="-172" baseline="3968" dirty="0">
                <a:solidFill>
                  <a:srgbClr val="434343"/>
                </a:solidFill>
                <a:latin typeface="Segoe UI"/>
                <a:cs typeface="Segoe UI"/>
              </a:rPr>
              <a:t>o</a:t>
            </a:r>
            <a:r>
              <a:rPr sz="700" spc="-114" dirty="0">
                <a:solidFill>
                  <a:srgbClr val="FFFFFF"/>
                </a:solidFill>
                <a:latin typeface="Segoe UI"/>
                <a:cs typeface="Segoe UI"/>
              </a:rPr>
              <a:t>m</a:t>
            </a:r>
            <a:r>
              <a:rPr sz="1050" spc="-172" baseline="3968" dirty="0">
                <a:solidFill>
                  <a:srgbClr val="434343"/>
                </a:solidFill>
                <a:latin typeface="Segoe UI"/>
                <a:cs typeface="Segoe UI"/>
              </a:rPr>
              <a:t>p</a:t>
            </a:r>
            <a:r>
              <a:rPr sz="700" spc="-114" dirty="0">
                <a:solidFill>
                  <a:srgbClr val="FFFFFF"/>
                </a:solidFill>
                <a:latin typeface="Segoe UI"/>
                <a:cs typeface="Segoe UI"/>
              </a:rPr>
              <a:t>ai</a:t>
            </a:r>
            <a:r>
              <a:rPr sz="1050" spc="-172" baseline="3968" dirty="0">
                <a:solidFill>
                  <a:srgbClr val="434343"/>
                </a:solidFill>
                <a:latin typeface="Segoe UI"/>
                <a:cs typeface="Segoe UI"/>
              </a:rPr>
              <a:t>e</a:t>
            </a:r>
            <a:r>
              <a:rPr sz="700" spc="-114" dirty="0">
                <a:solidFill>
                  <a:srgbClr val="FFFFFF"/>
                </a:solidFill>
                <a:latin typeface="Segoe UI"/>
                <a:cs typeface="Segoe UI"/>
              </a:rPr>
              <a:t>o</a:t>
            </a:r>
            <a:r>
              <a:rPr sz="1050" spc="-172" baseline="3968" dirty="0">
                <a:solidFill>
                  <a:srgbClr val="434343"/>
                </a:solidFill>
                <a:latin typeface="Segoe UI"/>
                <a:cs typeface="Segoe UI"/>
              </a:rPr>
              <a:t>t</a:t>
            </a:r>
            <a:r>
              <a:rPr sz="700" spc="-114" dirty="0">
                <a:solidFill>
                  <a:srgbClr val="FFFFFF"/>
                </a:solidFill>
                <a:latin typeface="Segoe UI"/>
                <a:cs typeface="Segoe UI"/>
              </a:rPr>
              <a:t>r</a:t>
            </a:r>
            <a:r>
              <a:rPr sz="1050" spc="-172" baseline="3968" dirty="0">
                <a:solidFill>
                  <a:srgbClr val="434343"/>
                </a:solidFill>
                <a:latin typeface="Segoe UI"/>
                <a:cs typeface="Segoe UI"/>
              </a:rPr>
              <a:t>ição</a:t>
            </a:r>
            <a:r>
              <a:rPr sz="1050" spc="15" baseline="3968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1050" baseline="3968" dirty="0">
                <a:solidFill>
                  <a:srgbClr val="434343"/>
                </a:solidFill>
                <a:latin typeface="Segoe UI"/>
                <a:cs typeface="Segoe UI"/>
              </a:rPr>
              <a:t>de</a:t>
            </a:r>
            <a:r>
              <a:rPr sz="1050" spc="-22" baseline="3968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1050" spc="-142" baseline="3968" dirty="0">
                <a:solidFill>
                  <a:srgbClr val="434343"/>
                </a:solidFill>
                <a:latin typeface="Segoe UI"/>
                <a:cs typeface="Segoe UI"/>
              </a:rPr>
              <a:t>MB</a:t>
            </a:r>
            <a:r>
              <a:rPr sz="1050" spc="-142" baseline="-15873" dirty="0">
                <a:solidFill>
                  <a:srgbClr val="FFFFFF"/>
                </a:solidFill>
                <a:latin typeface="Segoe UI"/>
                <a:cs typeface="Segoe UI"/>
              </a:rPr>
              <a:t>b</a:t>
            </a:r>
            <a:r>
              <a:rPr sz="1050" spc="-142" baseline="3968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1050" spc="-142" baseline="-15873" dirty="0">
                <a:solidFill>
                  <a:srgbClr val="FFFFFF"/>
                </a:solidFill>
                <a:latin typeface="Segoe UI"/>
                <a:cs typeface="Segoe UI"/>
              </a:rPr>
              <a:t>ra</a:t>
            </a:r>
            <a:r>
              <a:rPr sz="1050" spc="-142" baseline="3968" dirty="0">
                <a:solidFill>
                  <a:srgbClr val="434343"/>
                </a:solidFill>
                <a:latin typeface="Segoe UI"/>
                <a:cs typeface="Segoe UI"/>
              </a:rPr>
              <a:t>d</a:t>
            </a:r>
            <a:r>
              <a:rPr sz="1050" spc="-142" baseline="-15873" dirty="0">
                <a:solidFill>
                  <a:srgbClr val="FFFFFF"/>
                </a:solidFill>
                <a:latin typeface="Segoe UI"/>
                <a:cs typeface="Segoe UI"/>
              </a:rPr>
              <a:t>s</a:t>
            </a:r>
            <a:r>
              <a:rPr sz="1050" spc="-142" baseline="3968" dirty="0">
                <a:solidFill>
                  <a:srgbClr val="434343"/>
                </a:solidFill>
                <a:latin typeface="Segoe UI"/>
                <a:cs typeface="Segoe UI"/>
              </a:rPr>
              <a:t>o</a:t>
            </a:r>
            <a:r>
              <a:rPr sz="1050" spc="-142" baseline="-15873" dirty="0">
                <a:solidFill>
                  <a:srgbClr val="FFFFFF"/>
                </a:solidFill>
                <a:latin typeface="Segoe UI"/>
                <a:cs typeface="Segoe UI"/>
              </a:rPr>
              <a:t>ileira</a:t>
            </a:r>
            <a:r>
              <a:rPr sz="1050" baseline="-15873" dirty="0">
                <a:solidFill>
                  <a:srgbClr val="FFFFFF"/>
                </a:solidFill>
                <a:latin typeface="Segoe UI"/>
                <a:cs typeface="Segoe UI"/>
              </a:rPr>
              <a:t> a</a:t>
            </a:r>
            <a:r>
              <a:rPr sz="1050" spc="-15" baseline="-15873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50" baseline="-15873" dirty="0">
                <a:solidFill>
                  <a:srgbClr val="FFFFFF"/>
                </a:solidFill>
                <a:latin typeface="Segoe UI"/>
                <a:cs typeface="Segoe UI"/>
              </a:rPr>
              <a:t>figurar</a:t>
            </a:r>
            <a:r>
              <a:rPr sz="1050" spc="-15" baseline="-15873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50" spc="-37" baseline="-15873" dirty="0">
                <a:solidFill>
                  <a:srgbClr val="FFFFFF"/>
                </a:solidFill>
                <a:latin typeface="Segoe UI"/>
                <a:cs typeface="Segoe UI"/>
              </a:rPr>
              <a:t>no</a:t>
            </a:r>
            <a:endParaRPr sz="1050" baseline="-15873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835897" y="2908173"/>
            <a:ext cx="6184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solidFill>
                  <a:srgbClr val="FFFFFF"/>
                </a:solidFill>
                <a:latin typeface="Segoe UI"/>
                <a:cs typeface="Segoe UI"/>
              </a:rPr>
              <a:t>ranking</a:t>
            </a:r>
            <a:r>
              <a:rPr sz="700" i="1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LATAM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790430" y="2606457"/>
            <a:ext cx="881380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4455" marR="30480" indent="-46990">
              <a:lnSpc>
                <a:spcPct val="123500"/>
              </a:lnSpc>
              <a:spcBef>
                <a:spcPts val="95"/>
              </a:spcBef>
            </a:pP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Signatária</a:t>
            </a:r>
            <a:r>
              <a:rPr sz="700" spc="-3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do</a:t>
            </a:r>
            <a:r>
              <a:rPr sz="700" spc="-25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spc="-10" dirty="0">
                <a:solidFill>
                  <a:srgbClr val="434343"/>
                </a:solidFill>
                <a:latin typeface="Segoe UI"/>
                <a:cs typeface="Segoe UI"/>
              </a:rPr>
              <a:t>Pacto</a:t>
            </a:r>
            <a:r>
              <a:rPr sz="700" spc="50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spc="-150" dirty="0">
                <a:solidFill>
                  <a:srgbClr val="FFFFFF"/>
                </a:solidFill>
                <a:latin typeface="Segoe UI"/>
                <a:cs typeface="Segoe UI"/>
              </a:rPr>
              <a:t>S</a:t>
            </a:r>
            <a:r>
              <a:rPr sz="1050" spc="-225" baseline="15873" dirty="0">
                <a:solidFill>
                  <a:srgbClr val="434343"/>
                </a:solidFill>
                <a:latin typeface="Segoe UI"/>
                <a:cs typeface="Segoe UI"/>
              </a:rPr>
              <a:t>G</a:t>
            </a:r>
            <a:r>
              <a:rPr sz="700" spc="-150" dirty="0">
                <a:solidFill>
                  <a:srgbClr val="FFFFFF"/>
                </a:solidFill>
                <a:latin typeface="Segoe UI"/>
                <a:cs typeface="Segoe UI"/>
              </a:rPr>
              <a:t>ig</a:t>
            </a:r>
            <a:r>
              <a:rPr sz="1050" spc="-225" baseline="15873" dirty="0">
                <a:solidFill>
                  <a:srgbClr val="434343"/>
                </a:solidFill>
                <a:latin typeface="Segoe UI"/>
                <a:cs typeface="Segoe UI"/>
              </a:rPr>
              <a:t>lo</a:t>
            </a:r>
            <a:r>
              <a:rPr sz="700" spc="-150" dirty="0">
                <a:solidFill>
                  <a:srgbClr val="FFFFFF"/>
                </a:solidFill>
                <a:latin typeface="Segoe UI"/>
                <a:cs typeface="Segoe UI"/>
              </a:rPr>
              <a:t>na</a:t>
            </a:r>
            <a:r>
              <a:rPr sz="1050" spc="-225" baseline="15873" dirty="0">
                <a:solidFill>
                  <a:srgbClr val="434343"/>
                </a:solidFill>
                <a:latin typeface="Segoe UI"/>
                <a:cs typeface="Segoe UI"/>
              </a:rPr>
              <a:t>b</a:t>
            </a:r>
            <a:r>
              <a:rPr sz="700" spc="-150" dirty="0">
                <a:solidFill>
                  <a:srgbClr val="FFFFFF"/>
                </a:solidFill>
                <a:latin typeface="Segoe UI"/>
                <a:cs typeface="Segoe UI"/>
              </a:rPr>
              <a:t>t</a:t>
            </a:r>
            <a:r>
              <a:rPr sz="1050" spc="-225" baseline="15873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700" spc="-150" dirty="0">
                <a:solidFill>
                  <a:srgbClr val="FFFFFF"/>
                </a:solidFill>
                <a:latin typeface="Segoe UI"/>
                <a:cs typeface="Segoe UI"/>
              </a:rPr>
              <a:t>á</a:t>
            </a:r>
            <a:r>
              <a:rPr sz="1050" spc="-225" baseline="15873" dirty="0">
                <a:solidFill>
                  <a:srgbClr val="434343"/>
                </a:solidFill>
                <a:latin typeface="Segoe UI"/>
                <a:cs typeface="Segoe UI"/>
              </a:rPr>
              <a:t>l</a:t>
            </a:r>
            <a:r>
              <a:rPr sz="700" spc="-150" dirty="0">
                <a:solidFill>
                  <a:srgbClr val="FFFFFF"/>
                </a:solidFill>
                <a:latin typeface="Segoe UI"/>
                <a:cs typeface="Segoe UI"/>
              </a:rPr>
              <a:t>r</a:t>
            </a:r>
            <a:r>
              <a:rPr sz="1050" spc="-225" baseline="15873" dirty="0">
                <a:solidFill>
                  <a:srgbClr val="434343"/>
                </a:solidFill>
                <a:latin typeface="Segoe UI"/>
                <a:cs typeface="Segoe UI"/>
              </a:rPr>
              <a:t>d</a:t>
            </a:r>
            <a:r>
              <a:rPr sz="700" spc="-150" dirty="0">
                <a:solidFill>
                  <a:srgbClr val="FFFFFF"/>
                </a:solidFill>
                <a:latin typeface="Segoe UI"/>
                <a:cs typeface="Segoe UI"/>
              </a:rPr>
              <a:t>ia</a:t>
            </a:r>
            <a:r>
              <a:rPr sz="1050" spc="-225" baseline="15873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700" spc="-150" dirty="0">
                <a:solidFill>
                  <a:srgbClr val="FFFFFF"/>
                </a:solidFill>
                <a:latin typeface="Segoe UI"/>
                <a:cs typeface="Segoe UI"/>
              </a:rPr>
              <a:t>d</a:t>
            </a:r>
            <a:r>
              <a:rPr sz="1050" spc="-225" baseline="15873" dirty="0">
                <a:solidFill>
                  <a:srgbClr val="434343"/>
                </a:solidFill>
                <a:latin typeface="Segoe UI"/>
                <a:cs typeface="Segoe UI"/>
              </a:rPr>
              <a:t>O</a:t>
            </a:r>
            <a:r>
              <a:rPr sz="700" spc="-150" dirty="0">
                <a:solidFill>
                  <a:srgbClr val="FFFFFF"/>
                </a:solidFill>
                <a:latin typeface="Segoe UI"/>
                <a:cs typeface="Segoe UI"/>
              </a:rPr>
              <a:t>o</a:t>
            </a:r>
            <a:r>
              <a:rPr sz="1050" spc="-225" baseline="15873" dirty="0">
                <a:solidFill>
                  <a:srgbClr val="434343"/>
                </a:solidFill>
                <a:latin typeface="Segoe UI"/>
                <a:cs typeface="Segoe UI"/>
              </a:rPr>
              <a:t>N</a:t>
            </a:r>
            <a:r>
              <a:rPr sz="700" spc="-150" dirty="0">
                <a:solidFill>
                  <a:srgbClr val="FFFFFF"/>
                </a:solidFill>
                <a:latin typeface="Segoe UI"/>
                <a:cs typeface="Segoe UI"/>
              </a:rPr>
              <a:t>P</a:t>
            </a:r>
            <a:r>
              <a:rPr sz="1050" spc="-225" baseline="15873" dirty="0">
                <a:solidFill>
                  <a:srgbClr val="434343"/>
                </a:solidFill>
                <a:latin typeface="Segoe UI"/>
                <a:cs typeface="Segoe UI"/>
              </a:rPr>
              <a:t>U</a:t>
            </a:r>
            <a:r>
              <a:rPr sz="700" spc="-150" dirty="0">
                <a:solidFill>
                  <a:srgbClr val="FFFFFF"/>
                </a:solidFill>
                <a:latin typeface="Segoe UI"/>
                <a:cs typeface="Segoe UI"/>
              </a:rPr>
              <a:t>acto</a:t>
            </a:r>
            <a:endParaRPr sz="700">
              <a:latin typeface="Segoe UI"/>
              <a:cs typeface="Segoe UI"/>
            </a:endParaRPr>
          </a:p>
          <a:p>
            <a:pPr marL="168275">
              <a:lnSpc>
                <a:spcPts val="815"/>
              </a:lnSpc>
            </a:pP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Global</a:t>
            </a:r>
            <a:r>
              <a:rPr sz="7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da</a:t>
            </a:r>
            <a:r>
              <a:rPr sz="7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spc="-25" dirty="0">
                <a:solidFill>
                  <a:srgbClr val="FFFFFF"/>
                </a:solidFill>
                <a:latin typeface="Segoe UI"/>
                <a:cs typeface="Segoe UI"/>
              </a:rPr>
              <a:t>ONU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060938" y="2784474"/>
            <a:ext cx="8693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Membro</a:t>
            </a:r>
            <a:r>
              <a:rPr sz="700" spc="-3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fundador</a:t>
            </a:r>
            <a:r>
              <a:rPr sz="700" spc="-1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spc="-25" dirty="0">
                <a:solidFill>
                  <a:srgbClr val="434343"/>
                </a:solidFill>
                <a:latin typeface="Segoe UI"/>
                <a:cs typeface="Segoe UI"/>
              </a:rPr>
              <a:t>da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009630" y="2891154"/>
            <a:ext cx="965835" cy="23558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90500" marR="30480" indent="-152400">
              <a:lnSpc>
                <a:spcPts val="819"/>
              </a:lnSpc>
              <a:spcBef>
                <a:spcPts val="140"/>
              </a:spcBef>
            </a:pPr>
            <a:r>
              <a:rPr sz="1050" spc="-712" baseline="31746" dirty="0">
                <a:solidFill>
                  <a:srgbClr val="FFFFFF"/>
                </a:solidFill>
                <a:latin typeface="Segoe UI"/>
                <a:cs typeface="Segoe UI"/>
              </a:rPr>
              <a:t>N</a:t>
            </a:r>
            <a:r>
              <a:rPr sz="700" spc="-15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700" spc="-525" dirty="0">
                <a:solidFill>
                  <a:srgbClr val="434343"/>
                </a:solidFill>
                <a:latin typeface="Segoe UI"/>
                <a:cs typeface="Segoe UI"/>
              </a:rPr>
              <a:t>N</a:t>
            </a:r>
            <a:r>
              <a:rPr sz="1050" baseline="31746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1050" spc="-284" baseline="31746" dirty="0">
                <a:solidFill>
                  <a:srgbClr val="FFFFFF"/>
                </a:solidFill>
                <a:latin typeface="Segoe UI"/>
                <a:cs typeface="Segoe UI"/>
              </a:rPr>
              <a:t>c</a:t>
            </a:r>
            <a:r>
              <a:rPr sz="700" spc="-285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1050" spc="-7" baseline="31746" dirty="0">
                <a:solidFill>
                  <a:srgbClr val="FFFFFF"/>
                </a:solidFill>
                <a:latin typeface="Segoe UI"/>
                <a:cs typeface="Segoe UI"/>
              </a:rPr>
              <a:t>i</a:t>
            </a:r>
            <a:r>
              <a:rPr sz="1050" spc="-494" baseline="31746" dirty="0">
                <a:solidFill>
                  <a:srgbClr val="FFFFFF"/>
                </a:solidFill>
                <a:latin typeface="Segoe UI"/>
                <a:cs typeface="Segoe UI"/>
              </a:rPr>
              <a:t>o</a:t>
            </a:r>
            <a:r>
              <a:rPr sz="700" spc="-325" dirty="0">
                <a:solidFill>
                  <a:srgbClr val="434343"/>
                </a:solidFill>
                <a:latin typeface="Segoe UI"/>
                <a:cs typeface="Segoe UI"/>
              </a:rPr>
              <a:t>M</a:t>
            </a:r>
            <a:r>
              <a:rPr sz="1050" spc="-142" baseline="31746" dirty="0">
                <a:solidFill>
                  <a:srgbClr val="FFFFFF"/>
                </a:solidFill>
                <a:latin typeface="Segoe UI"/>
                <a:cs typeface="Segoe UI"/>
              </a:rPr>
              <a:t>n</a:t>
            </a:r>
            <a:r>
              <a:rPr sz="700" spc="-330" dirty="0">
                <a:solidFill>
                  <a:srgbClr val="434343"/>
                </a:solidFill>
                <a:latin typeface="Segoe UI"/>
                <a:cs typeface="Segoe UI"/>
              </a:rPr>
              <a:t>B</a:t>
            </a:r>
            <a:r>
              <a:rPr sz="1050" spc="-67" baseline="31746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700" spc="-415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1050" spc="-7" baseline="31746" dirty="0">
                <a:solidFill>
                  <a:srgbClr val="FFFFFF"/>
                </a:solidFill>
                <a:latin typeface="Segoe UI"/>
                <a:cs typeface="Segoe UI"/>
              </a:rPr>
              <a:t>l</a:t>
            </a:r>
            <a:r>
              <a:rPr sz="1050" spc="97" baseline="31746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50" spc="-300" baseline="31746" dirty="0">
                <a:solidFill>
                  <a:srgbClr val="FFFFFF"/>
                </a:solidFill>
                <a:latin typeface="Segoe UI"/>
                <a:cs typeface="Segoe UI"/>
              </a:rPr>
              <a:t>M</a:t>
            </a:r>
            <a:r>
              <a:rPr sz="700" spc="-200" dirty="0">
                <a:solidFill>
                  <a:srgbClr val="434343"/>
                </a:solidFill>
                <a:latin typeface="Segoe UI"/>
                <a:cs typeface="Segoe UI"/>
              </a:rPr>
              <a:t>-</a:t>
            </a:r>
            <a:r>
              <a:rPr sz="700" spc="-65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1050" spc="-104" baseline="31746" dirty="0">
                <a:solidFill>
                  <a:srgbClr val="FFFFFF"/>
                </a:solidFill>
                <a:latin typeface="Segoe UI"/>
                <a:cs typeface="Segoe UI"/>
              </a:rPr>
              <a:t>B</a:t>
            </a:r>
            <a:r>
              <a:rPr sz="700" spc="-70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1050" spc="-104" baseline="31746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700" spc="-70" dirty="0">
                <a:solidFill>
                  <a:srgbClr val="434343"/>
                </a:solidFill>
                <a:latin typeface="Segoe UI"/>
                <a:cs typeface="Segoe UI"/>
              </a:rPr>
              <a:t>ssociação</a:t>
            </a:r>
            <a:r>
              <a:rPr sz="700" spc="50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Nacional</a:t>
            </a:r>
            <a:r>
              <a:rPr sz="700" spc="-15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spc="-20" dirty="0">
                <a:solidFill>
                  <a:srgbClr val="434343"/>
                </a:solidFill>
                <a:latin typeface="Segoe UI"/>
                <a:cs typeface="Segoe UI"/>
              </a:rPr>
              <a:t>MBAs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807193" y="4838191"/>
            <a:ext cx="9531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-140" dirty="0">
                <a:solidFill>
                  <a:srgbClr val="FFFFFF"/>
                </a:solidFill>
                <a:latin typeface="Segoe UI"/>
                <a:cs typeface="Segoe UI"/>
              </a:rPr>
              <a:t>Europe</a:t>
            </a:r>
            <a:r>
              <a:rPr sz="1050" spc="-209" baseline="-27777" dirty="0">
                <a:solidFill>
                  <a:srgbClr val="434343"/>
                </a:solidFill>
                <a:latin typeface="Segoe UI"/>
                <a:cs typeface="Segoe UI"/>
              </a:rPr>
              <a:t>F</a:t>
            </a:r>
            <a:r>
              <a:rPr sz="700" i="1" spc="-140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1050" spc="-209" baseline="-27777" dirty="0">
                <a:solidFill>
                  <a:srgbClr val="434343"/>
                </a:solidFill>
                <a:latin typeface="Segoe UI"/>
                <a:cs typeface="Segoe UI"/>
              </a:rPr>
              <a:t>il</a:t>
            </a:r>
            <a:r>
              <a:rPr sz="700" i="1" spc="-140" dirty="0">
                <a:solidFill>
                  <a:srgbClr val="FFFFFF"/>
                </a:solidFill>
                <a:latin typeface="Segoe UI"/>
                <a:cs typeface="Segoe UI"/>
              </a:rPr>
              <a:t>n</a:t>
            </a:r>
            <a:r>
              <a:rPr sz="1050" spc="-209" baseline="-27777" dirty="0">
                <a:solidFill>
                  <a:srgbClr val="434343"/>
                </a:solidFill>
                <a:latin typeface="Segoe UI"/>
                <a:cs typeface="Segoe UI"/>
              </a:rPr>
              <a:t>ia</a:t>
            </a:r>
            <a:r>
              <a:rPr sz="700" i="1" spc="-140" dirty="0">
                <a:solidFill>
                  <a:srgbClr val="FFFFFF"/>
                </a:solidFill>
                <a:latin typeface="Segoe UI"/>
                <a:cs typeface="Segoe UI"/>
              </a:rPr>
              <a:t>F</a:t>
            </a:r>
            <a:r>
              <a:rPr sz="1050" spc="-209" baseline="-27777" dirty="0">
                <a:solidFill>
                  <a:srgbClr val="434343"/>
                </a:solidFill>
                <a:latin typeface="Segoe UI"/>
                <a:cs typeface="Segoe UI"/>
              </a:rPr>
              <a:t>d</a:t>
            </a:r>
            <a:r>
              <a:rPr sz="700" i="1" spc="-140" dirty="0">
                <a:solidFill>
                  <a:srgbClr val="FFFFFF"/>
                </a:solidFill>
                <a:latin typeface="Segoe UI"/>
                <a:cs typeface="Segoe UI"/>
              </a:rPr>
              <a:t>o</a:t>
            </a:r>
            <a:r>
              <a:rPr sz="1050" spc="-209" baseline="-27777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700" i="1" spc="-140" dirty="0">
                <a:solidFill>
                  <a:srgbClr val="FFFFFF"/>
                </a:solidFill>
                <a:latin typeface="Segoe UI"/>
                <a:cs typeface="Segoe UI"/>
              </a:rPr>
              <a:t>u</a:t>
            </a:r>
            <a:r>
              <a:rPr sz="1050" spc="-209" baseline="-27777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700" i="1" spc="-140" dirty="0">
                <a:solidFill>
                  <a:srgbClr val="FFFFFF"/>
                </a:solidFill>
                <a:latin typeface="Segoe UI"/>
                <a:cs typeface="Segoe UI"/>
              </a:rPr>
              <a:t>nd</a:t>
            </a:r>
            <a:r>
              <a:rPr sz="1050" spc="-209" baseline="-27777" dirty="0">
                <a:solidFill>
                  <a:srgbClr val="434343"/>
                </a:solidFill>
                <a:latin typeface="Segoe UI"/>
                <a:cs typeface="Segoe UI"/>
              </a:rPr>
              <a:t>E</a:t>
            </a:r>
            <a:r>
              <a:rPr sz="700" i="1" spc="-140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1050" spc="-209" baseline="-27777" dirty="0">
                <a:solidFill>
                  <a:srgbClr val="434343"/>
                </a:solidFill>
                <a:latin typeface="Segoe UI"/>
                <a:cs typeface="Segoe UI"/>
              </a:rPr>
              <a:t>F</a:t>
            </a:r>
            <a:r>
              <a:rPr sz="700" i="1" spc="-140" dirty="0">
                <a:solidFill>
                  <a:srgbClr val="FFFFFF"/>
                </a:solidFill>
                <a:latin typeface="Segoe UI"/>
                <a:cs typeface="Segoe UI"/>
              </a:rPr>
              <a:t>t</a:t>
            </a:r>
            <a:r>
              <a:rPr sz="1050" spc="-209" baseline="-27777" dirty="0">
                <a:solidFill>
                  <a:srgbClr val="434343"/>
                </a:solidFill>
                <a:latin typeface="Segoe UI"/>
                <a:cs typeface="Segoe UI"/>
              </a:rPr>
              <a:t>M</a:t>
            </a:r>
            <a:r>
              <a:rPr sz="700" i="1" spc="-140" dirty="0">
                <a:solidFill>
                  <a:srgbClr val="FFFFFF"/>
                </a:solidFill>
                <a:latin typeface="Segoe UI"/>
                <a:cs typeface="Segoe UI"/>
              </a:rPr>
              <a:t>io</a:t>
            </a:r>
            <a:r>
              <a:rPr sz="1050" spc="-209" baseline="-27777" dirty="0">
                <a:solidFill>
                  <a:srgbClr val="434343"/>
                </a:solidFill>
                <a:latin typeface="Segoe UI"/>
                <a:cs typeface="Segoe UI"/>
              </a:rPr>
              <a:t>D</a:t>
            </a:r>
            <a:r>
              <a:rPr sz="700" i="1" spc="-140" dirty="0">
                <a:solidFill>
                  <a:srgbClr val="FFFFFF"/>
                </a:solidFill>
                <a:latin typeface="Segoe UI"/>
                <a:cs typeface="Segoe UI"/>
              </a:rPr>
              <a:t>n</a:t>
            </a:r>
            <a:r>
              <a:rPr sz="700" i="1" spc="1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50" i="1" spc="-75" baseline="-27777" dirty="0">
                <a:solidFill>
                  <a:srgbClr val="434343"/>
                </a:solidFill>
                <a:latin typeface="Segoe UI"/>
                <a:cs typeface="Segoe UI"/>
              </a:rPr>
              <a:t>-</a:t>
            </a:r>
            <a:endParaRPr sz="1050" baseline="-27777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898633" y="4990591"/>
            <a:ext cx="9531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7" baseline="27777" dirty="0">
                <a:solidFill>
                  <a:srgbClr val="FFFFFF"/>
                </a:solidFill>
                <a:latin typeface="Segoe UI"/>
                <a:cs typeface="Segoe UI"/>
              </a:rPr>
              <a:t>f</a:t>
            </a:r>
            <a:r>
              <a:rPr sz="1050" i="1" spc="-150" baseline="27777" dirty="0">
                <a:solidFill>
                  <a:srgbClr val="FFFFFF"/>
                </a:solidFill>
                <a:latin typeface="Segoe UI"/>
                <a:cs typeface="Segoe UI"/>
              </a:rPr>
              <a:t>o</a:t>
            </a:r>
            <a:r>
              <a:rPr sz="700" i="1" spc="-250" dirty="0">
                <a:solidFill>
                  <a:srgbClr val="434343"/>
                </a:solidFill>
                <a:latin typeface="Segoe UI"/>
                <a:cs typeface="Segoe UI"/>
              </a:rPr>
              <a:t>E</a:t>
            </a:r>
            <a:r>
              <a:rPr sz="1050" i="1" spc="7" baseline="27777" dirty="0">
                <a:solidFill>
                  <a:srgbClr val="FFFFFF"/>
                </a:solidFill>
                <a:latin typeface="Segoe UI"/>
                <a:cs typeface="Segoe UI"/>
              </a:rPr>
              <a:t>r</a:t>
            </a:r>
            <a:r>
              <a:rPr sz="700" i="1" spc="-195" dirty="0">
                <a:solidFill>
                  <a:srgbClr val="434343"/>
                </a:solidFill>
                <a:latin typeface="Segoe UI"/>
                <a:cs typeface="Segoe UI"/>
              </a:rPr>
              <a:t>u</a:t>
            </a:r>
            <a:r>
              <a:rPr sz="1050" i="1" spc="-577" baseline="27777" dirty="0">
                <a:solidFill>
                  <a:srgbClr val="FFFFFF"/>
                </a:solidFill>
                <a:latin typeface="Segoe UI"/>
                <a:cs typeface="Segoe UI"/>
              </a:rPr>
              <a:t>M</a:t>
            </a:r>
            <a:r>
              <a:rPr sz="700" i="1" spc="5" dirty="0">
                <a:solidFill>
                  <a:srgbClr val="434343"/>
                </a:solidFill>
                <a:latin typeface="Segoe UI"/>
                <a:cs typeface="Segoe UI"/>
              </a:rPr>
              <a:t>r</a:t>
            </a:r>
            <a:r>
              <a:rPr sz="700" i="1" spc="-254" dirty="0">
                <a:solidFill>
                  <a:srgbClr val="434343"/>
                </a:solidFill>
                <a:latin typeface="Segoe UI"/>
                <a:cs typeface="Segoe UI"/>
              </a:rPr>
              <a:t>o</a:t>
            </a:r>
            <a:r>
              <a:rPr sz="1050" i="1" spc="-179" baseline="27777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700" i="1" spc="-254" dirty="0">
                <a:solidFill>
                  <a:srgbClr val="434343"/>
                </a:solidFill>
                <a:latin typeface="Segoe UI"/>
                <a:cs typeface="Segoe UI"/>
              </a:rPr>
              <a:t>p</a:t>
            </a:r>
            <a:r>
              <a:rPr sz="1050" i="1" spc="-202" baseline="27777" dirty="0">
                <a:solidFill>
                  <a:srgbClr val="FFFFFF"/>
                </a:solidFill>
                <a:latin typeface="Segoe UI"/>
                <a:cs typeface="Segoe UI"/>
              </a:rPr>
              <a:t>n</a:t>
            </a:r>
            <a:r>
              <a:rPr sz="700" i="1" spc="-195" dirty="0">
                <a:solidFill>
                  <a:srgbClr val="434343"/>
                </a:solidFill>
                <a:latin typeface="Segoe UI"/>
                <a:cs typeface="Segoe UI"/>
              </a:rPr>
              <a:t>e</a:t>
            </a:r>
            <a:r>
              <a:rPr sz="1050" i="1" spc="-270" baseline="27777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700" i="1" spc="-195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1050" i="1" spc="-270" baseline="27777" dirty="0">
                <a:solidFill>
                  <a:srgbClr val="FFFFFF"/>
                </a:solidFill>
                <a:latin typeface="Segoe UI"/>
                <a:cs typeface="Segoe UI"/>
              </a:rPr>
              <a:t>g</a:t>
            </a:r>
            <a:r>
              <a:rPr sz="700" i="1" spc="-210" dirty="0">
                <a:solidFill>
                  <a:srgbClr val="434343"/>
                </a:solidFill>
                <a:latin typeface="Segoe UI"/>
                <a:cs typeface="Segoe UI"/>
              </a:rPr>
              <a:t>n</a:t>
            </a:r>
            <a:r>
              <a:rPr sz="1050" i="1" baseline="27777" dirty="0">
                <a:solidFill>
                  <a:srgbClr val="FFFFFF"/>
                </a:solidFill>
                <a:latin typeface="Segoe UI"/>
                <a:cs typeface="Segoe UI"/>
              </a:rPr>
              <a:t>e</a:t>
            </a:r>
            <a:r>
              <a:rPr sz="1050" i="1" spc="-794" baseline="27777" dirty="0">
                <a:solidFill>
                  <a:srgbClr val="FFFFFF"/>
                </a:solidFill>
                <a:latin typeface="Segoe UI"/>
                <a:cs typeface="Segoe UI"/>
              </a:rPr>
              <a:t>m</a:t>
            </a:r>
            <a:r>
              <a:rPr sz="700" i="1" dirty="0">
                <a:solidFill>
                  <a:srgbClr val="434343"/>
                </a:solidFill>
                <a:latin typeface="Segoe UI"/>
                <a:cs typeface="Segoe UI"/>
              </a:rPr>
              <a:t>F</a:t>
            </a:r>
            <a:r>
              <a:rPr sz="700" i="1" spc="-185" dirty="0">
                <a:solidFill>
                  <a:srgbClr val="434343"/>
                </a:solidFill>
                <a:latin typeface="Segoe UI"/>
                <a:cs typeface="Segoe UI"/>
              </a:rPr>
              <a:t>o</a:t>
            </a:r>
            <a:r>
              <a:rPr sz="1050" i="1" spc="-232" baseline="27777" dirty="0">
                <a:solidFill>
                  <a:srgbClr val="FFFFFF"/>
                </a:solidFill>
                <a:latin typeface="Segoe UI"/>
                <a:cs typeface="Segoe UI"/>
              </a:rPr>
              <a:t>e</a:t>
            </a:r>
            <a:r>
              <a:rPr sz="700" i="1" spc="-229" dirty="0">
                <a:solidFill>
                  <a:srgbClr val="434343"/>
                </a:solidFill>
                <a:latin typeface="Segoe UI"/>
                <a:cs typeface="Segoe UI"/>
              </a:rPr>
              <a:t>u</a:t>
            </a:r>
            <a:r>
              <a:rPr sz="1050" i="1" spc="-240" baseline="27777" dirty="0">
                <a:solidFill>
                  <a:srgbClr val="FFFFFF"/>
                </a:solidFill>
                <a:latin typeface="Segoe UI"/>
                <a:cs typeface="Segoe UI"/>
              </a:rPr>
              <a:t>n</a:t>
            </a:r>
            <a:r>
              <a:rPr sz="700" i="1" spc="-225" dirty="0">
                <a:solidFill>
                  <a:srgbClr val="434343"/>
                </a:solidFill>
                <a:latin typeface="Segoe UI"/>
                <a:cs typeface="Segoe UI"/>
              </a:rPr>
              <a:t>n</a:t>
            </a:r>
            <a:r>
              <a:rPr sz="1050" i="1" spc="7" baseline="27777" dirty="0">
                <a:solidFill>
                  <a:srgbClr val="FFFFFF"/>
                </a:solidFill>
                <a:latin typeface="Segoe UI"/>
                <a:cs typeface="Segoe UI"/>
              </a:rPr>
              <a:t>t</a:t>
            </a:r>
            <a:r>
              <a:rPr sz="700" i="1" spc="-5" dirty="0">
                <a:solidFill>
                  <a:srgbClr val="434343"/>
                </a:solidFill>
                <a:latin typeface="Segoe UI"/>
                <a:cs typeface="Segoe UI"/>
              </a:rPr>
              <a:t>da</a:t>
            </a:r>
            <a:r>
              <a:rPr sz="700" i="1" spc="5" dirty="0">
                <a:solidFill>
                  <a:srgbClr val="434343"/>
                </a:solidFill>
                <a:latin typeface="Segoe UI"/>
                <a:cs typeface="Segoe UI"/>
              </a:rPr>
              <a:t>tion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964166" y="5097272"/>
            <a:ext cx="7962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marR="30480" indent="-152400">
              <a:lnSpc>
                <a:spcPct val="100000"/>
              </a:lnSpc>
              <a:spcBef>
                <a:spcPts val="95"/>
              </a:spcBef>
            </a:pPr>
            <a:r>
              <a:rPr sz="1050" i="1" spc="-209" baseline="27777" dirty="0">
                <a:solidFill>
                  <a:srgbClr val="FFFFFF"/>
                </a:solidFill>
                <a:latin typeface="Segoe UI"/>
                <a:cs typeface="Segoe UI"/>
              </a:rPr>
              <a:t>De</a:t>
            </a:r>
            <a:r>
              <a:rPr sz="700" i="1" spc="-140" dirty="0">
                <a:solidFill>
                  <a:srgbClr val="434343"/>
                </a:solidFill>
                <a:latin typeface="Segoe UI"/>
                <a:cs typeface="Segoe UI"/>
              </a:rPr>
              <a:t>f</a:t>
            </a:r>
            <a:r>
              <a:rPr sz="1050" i="1" spc="-209" baseline="27777" dirty="0">
                <a:solidFill>
                  <a:srgbClr val="FFFFFF"/>
                </a:solidFill>
                <a:latin typeface="Segoe UI"/>
                <a:cs typeface="Segoe UI"/>
              </a:rPr>
              <a:t>v</a:t>
            </a:r>
            <a:r>
              <a:rPr sz="700" i="1" spc="-140" dirty="0">
                <a:solidFill>
                  <a:srgbClr val="434343"/>
                </a:solidFill>
                <a:latin typeface="Segoe UI"/>
                <a:cs typeface="Segoe UI"/>
              </a:rPr>
              <a:t>o</a:t>
            </a:r>
            <a:r>
              <a:rPr sz="1050" i="1" spc="-209" baseline="27777" dirty="0">
                <a:solidFill>
                  <a:srgbClr val="FFFFFF"/>
                </a:solidFill>
                <a:latin typeface="Segoe UI"/>
                <a:cs typeface="Segoe UI"/>
              </a:rPr>
              <a:t>e</a:t>
            </a:r>
            <a:r>
              <a:rPr sz="700" i="1" spc="-140" dirty="0">
                <a:solidFill>
                  <a:srgbClr val="434343"/>
                </a:solidFill>
                <a:latin typeface="Segoe UI"/>
                <a:cs typeface="Segoe UI"/>
              </a:rPr>
              <a:t>r</a:t>
            </a:r>
            <a:r>
              <a:rPr sz="1050" i="1" spc="-209" baseline="27777" dirty="0">
                <a:solidFill>
                  <a:srgbClr val="FFFFFF"/>
                </a:solidFill>
                <a:latin typeface="Segoe UI"/>
                <a:cs typeface="Segoe UI"/>
              </a:rPr>
              <a:t>lo</a:t>
            </a:r>
            <a:r>
              <a:rPr sz="700" i="1" spc="-140" dirty="0">
                <a:solidFill>
                  <a:srgbClr val="434343"/>
                </a:solidFill>
                <a:latin typeface="Segoe UI"/>
                <a:cs typeface="Segoe UI"/>
              </a:rPr>
              <a:t>M</a:t>
            </a:r>
            <a:r>
              <a:rPr sz="1050" i="1" spc="-209" baseline="27777" dirty="0">
                <a:solidFill>
                  <a:srgbClr val="FFFFFF"/>
                </a:solidFill>
                <a:latin typeface="Segoe UI"/>
                <a:cs typeface="Segoe UI"/>
              </a:rPr>
              <a:t>p</a:t>
            </a:r>
            <a:r>
              <a:rPr sz="700" i="1" spc="-140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1050" i="1" spc="-209" baseline="27777" dirty="0">
                <a:solidFill>
                  <a:srgbClr val="FFFFFF"/>
                </a:solidFill>
                <a:latin typeface="Segoe UI"/>
                <a:cs typeface="Segoe UI"/>
              </a:rPr>
              <a:t>m</a:t>
            </a:r>
            <a:r>
              <a:rPr sz="700" i="1" spc="-140" dirty="0">
                <a:solidFill>
                  <a:srgbClr val="434343"/>
                </a:solidFill>
                <a:latin typeface="Segoe UI"/>
                <a:cs typeface="Segoe UI"/>
              </a:rPr>
              <a:t>n</a:t>
            </a:r>
            <a:r>
              <a:rPr sz="1050" i="1" spc="-209" baseline="27777" dirty="0">
                <a:solidFill>
                  <a:srgbClr val="FFFFFF"/>
                </a:solidFill>
                <a:latin typeface="Segoe UI"/>
                <a:cs typeface="Segoe UI"/>
              </a:rPr>
              <a:t>e</a:t>
            </a:r>
            <a:r>
              <a:rPr sz="700" i="1" spc="-140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1050" i="1" spc="-209" baseline="27777" dirty="0">
                <a:solidFill>
                  <a:srgbClr val="FFFFFF"/>
                </a:solidFill>
                <a:latin typeface="Segoe UI"/>
                <a:cs typeface="Segoe UI"/>
              </a:rPr>
              <a:t>n</a:t>
            </a:r>
            <a:r>
              <a:rPr sz="700" i="1" spc="-140" dirty="0">
                <a:solidFill>
                  <a:srgbClr val="434343"/>
                </a:solidFill>
                <a:latin typeface="Segoe UI"/>
                <a:cs typeface="Segoe UI"/>
              </a:rPr>
              <a:t>g</a:t>
            </a:r>
            <a:r>
              <a:rPr sz="1050" i="1" spc="-209" baseline="27777" dirty="0">
                <a:solidFill>
                  <a:srgbClr val="FFFFFF"/>
                </a:solidFill>
                <a:latin typeface="Segoe UI"/>
                <a:cs typeface="Segoe UI"/>
              </a:rPr>
              <a:t>t</a:t>
            </a:r>
            <a:r>
              <a:rPr sz="700" i="1" spc="-140" dirty="0">
                <a:solidFill>
                  <a:srgbClr val="434343"/>
                </a:solidFill>
                <a:latin typeface="Segoe UI"/>
                <a:cs typeface="Segoe UI"/>
              </a:rPr>
              <a:t>ement</a:t>
            </a:r>
            <a:r>
              <a:rPr sz="700" i="1" spc="50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i="1" spc="-10" dirty="0">
                <a:solidFill>
                  <a:srgbClr val="434343"/>
                </a:solidFill>
                <a:latin typeface="Segoe UI"/>
                <a:cs typeface="Segoe UI"/>
              </a:rPr>
              <a:t>Development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18503" y="4744973"/>
            <a:ext cx="835025" cy="342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-635" algn="ctr">
              <a:lnSpc>
                <a:spcPct val="98600"/>
              </a:lnSpc>
              <a:spcBef>
                <a:spcPts val="105"/>
              </a:spcBef>
            </a:pPr>
            <a:r>
              <a:rPr sz="700" spc="-20" dirty="0">
                <a:solidFill>
                  <a:srgbClr val="FFFFFF"/>
                </a:solidFill>
                <a:latin typeface="Segoe UI"/>
                <a:cs typeface="Segoe UI"/>
              </a:rPr>
              <a:t>Credenc</a:t>
            </a:r>
            <a:r>
              <a:rPr sz="1050" spc="-30" baseline="7936" dirty="0">
                <a:solidFill>
                  <a:srgbClr val="434343"/>
                </a:solidFill>
                <a:latin typeface="Segoe UI"/>
                <a:cs typeface="Segoe UI"/>
              </a:rPr>
              <a:t>i</a:t>
            </a:r>
            <a:r>
              <a:rPr sz="700" spc="-20" dirty="0">
                <a:solidFill>
                  <a:srgbClr val="FFFFFF"/>
                </a:solidFill>
                <a:latin typeface="Segoe UI"/>
                <a:cs typeface="Segoe UI"/>
              </a:rPr>
              <a:t>iada</a:t>
            </a:r>
            <a:r>
              <a:rPr sz="700" spc="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pe</a:t>
            </a:r>
            <a:r>
              <a:rPr sz="1050" spc="-15" baseline="7936" dirty="0">
                <a:solidFill>
                  <a:srgbClr val="434343"/>
                </a:solidFill>
                <a:latin typeface="Segoe UI"/>
                <a:cs typeface="Segoe UI"/>
              </a:rPr>
              <a:t>l</a:t>
            </a: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la</a:t>
            </a:r>
            <a:r>
              <a:rPr sz="700" spc="5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AMBA</a:t>
            </a:r>
            <a:r>
              <a:rPr sz="7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-</a:t>
            </a:r>
            <a:r>
              <a:rPr sz="7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spc="-35" dirty="0">
                <a:solidFill>
                  <a:srgbClr val="FFFFFF"/>
                </a:solidFill>
                <a:latin typeface="Segoe UI"/>
                <a:cs typeface="Segoe UI"/>
              </a:rPr>
              <a:t>Assoc</a:t>
            </a:r>
            <a:r>
              <a:rPr sz="1050" i="1" spc="-52" baseline="7936" dirty="0">
                <a:solidFill>
                  <a:srgbClr val="434343"/>
                </a:solidFill>
                <a:latin typeface="Segoe UI"/>
                <a:cs typeface="Segoe UI"/>
              </a:rPr>
              <a:t>i</a:t>
            </a:r>
            <a:r>
              <a:rPr sz="700" i="1" spc="-35" dirty="0">
                <a:solidFill>
                  <a:srgbClr val="FFFFFF"/>
                </a:solidFill>
                <a:latin typeface="Segoe UI"/>
                <a:cs typeface="Segoe UI"/>
              </a:rPr>
              <a:t>iat</a:t>
            </a:r>
            <a:r>
              <a:rPr sz="1050" i="1" spc="-52" baseline="7936" dirty="0">
                <a:solidFill>
                  <a:srgbClr val="434343"/>
                </a:solidFill>
                <a:latin typeface="Segoe UI"/>
                <a:cs typeface="Segoe UI"/>
              </a:rPr>
              <a:t>i</a:t>
            </a:r>
            <a:r>
              <a:rPr sz="700" i="1" spc="-35" dirty="0">
                <a:solidFill>
                  <a:srgbClr val="FFFFFF"/>
                </a:solidFill>
                <a:latin typeface="Segoe UI"/>
                <a:cs typeface="Segoe UI"/>
              </a:rPr>
              <a:t>ion</a:t>
            </a:r>
            <a:r>
              <a:rPr sz="700" i="1" spc="5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dirty="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sz="700" i="1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spc="-20" dirty="0">
                <a:solidFill>
                  <a:srgbClr val="FFFFFF"/>
                </a:solidFill>
                <a:latin typeface="Segoe UI"/>
                <a:cs typeface="Segoe UI"/>
              </a:rPr>
              <a:t>MBAs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725281" y="4773548"/>
            <a:ext cx="900430" cy="448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lnSpc>
                <a:spcPct val="99000"/>
              </a:lnSpc>
              <a:spcBef>
                <a:spcPts val="105"/>
              </a:spcBef>
            </a:pP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Filiada</a:t>
            </a:r>
            <a:r>
              <a:rPr sz="7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7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AACSB </a:t>
            </a:r>
            <a:r>
              <a:rPr sz="700" spc="-50" dirty="0">
                <a:solidFill>
                  <a:srgbClr val="FFFFFF"/>
                </a:solidFill>
                <a:latin typeface="Segoe UI"/>
                <a:cs typeface="Segoe UI"/>
              </a:rPr>
              <a:t>-</a:t>
            </a:r>
            <a:r>
              <a:rPr sz="700" spc="5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dirty="0">
                <a:solidFill>
                  <a:srgbClr val="FFFFFF"/>
                </a:solidFill>
                <a:latin typeface="Segoe UI"/>
                <a:cs typeface="Segoe UI"/>
              </a:rPr>
              <a:t>Association</a:t>
            </a:r>
            <a:r>
              <a:rPr sz="700" i="1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dirty="0">
                <a:solidFill>
                  <a:srgbClr val="FFFFFF"/>
                </a:solidFill>
                <a:latin typeface="Segoe UI"/>
                <a:cs typeface="Segoe UI"/>
              </a:rPr>
              <a:t>to</a:t>
            </a:r>
            <a:r>
              <a:rPr sz="700" i="1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spc="-10" dirty="0">
                <a:solidFill>
                  <a:srgbClr val="FFFFFF"/>
                </a:solidFill>
                <a:latin typeface="Segoe UI"/>
                <a:cs typeface="Segoe UI"/>
              </a:rPr>
              <a:t>Advance</a:t>
            </a:r>
            <a:r>
              <a:rPr sz="700" i="1" spc="5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dirty="0">
                <a:solidFill>
                  <a:srgbClr val="FFFFFF"/>
                </a:solidFill>
                <a:latin typeface="Segoe UI"/>
                <a:cs typeface="Segoe UI"/>
              </a:rPr>
              <a:t>Collegiate</a:t>
            </a:r>
            <a:r>
              <a:rPr sz="700" i="1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dirty="0">
                <a:solidFill>
                  <a:srgbClr val="FFFFFF"/>
                </a:solidFill>
                <a:latin typeface="Segoe UI"/>
                <a:cs typeface="Segoe UI"/>
              </a:rPr>
              <a:t>Schools</a:t>
            </a:r>
            <a:r>
              <a:rPr sz="700" i="1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spc="-25" dirty="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sz="700" i="1" spc="5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spc="-10" dirty="0">
                <a:solidFill>
                  <a:srgbClr val="FFFFFF"/>
                </a:solidFill>
                <a:latin typeface="Segoe UI"/>
                <a:cs typeface="Segoe UI"/>
              </a:rPr>
              <a:t>Business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20685" y="4829936"/>
            <a:ext cx="10058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7810" marR="5080" indent="-245745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Credenciada</a:t>
            </a:r>
            <a:r>
              <a:rPr sz="700" spc="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FFFFFF"/>
                </a:solidFill>
                <a:latin typeface="Segoe UI"/>
                <a:cs typeface="Segoe UI"/>
              </a:rPr>
              <a:t>ao</a:t>
            </a:r>
            <a:r>
              <a:rPr sz="700" spc="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spc="-10" dirty="0">
                <a:solidFill>
                  <a:srgbClr val="FFFFFF"/>
                </a:solidFill>
                <a:latin typeface="Segoe UI"/>
                <a:cs typeface="Segoe UI"/>
              </a:rPr>
              <a:t>Executive</a:t>
            </a:r>
            <a:r>
              <a:rPr sz="700" i="1" spc="5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dirty="0">
                <a:solidFill>
                  <a:srgbClr val="FFFFFF"/>
                </a:solidFill>
                <a:latin typeface="Segoe UI"/>
                <a:cs typeface="Segoe UI"/>
              </a:rPr>
              <a:t>MBA</a:t>
            </a:r>
            <a:r>
              <a:rPr sz="700" i="1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700" i="1" spc="-10" dirty="0">
                <a:solidFill>
                  <a:srgbClr val="FFFFFF"/>
                </a:solidFill>
                <a:latin typeface="Segoe UI"/>
                <a:cs typeface="Segoe UI"/>
              </a:rPr>
              <a:t>Council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09396" y="3354704"/>
            <a:ext cx="51485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Líder</a:t>
            </a:r>
            <a:r>
              <a:rPr sz="1400" spc="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4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Educação</a:t>
            </a:r>
            <a:r>
              <a:rPr sz="1400" spc="3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Executiva,</a:t>
            </a:r>
            <a:r>
              <a:rPr sz="14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referência</a:t>
            </a:r>
            <a:r>
              <a:rPr sz="14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ensino</a:t>
            </a:r>
            <a:r>
              <a:rPr sz="14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nos</a:t>
            </a:r>
            <a:r>
              <a:rPr sz="14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cursos</a:t>
            </a:r>
            <a:r>
              <a:rPr sz="14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graduação,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pós-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graduação</a:t>
            </a: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MBA,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tendo</a:t>
            </a:r>
            <a:r>
              <a:rPr sz="14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excelência</a:t>
            </a: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nos</a:t>
            </a: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programas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09396" y="3781805"/>
            <a:ext cx="76708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educação. possuindo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Europa</a:t>
            </a:r>
            <a:r>
              <a:rPr sz="1400" spc="4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25066" y="3781805"/>
            <a:ext cx="433451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34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Uma</a:t>
            </a:r>
            <a:r>
              <a:rPr sz="1400" spc="19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das</a:t>
            </a:r>
            <a:r>
              <a:rPr sz="1400" spc="204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principais</a:t>
            </a:r>
            <a:r>
              <a:rPr sz="1400" spc="20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escolas</a:t>
            </a:r>
            <a:r>
              <a:rPr sz="1400" spc="20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spc="20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negócio</a:t>
            </a:r>
            <a:r>
              <a:rPr sz="1400" spc="20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400" spc="20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mundo,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convênios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internacionais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r>
              <a:rPr sz="1400" spc="10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Universidades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nos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EUA,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Ásia.</a:t>
            </a:r>
            <a:r>
              <a:rPr sz="1400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+8.000</a:t>
            </a:r>
            <a:r>
              <a:rPr sz="1400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projetos</a:t>
            </a:r>
            <a:r>
              <a:rPr sz="1400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consultorias</a:t>
            </a:r>
            <a:r>
              <a:rPr sz="1400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400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organizações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9396" y="4421885"/>
            <a:ext cx="1439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públicas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privadas.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603605" y="169544"/>
            <a:ext cx="45040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200" dirty="0">
                <a:solidFill>
                  <a:srgbClr val="C3F975"/>
                </a:solidFill>
              </a:rPr>
              <a:t>FIA</a:t>
            </a:r>
            <a:r>
              <a:rPr sz="2200" spc="-50" dirty="0">
                <a:solidFill>
                  <a:srgbClr val="C3F975"/>
                </a:solidFill>
              </a:rPr>
              <a:t> </a:t>
            </a:r>
            <a:r>
              <a:rPr sz="2200" dirty="0">
                <a:solidFill>
                  <a:srgbClr val="C3F975"/>
                </a:solidFill>
              </a:rPr>
              <a:t>Business</a:t>
            </a:r>
            <a:r>
              <a:rPr sz="2200" spc="-50" dirty="0">
                <a:solidFill>
                  <a:srgbClr val="C3F975"/>
                </a:solidFill>
              </a:rPr>
              <a:t> </a:t>
            </a:r>
            <a:r>
              <a:rPr sz="2200" spc="-10" dirty="0">
                <a:solidFill>
                  <a:srgbClr val="C3F975"/>
                </a:solidFill>
              </a:rPr>
              <a:t>School</a:t>
            </a:r>
            <a:endParaRPr sz="2200"/>
          </a:p>
          <a:p>
            <a:pPr marL="12700">
              <a:lnSpc>
                <a:spcPts val="2510"/>
              </a:lnSpc>
            </a:pPr>
            <a:r>
              <a:rPr sz="2200" b="0" dirty="0">
                <a:solidFill>
                  <a:srgbClr val="FFFFFF"/>
                </a:solidFill>
                <a:latin typeface="Calibri"/>
                <a:cs typeface="Calibri"/>
              </a:rPr>
              <a:t>NOSSOS</a:t>
            </a:r>
            <a:r>
              <a:rPr sz="2200" b="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FFFFFF"/>
                </a:solidFill>
                <a:latin typeface="Calibri"/>
                <a:cs typeface="Calibri"/>
              </a:rPr>
              <a:t>DIFERENCIAIS</a:t>
            </a:r>
            <a:r>
              <a:rPr sz="2200" b="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2200" b="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FFFFFF"/>
                </a:solidFill>
                <a:latin typeface="Calibri"/>
                <a:cs typeface="Calibri"/>
              </a:rPr>
              <a:t>QUEM</a:t>
            </a:r>
            <a:r>
              <a:rPr sz="2200" b="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FFFFFF"/>
                </a:solidFill>
                <a:latin typeface="Calibri"/>
                <a:cs typeface="Calibri"/>
              </a:rPr>
              <a:t>SOMOS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846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98704" y="761"/>
            <a:ext cx="11878310" cy="6506845"/>
            <a:chOff x="298704" y="761"/>
            <a:chExt cx="11878310" cy="65068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848" y="6044183"/>
              <a:ext cx="1723644" cy="4526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8610" y="761"/>
              <a:ext cx="11868150" cy="6497320"/>
            </a:xfrm>
            <a:custGeom>
              <a:avLst/>
              <a:gdLst/>
              <a:ahLst/>
              <a:cxnLst/>
              <a:rect l="l" t="t" r="r" b="b"/>
              <a:pathLst>
                <a:path w="11868150" h="6497320">
                  <a:moveTo>
                    <a:pt x="0" y="6496812"/>
                  </a:moveTo>
                  <a:lnTo>
                    <a:pt x="11868150" y="6496812"/>
                  </a:lnTo>
                </a:path>
                <a:path w="11868150" h="6497320">
                  <a:moveTo>
                    <a:pt x="0" y="0"/>
                  </a:moveTo>
                  <a:lnTo>
                    <a:pt x="0" y="6496189"/>
                  </a:lnTo>
                </a:path>
              </a:pathLst>
            </a:custGeom>
            <a:ln w="19812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427" y="2004060"/>
              <a:ext cx="3922776" cy="222656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331077" y="4838191"/>
            <a:ext cx="7842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AMBA</a:t>
            </a:r>
            <a:r>
              <a:rPr sz="700" spc="-15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-</a:t>
            </a:r>
            <a:r>
              <a:rPr sz="700" spc="-2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i="1" spc="-10" dirty="0">
                <a:solidFill>
                  <a:srgbClr val="434343"/>
                </a:solidFill>
                <a:latin typeface="Segoe UI"/>
                <a:cs typeface="Segoe UI"/>
              </a:rPr>
              <a:t>Association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187430" y="2994786"/>
            <a:ext cx="6178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Nacional</a:t>
            </a:r>
            <a:r>
              <a:rPr sz="700" spc="-15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spc="-20" dirty="0">
                <a:solidFill>
                  <a:srgbClr val="434343"/>
                </a:solidFill>
                <a:latin typeface="Segoe UI"/>
                <a:cs typeface="Segoe UI"/>
              </a:rPr>
              <a:t>MBAs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1004" y="4399863"/>
            <a:ext cx="9906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Docentes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704" y="4911090"/>
            <a:ext cx="427164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Sólida</a:t>
            </a:r>
            <a:r>
              <a:rPr sz="1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formação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acadêmica: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doutores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mestres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sua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maioria;</a:t>
            </a:r>
            <a:endParaRPr sz="1200">
              <a:latin typeface="Calibri"/>
              <a:cs typeface="Calibri"/>
            </a:endParaRPr>
          </a:p>
          <a:p>
            <a:pPr marL="286385" indent="-286385">
              <a:lnSpc>
                <a:spcPct val="100000"/>
              </a:lnSpc>
              <a:buClr>
                <a:srgbClr val="434343"/>
              </a:buClr>
              <a:buSzPct val="108333"/>
              <a:buFont typeface="Segoe UI Symbol"/>
              <a:buChar char="⮚"/>
              <a:tabLst>
                <a:tab pos="286385" algn="l"/>
              </a:tabLst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Larga</a:t>
            </a:r>
            <a:r>
              <a:rPr sz="1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experiência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mercado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na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resolução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cases;</a:t>
            </a:r>
            <a:endParaRPr sz="1200">
              <a:latin typeface="Calibri"/>
              <a:cs typeface="Calibri"/>
            </a:endParaRPr>
          </a:p>
          <a:p>
            <a:pPr marL="286385" indent="-286385">
              <a:lnSpc>
                <a:spcPct val="100000"/>
              </a:lnSpc>
              <a:buClr>
                <a:srgbClr val="434343"/>
              </a:buClr>
              <a:buSzPct val="108333"/>
              <a:buFont typeface="Segoe UI Symbol"/>
              <a:buChar char="⮚"/>
              <a:tabLst>
                <a:tab pos="286385" algn="l"/>
              </a:tabLst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Participação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2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congressos</a:t>
            </a:r>
            <a:r>
              <a:rPr sz="12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nacionais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 e</a:t>
            </a:r>
            <a:r>
              <a:rPr sz="12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internacionais;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3704" y="5447487"/>
            <a:ext cx="1422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55" dirty="0">
                <a:solidFill>
                  <a:srgbClr val="434343"/>
                </a:solidFill>
                <a:latin typeface="Segoe UI Symbol"/>
                <a:cs typeface="Segoe UI Symbol"/>
              </a:rPr>
              <a:t>⮚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4890" y="3979926"/>
            <a:ext cx="180276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Profª</a:t>
            </a:r>
            <a:r>
              <a:rPr sz="11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Drª</a:t>
            </a:r>
            <a:r>
              <a:rPr sz="11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Alessandra</a:t>
            </a:r>
            <a:r>
              <a:rPr sz="11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Segoe UI"/>
                <a:cs typeface="Segoe UI"/>
              </a:rPr>
              <a:t>Montini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1702" y="4325279"/>
            <a:ext cx="3530600" cy="11626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R="2517140" algn="ctr">
              <a:lnSpc>
                <a:spcPct val="100000"/>
              </a:lnSpc>
              <a:spcBef>
                <a:spcPts val="69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Estrutura</a:t>
            </a:r>
            <a:endParaRPr sz="2000">
              <a:latin typeface="Calibri"/>
              <a:cs typeface="Calibri"/>
            </a:endParaRPr>
          </a:p>
          <a:p>
            <a:pPr marR="2580640" algn="ctr">
              <a:lnSpc>
                <a:spcPct val="100000"/>
              </a:lnSpc>
              <a:spcBef>
                <a:spcPts val="204"/>
              </a:spcBef>
            </a:pPr>
            <a:r>
              <a:rPr sz="700" spc="-10" dirty="0">
                <a:solidFill>
                  <a:srgbClr val="434343"/>
                </a:solidFill>
                <a:latin typeface="Segoe UI"/>
                <a:cs typeface="Segoe UI"/>
              </a:rPr>
              <a:t>Credenciada</a:t>
            </a:r>
            <a:r>
              <a:rPr sz="700" spc="6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spc="-20" dirty="0">
                <a:solidFill>
                  <a:srgbClr val="434343"/>
                </a:solidFill>
                <a:latin typeface="Segoe UI"/>
                <a:cs typeface="Segoe UI"/>
              </a:rPr>
              <a:t>pela</a:t>
            </a:r>
            <a:endParaRPr sz="700">
              <a:latin typeface="Segoe UI"/>
              <a:cs typeface="Segoe UI"/>
            </a:endParaRPr>
          </a:p>
          <a:p>
            <a:pPr marL="311785" indent="-286385">
              <a:lnSpc>
                <a:spcPct val="100000"/>
              </a:lnSpc>
              <a:spcBef>
                <a:spcPts val="575"/>
              </a:spcBef>
              <a:buClr>
                <a:srgbClr val="434343"/>
              </a:buClr>
              <a:buSzPct val="108333"/>
              <a:buFont typeface="Segoe UI Symbol"/>
              <a:buChar char="⮚"/>
              <a:tabLst>
                <a:tab pos="311785" algn="l"/>
              </a:tabLst>
            </a:pPr>
            <a:r>
              <a:rPr sz="1200" spc="-59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050" i="1" spc="-7" baseline="19841" dirty="0">
                <a:solidFill>
                  <a:srgbClr val="434343"/>
                </a:solidFill>
                <a:latin typeface="Segoe UI"/>
                <a:cs typeface="Segoe UI"/>
              </a:rPr>
              <a:t>o</a:t>
            </a:r>
            <a:r>
              <a:rPr sz="1050" i="1" spc="-22" baseline="19841" dirty="0">
                <a:solidFill>
                  <a:srgbClr val="434343"/>
                </a:solidFill>
                <a:latin typeface="Segoe UI"/>
                <a:cs typeface="Segoe UI"/>
              </a:rPr>
              <a:t>f</a:t>
            </a:r>
            <a:r>
              <a:rPr sz="1200" spc="-415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1050" i="1" spc="-254" baseline="19841" dirty="0">
                <a:solidFill>
                  <a:srgbClr val="434343"/>
                </a:solidFill>
                <a:latin typeface="Segoe UI"/>
                <a:cs typeface="Segoe UI"/>
              </a:rPr>
              <a:t>M</a:t>
            </a:r>
            <a:r>
              <a:rPr sz="1200" spc="-465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1050" i="1" spc="-22" baseline="19841" dirty="0">
                <a:solidFill>
                  <a:srgbClr val="434343"/>
                </a:solidFill>
                <a:latin typeface="Segoe UI"/>
                <a:cs typeface="Segoe UI"/>
              </a:rPr>
              <a:t>B</a:t>
            </a:r>
            <a:r>
              <a:rPr sz="1050" i="1" spc="-585" baseline="19841" dirty="0">
                <a:solidFill>
                  <a:srgbClr val="434343"/>
                </a:solidFill>
                <a:latin typeface="Segoe UI"/>
                <a:cs typeface="Segoe UI"/>
              </a:rPr>
              <a:t>A</a:t>
            </a:r>
            <a:r>
              <a:rPr sz="1200" spc="-484" dirty="0">
                <a:solidFill>
                  <a:srgbClr val="FFFFFF"/>
                </a:solidFill>
                <a:latin typeface="Calibri"/>
                <a:cs typeface="Calibri"/>
              </a:rPr>
              <a:t>%</a:t>
            </a:r>
            <a:r>
              <a:rPr sz="1050" i="1" spc="-7" baseline="19841" dirty="0">
                <a:solidFill>
                  <a:srgbClr val="434343"/>
                </a:solidFill>
                <a:latin typeface="Segoe UI"/>
                <a:cs typeface="Segoe UI"/>
              </a:rPr>
              <a:t>s</a:t>
            </a:r>
            <a:r>
              <a:rPr sz="1050" i="1" spc="419" baseline="19841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das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aulas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realizadas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laboratórios;</a:t>
            </a:r>
            <a:endParaRPr sz="1200">
              <a:latin typeface="Calibri"/>
              <a:cs typeface="Calibri"/>
            </a:endParaRPr>
          </a:p>
          <a:p>
            <a:pPr marL="311785" indent="-286385">
              <a:lnSpc>
                <a:spcPct val="100000"/>
              </a:lnSpc>
              <a:buClr>
                <a:srgbClr val="434343"/>
              </a:buClr>
              <a:buSzPct val="108333"/>
              <a:buFont typeface="Segoe UI Symbol"/>
              <a:buChar char="⮚"/>
              <a:tabLst>
                <a:tab pos="311785" algn="l"/>
              </a:tabLst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Computadores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uso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individual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durante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aulas;</a:t>
            </a:r>
            <a:endParaRPr sz="1200">
              <a:latin typeface="Calibri"/>
              <a:cs typeface="Calibri"/>
            </a:endParaRPr>
          </a:p>
          <a:p>
            <a:pPr marL="311785" indent="-286385">
              <a:lnSpc>
                <a:spcPct val="100000"/>
              </a:lnSpc>
              <a:buClr>
                <a:srgbClr val="434343"/>
              </a:buClr>
              <a:buSzPct val="108333"/>
              <a:buFont typeface="Segoe UI Symbol"/>
              <a:buChar char="⮚"/>
              <a:tabLst>
                <a:tab pos="311785" algn="l"/>
              </a:tabLst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laboratórios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de alta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qualidade;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7102" y="5447487"/>
            <a:ext cx="1422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-55" dirty="0">
                <a:solidFill>
                  <a:srgbClr val="434343"/>
                </a:solidFill>
                <a:latin typeface="Segoe UI Symbol"/>
                <a:cs typeface="Segoe UI Symbol"/>
              </a:rPr>
              <a:t>⮚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33594" y="2118334"/>
            <a:ext cx="6816725" cy="904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73685">
              <a:lnSpc>
                <a:spcPct val="150200"/>
              </a:lnSpc>
              <a:spcBef>
                <a:spcPts val="9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LABDATA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é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um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dos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pioneiros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lançamento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dos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cursos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Brasil.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diretores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foram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professores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grandes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especialistas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mercado.</a:t>
            </a:r>
            <a:endParaRPr sz="1400">
              <a:latin typeface="Calibri"/>
              <a:cs typeface="Calibri"/>
            </a:endParaRPr>
          </a:p>
          <a:p>
            <a:pPr marL="5921375" marR="5080" indent="17780" algn="r">
              <a:lnSpc>
                <a:spcPct val="100000"/>
              </a:lnSpc>
              <a:spcBef>
                <a:spcPts val="200"/>
              </a:spcBef>
            </a:pP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Membro</a:t>
            </a:r>
            <a:r>
              <a:rPr sz="700" spc="-3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fundador</a:t>
            </a:r>
            <a:r>
              <a:rPr sz="700" spc="-1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spc="-25" dirty="0">
                <a:solidFill>
                  <a:srgbClr val="434343"/>
                </a:solidFill>
                <a:latin typeface="Segoe UI"/>
                <a:cs typeface="Segoe UI"/>
              </a:rPr>
              <a:t>da</a:t>
            </a:r>
            <a:r>
              <a:rPr sz="700" spc="50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ANAMBA</a:t>
            </a:r>
            <a:r>
              <a:rPr sz="700" spc="-15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dirty="0">
                <a:solidFill>
                  <a:srgbClr val="434343"/>
                </a:solidFill>
                <a:latin typeface="Segoe UI"/>
                <a:cs typeface="Segoe UI"/>
              </a:rPr>
              <a:t>-</a:t>
            </a:r>
            <a:r>
              <a:rPr sz="700" spc="-30" dirty="0">
                <a:solidFill>
                  <a:srgbClr val="434343"/>
                </a:solidFill>
                <a:latin typeface="Segoe UI"/>
                <a:cs typeface="Segoe UI"/>
              </a:rPr>
              <a:t> </a:t>
            </a:r>
            <a:r>
              <a:rPr sz="700" spc="-10" dirty="0">
                <a:solidFill>
                  <a:srgbClr val="434343"/>
                </a:solidFill>
                <a:latin typeface="Segoe UI"/>
                <a:cs typeface="Segoe UI"/>
              </a:rPr>
              <a:t>Associação</a:t>
            </a:r>
            <a:endParaRPr sz="7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33594" y="2865247"/>
            <a:ext cx="15589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+15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anos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atuação.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1212" y="1112646"/>
            <a:ext cx="1067117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Laboratório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Dados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LABDATA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é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Centro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Excelência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atua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áreas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ensino,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pesquisa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consultoria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análise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informação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utilizando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técnicas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Inteligência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08812" y="218948"/>
            <a:ext cx="45040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200" spc="-10" dirty="0">
                <a:solidFill>
                  <a:srgbClr val="C3F975"/>
                </a:solidFill>
              </a:rPr>
              <a:t>Labdata</a:t>
            </a:r>
            <a:endParaRPr sz="2200"/>
          </a:p>
          <a:p>
            <a:pPr marL="12700">
              <a:lnSpc>
                <a:spcPts val="2510"/>
              </a:lnSpc>
            </a:pPr>
            <a:r>
              <a:rPr sz="2200" b="0" dirty="0">
                <a:solidFill>
                  <a:srgbClr val="FFFFFF"/>
                </a:solidFill>
                <a:latin typeface="Calibri"/>
                <a:cs typeface="Calibri"/>
              </a:rPr>
              <a:t>NOSSOS</a:t>
            </a:r>
            <a:r>
              <a:rPr sz="2200" b="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FFFFFF"/>
                </a:solidFill>
                <a:latin typeface="Calibri"/>
                <a:cs typeface="Calibri"/>
              </a:rPr>
              <a:t>DIFERENCIAIS</a:t>
            </a:r>
            <a:r>
              <a:rPr sz="2200" b="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2200" b="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FFFFFF"/>
                </a:solidFill>
                <a:latin typeface="Calibri"/>
                <a:cs typeface="Calibri"/>
              </a:rPr>
              <a:t>QUEM</a:t>
            </a:r>
            <a:r>
              <a:rPr sz="2200" b="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FFFFFF"/>
                </a:solidFill>
                <a:latin typeface="Calibri"/>
                <a:cs typeface="Calibri"/>
              </a:rPr>
              <a:t>SOMOS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846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98704" y="761"/>
            <a:ext cx="11893550" cy="6506845"/>
            <a:chOff x="298704" y="761"/>
            <a:chExt cx="11893550" cy="65068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848" y="6044183"/>
              <a:ext cx="1723644" cy="4526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8610" y="761"/>
              <a:ext cx="11868150" cy="6497320"/>
            </a:xfrm>
            <a:custGeom>
              <a:avLst/>
              <a:gdLst/>
              <a:ahLst/>
              <a:cxnLst/>
              <a:rect l="l" t="t" r="r" b="b"/>
              <a:pathLst>
                <a:path w="11868150" h="6497320">
                  <a:moveTo>
                    <a:pt x="0" y="6496812"/>
                  </a:moveTo>
                  <a:lnTo>
                    <a:pt x="11868150" y="6496812"/>
                  </a:lnTo>
                </a:path>
                <a:path w="11868150" h="6497320">
                  <a:moveTo>
                    <a:pt x="0" y="0"/>
                  </a:moveTo>
                  <a:lnTo>
                    <a:pt x="0" y="6496189"/>
                  </a:lnTo>
                </a:path>
              </a:pathLst>
            </a:custGeom>
            <a:ln w="19812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6451" y="525780"/>
              <a:ext cx="4765548" cy="496519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71296" y="130809"/>
            <a:ext cx="4499610" cy="688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0"/>
              </a:lnSpc>
              <a:spcBef>
                <a:spcPts val="100"/>
              </a:spcBef>
            </a:pPr>
            <a:r>
              <a:rPr sz="2400" dirty="0">
                <a:solidFill>
                  <a:srgbClr val="C3F975"/>
                </a:solidFill>
              </a:rPr>
              <a:t>Corpo</a:t>
            </a:r>
            <a:r>
              <a:rPr sz="2400" spc="-40" dirty="0">
                <a:solidFill>
                  <a:srgbClr val="C3F975"/>
                </a:solidFill>
              </a:rPr>
              <a:t> </a:t>
            </a:r>
            <a:r>
              <a:rPr sz="2400" spc="-10" dirty="0">
                <a:solidFill>
                  <a:srgbClr val="C3F975"/>
                </a:solidFill>
              </a:rPr>
              <a:t>Diretivo</a:t>
            </a:r>
            <a:endParaRPr sz="2400"/>
          </a:p>
          <a:p>
            <a:pPr marL="12700">
              <a:lnSpc>
                <a:spcPts val="2490"/>
              </a:lnSpc>
            </a:pPr>
            <a:r>
              <a:rPr sz="2200" b="0" spc="-35" dirty="0">
                <a:solidFill>
                  <a:srgbClr val="FFFFFF"/>
                </a:solidFill>
                <a:latin typeface="Calibri"/>
                <a:cs typeface="Calibri"/>
              </a:rPr>
              <a:t>ATUAÇÃO </a:t>
            </a:r>
            <a:r>
              <a:rPr sz="2200" b="0" spc="-10" dirty="0">
                <a:solidFill>
                  <a:srgbClr val="FFFFFF"/>
                </a:solidFill>
                <a:latin typeface="Calibri"/>
                <a:cs typeface="Calibri"/>
              </a:rPr>
              <a:t>ACADÊMICA</a:t>
            </a:r>
            <a:r>
              <a:rPr sz="2200" b="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200" b="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FFFFFF"/>
                </a:solidFill>
                <a:latin typeface="Calibri"/>
                <a:cs typeface="Calibri"/>
              </a:rPr>
              <a:t>PROFISSIONAL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7918" y="1497584"/>
            <a:ext cx="6191885" cy="373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199390" algn="just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Diretora</a:t>
            </a:r>
            <a:r>
              <a:rPr sz="16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LABDATA-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FIA,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apaixonada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por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dados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pela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arte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lecionar. 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Tem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muito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orgulho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ter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criado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na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FIA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cinco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laboratórios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aulas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Inteligência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Artificial.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Possui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mais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anos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trajetória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nas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áreas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Mining,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Inteligência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Analytics.</a:t>
            </a:r>
            <a:endParaRPr sz="1600">
              <a:latin typeface="Calibri"/>
              <a:cs typeface="Calibri"/>
            </a:endParaRPr>
          </a:p>
          <a:p>
            <a:pPr marL="104139" marR="162560" algn="just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Cientista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dados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carreira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realizada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na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Universidade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São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Paulo.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Graduada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mestra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Estatística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Aplicada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pelo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IME-USP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doutora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pela FEA-USP.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136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muita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dedicação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chegou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cargo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professora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pesquisadora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na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FEA-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USP,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ganhou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mais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prêmios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excelência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acadêmica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pela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FEA-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USP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mais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prêmios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excelência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acadêmica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como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professora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dos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cursos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MBA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FIA.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Orienta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alunos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mestrado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doutorado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na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FEA- 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USP.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Parecerista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FAPESP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colunista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grandes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portais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tecnologia.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8288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846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98450" y="-9398"/>
            <a:ext cx="11888470" cy="6517640"/>
            <a:chOff x="298450" y="-9398"/>
            <a:chExt cx="11888470" cy="6517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848" y="6044184"/>
              <a:ext cx="1723644" cy="4526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8610" y="762"/>
              <a:ext cx="11868150" cy="6497320"/>
            </a:xfrm>
            <a:custGeom>
              <a:avLst/>
              <a:gdLst/>
              <a:ahLst/>
              <a:cxnLst/>
              <a:rect l="l" t="t" r="r" b="b"/>
              <a:pathLst>
                <a:path w="11868150" h="6497320">
                  <a:moveTo>
                    <a:pt x="0" y="6496812"/>
                  </a:moveTo>
                  <a:lnTo>
                    <a:pt x="11868150" y="6496812"/>
                  </a:lnTo>
                </a:path>
                <a:path w="11868150" h="6497320">
                  <a:moveTo>
                    <a:pt x="0" y="0"/>
                  </a:moveTo>
                  <a:lnTo>
                    <a:pt x="0" y="6496189"/>
                  </a:lnTo>
                </a:path>
              </a:pathLst>
            </a:custGeom>
            <a:ln w="19812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7734" y="397511"/>
            <a:ext cx="1196021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200" b="1" spc="-10" dirty="0" err="1">
                <a:solidFill>
                  <a:srgbClr val="C3F975"/>
                </a:solidFill>
                <a:latin typeface="Calibri"/>
                <a:cs typeface="Calibri"/>
              </a:rPr>
              <a:t>Conteúdo</a:t>
            </a:r>
            <a:r>
              <a:rPr sz="2200" b="1" spc="-25" dirty="0">
                <a:solidFill>
                  <a:srgbClr val="C3F975"/>
                </a:solidFill>
                <a:latin typeface="Calibri"/>
                <a:cs typeface="Calibri"/>
              </a:rPr>
              <a:t> </a:t>
            </a:r>
            <a:r>
              <a:rPr lang="pt-BR" sz="2200" b="1" spc="-25" dirty="0">
                <a:solidFill>
                  <a:srgbClr val="C3F975"/>
                </a:solidFill>
                <a:latin typeface="Calibri"/>
                <a:cs typeface="Calibri"/>
              </a:rPr>
              <a:t>     </a:t>
            </a:r>
            <a:r>
              <a:rPr sz="2200" b="1" dirty="0">
                <a:solidFill>
                  <a:srgbClr val="C3F975"/>
                </a:solidFill>
                <a:latin typeface="Calibri"/>
                <a:cs typeface="Calibri"/>
              </a:rPr>
              <a:t>d</a:t>
            </a:r>
            <a:r>
              <a:rPr lang="pt-BR" sz="2200" b="1" dirty="0">
                <a:solidFill>
                  <a:srgbClr val="C3F975"/>
                </a:solidFill>
                <a:latin typeface="Calibri"/>
                <a:cs typeface="Calibri"/>
              </a:rPr>
              <a:t>o projeto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9659" y="0"/>
            <a:ext cx="2194941" cy="2057400"/>
            <a:chOff x="388620" y="-18288"/>
            <a:chExt cx="2832735" cy="2613660"/>
          </a:xfrm>
        </p:grpSpPr>
        <p:sp>
          <p:nvSpPr>
            <p:cNvPr id="8" name="object 8"/>
            <p:cNvSpPr/>
            <p:nvPr/>
          </p:nvSpPr>
          <p:spPr>
            <a:xfrm>
              <a:off x="2587752" y="1210056"/>
              <a:ext cx="629285" cy="629285"/>
            </a:xfrm>
            <a:custGeom>
              <a:avLst/>
              <a:gdLst/>
              <a:ahLst/>
              <a:cxnLst/>
              <a:rect l="l" t="t" r="r" b="b"/>
              <a:pathLst>
                <a:path w="629285" h="629285">
                  <a:moveTo>
                    <a:pt x="314452" y="0"/>
                  </a:moveTo>
                  <a:lnTo>
                    <a:pt x="267970" y="3429"/>
                  </a:lnTo>
                  <a:lnTo>
                    <a:pt x="223647" y="13335"/>
                  </a:lnTo>
                  <a:lnTo>
                    <a:pt x="181864" y="29210"/>
                  </a:lnTo>
                  <a:lnTo>
                    <a:pt x="143256" y="50673"/>
                  </a:lnTo>
                  <a:lnTo>
                    <a:pt x="108077" y="77089"/>
                  </a:lnTo>
                  <a:lnTo>
                    <a:pt x="77089" y="108077"/>
                  </a:lnTo>
                  <a:lnTo>
                    <a:pt x="50673" y="143256"/>
                  </a:lnTo>
                  <a:lnTo>
                    <a:pt x="29210" y="181864"/>
                  </a:lnTo>
                  <a:lnTo>
                    <a:pt x="13335" y="223647"/>
                  </a:lnTo>
                  <a:lnTo>
                    <a:pt x="3429" y="267970"/>
                  </a:lnTo>
                  <a:lnTo>
                    <a:pt x="0" y="314452"/>
                  </a:lnTo>
                  <a:lnTo>
                    <a:pt x="3429" y="360934"/>
                  </a:lnTo>
                  <a:lnTo>
                    <a:pt x="13335" y="405257"/>
                  </a:lnTo>
                  <a:lnTo>
                    <a:pt x="29210" y="447040"/>
                  </a:lnTo>
                  <a:lnTo>
                    <a:pt x="50673" y="485648"/>
                  </a:lnTo>
                  <a:lnTo>
                    <a:pt x="77089" y="520827"/>
                  </a:lnTo>
                  <a:lnTo>
                    <a:pt x="108077" y="551815"/>
                  </a:lnTo>
                  <a:lnTo>
                    <a:pt x="143256" y="578231"/>
                  </a:lnTo>
                  <a:lnTo>
                    <a:pt x="181864" y="599694"/>
                  </a:lnTo>
                  <a:lnTo>
                    <a:pt x="223647" y="615569"/>
                  </a:lnTo>
                  <a:lnTo>
                    <a:pt x="267970" y="625475"/>
                  </a:lnTo>
                  <a:lnTo>
                    <a:pt x="314452" y="628904"/>
                  </a:lnTo>
                  <a:lnTo>
                    <a:pt x="360934" y="625475"/>
                  </a:lnTo>
                  <a:lnTo>
                    <a:pt x="405256" y="615569"/>
                  </a:lnTo>
                  <a:lnTo>
                    <a:pt x="447040" y="599694"/>
                  </a:lnTo>
                  <a:lnTo>
                    <a:pt x="485648" y="578231"/>
                  </a:lnTo>
                  <a:lnTo>
                    <a:pt x="520827" y="551815"/>
                  </a:lnTo>
                  <a:lnTo>
                    <a:pt x="551815" y="520827"/>
                  </a:lnTo>
                  <a:lnTo>
                    <a:pt x="578231" y="485648"/>
                  </a:lnTo>
                  <a:lnTo>
                    <a:pt x="599694" y="447040"/>
                  </a:lnTo>
                  <a:lnTo>
                    <a:pt x="615569" y="405257"/>
                  </a:lnTo>
                  <a:lnTo>
                    <a:pt x="625475" y="360934"/>
                  </a:lnTo>
                  <a:lnTo>
                    <a:pt x="628904" y="314452"/>
                  </a:lnTo>
                  <a:lnTo>
                    <a:pt x="625475" y="267970"/>
                  </a:lnTo>
                  <a:lnTo>
                    <a:pt x="615569" y="223647"/>
                  </a:lnTo>
                  <a:lnTo>
                    <a:pt x="599694" y="181864"/>
                  </a:lnTo>
                  <a:lnTo>
                    <a:pt x="578231" y="143256"/>
                  </a:lnTo>
                  <a:lnTo>
                    <a:pt x="551815" y="108077"/>
                  </a:lnTo>
                  <a:lnTo>
                    <a:pt x="520827" y="77089"/>
                  </a:lnTo>
                  <a:lnTo>
                    <a:pt x="485648" y="50673"/>
                  </a:lnTo>
                  <a:lnTo>
                    <a:pt x="447040" y="29210"/>
                  </a:lnTo>
                  <a:lnTo>
                    <a:pt x="405256" y="13335"/>
                  </a:lnTo>
                  <a:lnTo>
                    <a:pt x="360934" y="3429"/>
                  </a:lnTo>
                  <a:lnTo>
                    <a:pt x="314452" y="0"/>
                  </a:lnTo>
                  <a:close/>
                </a:path>
              </a:pathLst>
            </a:custGeom>
            <a:solidFill>
              <a:srgbClr val="C3F97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87752" y="1210056"/>
              <a:ext cx="629285" cy="629285"/>
            </a:xfrm>
            <a:custGeom>
              <a:avLst/>
              <a:gdLst/>
              <a:ahLst/>
              <a:cxnLst/>
              <a:rect l="l" t="t" r="r" b="b"/>
              <a:pathLst>
                <a:path w="629285" h="629285">
                  <a:moveTo>
                    <a:pt x="314452" y="0"/>
                  </a:moveTo>
                  <a:lnTo>
                    <a:pt x="267970" y="3429"/>
                  </a:lnTo>
                  <a:lnTo>
                    <a:pt x="223647" y="13335"/>
                  </a:lnTo>
                  <a:lnTo>
                    <a:pt x="181864" y="29210"/>
                  </a:lnTo>
                  <a:lnTo>
                    <a:pt x="143256" y="50673"/>
                  </a:lnTo>
                  <a:lnTo>
                    <a:pt x="108077" y="77089"/>
                  </a:lnTo>
                  <a:lnTo>
                    <a:pt x="77089" y="108077"/>
                  </a:lnTo>
                  <a:lnTo>
                    <a:pt x="50673" y="143256"/>
                  </a:lnTo>
                  <a:lnTo>
                    <a:pt x="29210" y="181864"/>
                  </a:lnTo>
                  <a:lnTo>
                    <a:pt x="13335" y="223647"/>
                  </a:lnTo>
                  <a:lnTo>
                    <a:pt x="3429" y="267970"/>
                  </a:lnTo>
                  <a:lnTo>
                    <a:pt x="0" y="314452"/>
                  </a:lnTo>
                  <a:lnTo>
                    <a:pt x="3429" y="360934"/>
                  </a:lnTo>
                  <a:lnTo>
                    <a:pt x="13335" y="405257"/>
                  </a:lnTo>
                  <a:lnTo>
                    <a:pt x="29210" y="447040"/>
                  </a:lnTo>
                  <a:lnTo>
                    <a:pt x="50673" y="485648"/>
                  </a:lnTo>
                  <a:lnTo>
                    <a:pt x="77089" y="520827"/>
                  </a:lnTo>
                  <a:lnTo>
                    <a:pt x="108077" y="551815"/>
                  </a:lnTo>
                  <a:lnTo>
                    <a:pt x="143256" y="578231"/>
                  </a:lnTo>
                  <a:lnTo>
                    <a:pt x="181864" y="599694"/>
                  </a:lnTo>
                  <a:lnTo>
                    <a:pt x="223647" y="615569"/>
                  </a:lnTo>
                  <a:lnTo>
                    <a:pt x="267970" y="625475"/>
                  </a:lnTo>
                  <a:lnTo>
                    <a:pt x="314452" y="628904"/>
                  </a:lnTo>
                  <a:lnTo>
                    <a:pt x="360934" y="625475"/>
                  </a:lnTo>
                  <a:lnTo>
                    <a:pt x="405256" y="615569"/>
                  </a:lnTo>
                  <a:lnTo>
                    <a:pt x="447040" y="599694"/>
                  </a:lnTo>
                  <a:lnTo>
                    <a:pt x="485648" y="578231"/>
                  </a:lnTo>
                  <a:lnTo>
                    <a:pt x="520827" y="551815"/>
                  </a:lnTo>
                  <a:lnTo>
                    <a:pt x="551815" y="520827"/>
                  </a:lnTo>
                  <a:lnTo>
                    <a:pt x="578231" y="485648"/>
                  </a:lnTo>
                  <a:lnTo>
                    <a:pt x="599694" y="447040"/>
                  </a:lnTo>
                  <a:lnTo>
                    <a:pt x="615569" y="405257"/>
                  </a:lnTo>
                  <a:lnTo>
                    <a:pt x="625475" y="360934"/>
                  </a:lnTo>
                  <a:lnTo>
                    <a:pt x="628904" y="314452"/>
                  </a:lnTo>
                  <a:lnTo>
                    <a:pt x="625475" y="267970"/>
                  </a:lnTo>
                  <a:lnTo>
                    <a:pt x="615569" y="223647"/>
                  </a:lnTo>
                  <a:lnTo>
                    <a:pt x="599694" y="181864"/>
                  </a:lnTo>
                  <a:lnTo>
                    <a:pt x="578231" y="143256"/>
                  </a:lnTo>
                  <a:lnTo>
                    <a:pt x="551815" y="108077"/>
                  </a:lnTo>
                  <a:lnTo>
                    <a:pt x="520827" y="77089"/>
                  </a:lnTo>
                  <a:lnTo>
                    <a:pt x="485648" y="50673"/>
                  </a:lnTo>
                  <a:lnTo>
                    <a:pt x="447040" y="29210"/>
                  </a:lnTo>
                  <a:lnTo>
                    <a:pt x="405256" y="13335"/>
                  </a:lnTo>
                  <a:lnTo>
                    <a:pt x="360934" y="3429"/>
                  </a:lnTo>
                  <a:lnTo>
                    <a:pt x="314452" y="0"/>
                  </a:lnTo>
                  <a:close/>
                </a:path>
              </a:pathLst>
            </a:custGeom>
            <a:ln w="9144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0257" y="761"/>
              <a:ext cx="2216150" cy="2215515"/>
            </a:xfrm>
            <a:custGeom>
              <a:avLst/>
              <a:gdLst/>
              <a:ahLst/>
              <a:cxnLst/>
              <a:rect l="l" t="t" r="r" b="b"/>
              <a:pathLst>
                <a:path w="2216150" h="2215515">
                  <a:moveTo>
                    <a:pt x="0" y="1107694"/>
                  </a:moveTo>
                  <a:lnTo>
                    <a:pt x="1206" y="1055624"/>
                  </a:lnTo>
                  <a:lnTo>
                    <a:pt x="4787" y="1004062"/>
                  </a:lnTo>
                  <a:lnTo>
                    <a:pt x="10693" y="953262"/>
                  </a:lnTo>
                  <a:lnTo>
                    <a:pt x="18872" y="903097"/>
                  </a:lnTo>
                  <a:lnTo>
                    <a:pt x="29260" y="853694"/>
                  </a:lnTo>
                  <a:lnTo>
                    <a:pt x="41821" y="805180"/>
                  </a:lnTo>
                  <a:lnTo>
                    <a:pt x="56476" y="757555"/>
                  </a:lnTo>
                  <a:lnTo>
                    <a:pt x="73202" y="710946"/>
                  </a:lnTo>
                  <a:lnTo>
                    <a:pt x="91935" y="665226"/>
                  </a:lnTo>
                  <a:lnTo>
                    <a:pt x="112610" y="620649"/>
                  </a:lnTo>
                  <a:lnTo>
                    <a:pt x="135178" y="577088"/>
                  </a:lnTo>
                  <a:lnTo>
                    <a:pt x="159600" y="534670"/>
                  </a:lnTo>
                  <a:lnTo>
                    <a:pt x="185813" y="493522"/>
                  </a:lnTo>
                  <a:lnTo>
                    <a:pt x="213766" y="453517"/>
                  </a:lnTo>
                  <a:lnTo>
                    <a:pt x="243395" y="414909"/>
                  </a:lnTo>
                  <a:lnTo>
                    <a:pt x="274662" y="377698"/>
                  </a:lnTo>
                  <a:lnTo>
                    <a:pt x="307505" y="341884"/>
                  </a:lnTo>
                  <a:lnTo>
                    <a:pt x="341871" y="307467"/>
                  </a:lnTo>
                  <a:lnTo>
                    <a:pt x="377710" y="274574"/>
                  </a:lnTo>
                  <a:lnTo>
                    <a:pt x="414959" y="243332"/>
                  </a:lnTo>
                  <a:lnTo>
                    <a:pt x="453593" y="213741"/>
                  </a:lnTo>
                  <a:lnTo>
                    <a:pt x="493522" y="185801"/>
                  </a:lnTo>
                  <a:lnTo>
                    <a:pt x="534720" y="159639"/>
                  </a:lnTo>
                  <a:lnTo>
                    <a:pt x="577113" y="135128"/>
                  </a:lnTo>
                  <a:lnTo>
                    <a:pt x="620674" y="112649"/>
                  </a:lnTo>
                  <a:lnTo>
                    <a:pt x="665327" y="91948"/>
                  </a:lnTo>
                  <a:lnTo>
                    <a:pt x="711022" y="73152"/>
                  </a:lnTo>
                  <a:lnTo>
                    <a:pt x="757682" y="56515"/>
                  </a:lnTo>
                  <a:lnTo>
                    <a:pt x="805307" y="41783"/>
                  </a:lnTo>
                  <a:lnTo>
                    <a:pt x="853820" y="29210"/>
                  </a:lnTo>
                  <a:lnTo>
                    <a:pt x="903224" y="18923"/>
                  </a:lnTo>
                  <a:lnTo>
                    <a:pt x="953388" y="10668"/>
                  </a:lnTo>
                  <a:lnTo>
                    <a:pt x="1004188" y="4826"/>
                  </a:lnTo>
                  <a:lnTo>
                    <a:pt x="1055751" y="1143"/>
                  </a:lnTo>
                  <a:lnTo>
                    <a:pt x="1107821" y="0"/>
                  </a:lnTo>
                  <a:lnTo>
                    <a:pt x="1160018" y="1143"/>
                  </a:lnTo>
                  <a:lnTo>
                    <a:pt x="1211580" y="4826"/>
                  </a:lnTo>
                  <a:lnTo>
                    <a:pt x="1262380" y="10668"/>
                  </a:lnTo>
                  <a:lnTo>
                    <a:pt x="1312545" y="18923"/>
                  </a:lnTo>
                  <a:lnTo>
                    <a:pt x="1361948" y="29210"/>
                  </a:lnTo>
                  <a:lnTo>
                    <a:pt x="1410462" y="41783"/>
                  </a:lnTo>
                  <a:lnTo>
                    <a:pt x="1458087" y="56515"/>
                  </a:lnTo>
                  <a:lnTo>
                    <a:pt x="1504696" y="73152"/>
                  </a:lnTo>
                  <a:lnTo>
                    <a:pt x="1550416" y="91948"/>
                  </a:lnTo>
                  <a:lnTo>
                    <a:pt x="1595120" y="112649"/>
                  </a:lnTo>
                  <a:lnTo>
                    <a:pt x="1638681" y="135128"/>
                  </a:lnTo>
                  <a:lnTo>
                    <a:pt x="1681099" y="159639"/>
                  </a:lnTo>
                  <a:lnTo>
                    <a:pt x="1722247" y="185801"/>
                  </a:lnTo>
                  <a:lnTo>
                    <a:pt x="1762125" y="213741"/>
                  </a:lnTo>
                  <a:lnTo>
                    <a:pt x="1800733" y="243332"/>
                  </a:lnTo>
                  <a:lnTo>
                    <a:pt x="1838071" y="274574"/>
                  </a:lnTo>
                  <a:lnTo>
                    <a:pt x="1873885" y="307467"/>
                  </a:lnTo>
                  <a:lnTo>
                    <a:pt x="1908302" y="341884"/>
                  </a:lnTo>
                  <a:lnTo>
                    <a:pt x="1941068" y="377698"/>
                  </a:lnTo>
                  <a:lnTo>
                    <a:pt x="1972310" y="414909"/>
                  </a:lnTo>
                  <a:lnTo>
                    <a:pt x="2002028" y="453517"/>
                  </a:lnTo>
                  <a:lnTo>
                    <a:pt x="2029968" y="493522"/>
                  </a:lnTo>
                  <a:lnTo>
                    <a:pt x="2056130" y="534670"/>
                  </a:lnTo>
                  <a:lnTo>
                    <a:pt x="2080514" y="577088"/>
                  </a:lnTo>
                  <a:lnTo>
                    <a:pt x="2103120" y="620649"/>
                  </a:lnTo>
                  <a:lnTo>
                    <a:pt x="2123821" y="665226"/>
                  </a:lnTo>
                  <a:lnTo>
                    <a:pt x="2142617" y="710946"/>
                  </a:lnTo>
                  <a:lnTo>
                    <a:pt x="2159254" y="757555"/>
                  </a:lnTo>
                  <a:lnTo>
                    <a:pt x="2173986" y="805180"/>
                  </a:lnTo>
                  <a:lnTo>
                    <a:pt x="2186559" y="853694"/>
                  </a:lnTo>
                  <a:lnTo>
                    <a:pt x="2196846" y="903097"/>
                  </a:lnTo>
                  <a:lnTo>
                    <a:pt x="2205101" y="953262"/>
                  </a:lnTo>
                  <a:lnTo>
                    <a:pt x="2210943" y="1004062"/>
                  </a:lnTo>
                  <a:lnTo>
                    <a:pt x="2214499" y="1055624"/>
                  </a:lnTo>
                  <a:lnTo>
                    <a:pt x="2215769" y="1107694"/>
                  </a:lnTo>
                  <a:lnTo>
                    <a:pt x="2214499" y="1159891"/>
                  </a:lnTo>
                  <a:lnTo>
                    <a:pt x="2210943" y="1211453"/>
                  </a:lnTo>
                  <a:lnTo>
                    <a:pt x="2205101" y="1262253"/>
                  </a:lnTo>
                  <a:lnTo>
                    <a:pt x="2196846" y="1312418"/>
                  </a:lnTo>
                  <a:lnTo>
                    <a:pt x="2186559" y="1361694"/>
                  </a:lnTo>
                  <a:lnTo>
                    <a:pt x="2173986" y="1410208"/>
                  </a:lnTo>
                  <a:lnTo>
                    <a:pt x="2159254" y="1457833"/>
                  </a:lnTo>
                  <a:lnTo>
                    <a:pt x="2142617" y="1504569"/>
                  </a:lnTo>
                  <a:lnTo>
                    <a:pt x="2123821" y="1550289"/>
                  </a:lnTo>
                  <a:lnTo>
                    <a:pt x="2103120" y="1594866"/>
                  </a:lnTo>
                  <a:lnTo>
                    <a:pt x="2080514" y="1638427"/>
                  </a:lnTo>
                  <a:lnTo>
                    <a:pt x="2056130" y="1680845"/>
                  </a:lnTo>
                  <a:lnTo>
                    <a:pt x="2029968" y="1721993"/>
                  </a:lnTo>
                  <a:lnTo>
                    <a:pt x="2002028" y="1761998"/>
                  </a:lnTo>
                  <a:lnTo>
                    <a:pt x="1972310" y="1800606"/>
                  </a:lnTo>
                  <a:lnTo>
                    <a:pt x="1941068" y="1837817"/>
                  </a:lnTo>
                  <a:lnTo>
                    <a:pt x="1908302" y="1873631"/>
                  </a:lnTo>
                  <a:lnTo>
                    <a:pt x="1873885" y="1908048"/>
                  </a:lnTo>
                  <a:lnTo>
                    <a:pt x="1838071" y="1940814"/>
                  </a:lnTo>
                  <a:lnTo>
                    <a:pt x="1800733" y="1972183"/>
                  </a:lnTo>
                  <a:lnTo>
                    <a:pt x="1762125" y="2001774"/>
                  </a:lnTo>
                  <a:lnTo>
                    <a:pt x="1722247" y="2029714"/>
                  </a:lnTo>
                  <a:lnTo>
                    <a:pt x="1681099" y="2055876"/>
                  </a:lnTo>
                  <a:lnTo>
                    <a:pt x="1638681" y="2080387"/>
                  </a:lnTo>
                  <a:lnTo>
                    <a:pt x="1595120" y="2102866"/>
                  </a:lnTo>
                  <a:lnTo>
                    <a:pt x="1550416" y="2123567"/>
                  </a:lnTo>
                  <a:lnTo>
                    <a:pt x="1504696" y="2142236"/>
                  </a:lnTo>
                  <a:lnTo>
                    <a:pt x="1458087" y="2159000"/>
                  </a:lnTo>
                  <a:lnTo>
                    <a:pt x="1410462" y="2173732"/>
                  </a:lnTo>
                  <a:lnTo>
                    <a:pt x="1361948" y="2186178"/>
                  </a:lnTo>
                  <a:lnTo>
                    <a:pt x="1312545" y="2196592"/>
                  </a:lnTo>
                  <a:lnTo>
                    <a:pt x="1262380" y="2204847"/>
                  </a:lnTo>
                  <a:lnTo>
                    <a:pt x="1211580" y="2210689"/>
                  </a:lnTo>
                  <a:lnTo>
                    <a:pt x="1160018" y="2214245"/>
                  </a:lnTo>
                  <a:lnTo>
                    <a:pt x="1107821" y="2215515"/>
                  </a:lnTo>
                  <a:lnTo>
                    <a:pt x="1055751" y="2214245"/>
                  </a:lnTo>
                  <a:lnTo>
                    <a:pt x="1004188" y="2210689"/>
                  </a:lnTo>
                  <a:lnTo>
                    <a:pt x="953388" y="2204847"/>
                  </a:lnTo>
                  <a:lnTo>
                    <a:pt x="903224" y="2196592"/>
                  </a:lnTo>
                  <a:lnTo>
                    <a:pt x="853820" y="2186178"/>
                  </a:lnTo>
                  <a:lnTo>
                    <a:pt x="805307" y="2173732"/>
                  </a:lnTo>
                  <a:lnTo>
                    <a:pt x="757682" y="2159000"/>
                  </a:lnTo>
                  <a:lnTo>
                    <a:pt x="711022" y="2142236"/>
                  </a:lnTo>
                  <a:lnTo>
                    <a:pt x="665327" y="2123567"/>
                  </a:lnTo>
                  <a:lnTo>
                    <a:pt x="620674" y="2102866"/>
                  </a:lnTo>
                  <a:lnTo>
                    <a:pt x="577113" y="2080387"/>
                  </a:lnTo>
                  <a:lnTo>
                    <a:pt x="534720" y="2055876"/>
                  </a:lnTo>
                  <a:lnTo>
                    <a:pt x="493522" y="2029714"/>
                  </a:lnTo>
                  <a:lnTo>
                    <a:pt x="453593" y="2001774"/>
                  </a:lnTo>
                  <a:lnTo>
                    <a:pt x="414959" y="1972183"/>
                  </a:lnTo>
                  <a:lnTo>
                    <a:pt x="377710" y="1940814"/>
                  </a:lnTo>
                  <a:lnTo>
                    <a:pt x="341871" y="1908048"/>
                  </a:lnTo>
                  <a:lnTo>
                    <a:pt x="307505" y="1873631"/>
                  </a:lnTo>
                  <a:lnTo>
                    <a:pt x="274662" y="1837817"/>
                  </a:lnTo>
                  <a:lnTo>
                    <a:pt x="243395" y="1800606"/>
                  </a:lnTo>
                  <a:lnTo>
                    <a:pt x="213766" y="1761998"/>
                  </a:lnTo>
                  <a:lnTo>
                    <a:pt x="185813" y="1721993"/>
                  </a:lnTo>
                  <a:lnTo>
                    <a:pt x="159600" y="1680845"/>
                  </a:lnTo>
                  <a:lnTo>
                    <a:pt x="135178" y="1638427"/>
                  </a:lnTo>
                  <a:lnTo>
                    <a:pt x="112610" y="1594866"/>
                  </a:lnTo>
                  <a:lnTo>
                    <a:pt x="91935" y="1550289"/>
                  </a:lnTo>
                  <a:lnTo>
                    <a:pt x="73202" y="1504569"/>
                  </a:lnTo>
                  <a:lnTo>
                    <a:pt x="56476" y="1457833"/>
                  </a:lnTo>
                  <a:lnTo>
                    <a:pt x="41821" y="1410208"/>
                  </a:lnTo>
                  <a:lnTo>
                    <a:pt x="29260" y="1361694"/>
                  </a:lnTo>
                  <a:lnTo>
                    <a:pt x="18872" y="1312418"/>
                  </a:lnTo>
                  <a:lnTo>
                    <a:pt x="10693" y="1262253"/>
                  </a:lnTo>
                  <a:lnTo>
                    <a:pt x="4787" y="1211453"/>
                  </a:lnTo>
                  <a:lnTo>
                    <a:pt x="1206" y="1159891"/>
                  </a:lnTo>
                  <a:lnTo>
                    <a:pt x="0" y="1107694"/>
                  </a:lnTo>
                  <a:close/>
                </a:path>
              </a:pathLst>
            </a:custGeom>
            <a:ln w="38100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7136" y="1961388"/>
              <a:ext cx="630555" cy="629285"/>
            </a:xfrm>
            <a:custGeom>
              <a:avLst/>
              <a:gdLst/>
              <a:ahLst/>
              <a:cxnLst/>
              <a:rect l="l" t="t" r="r" b="b"/>
              <a:pathLst>
                <a:path w="630555" h="629285">
                  <a:moveTo>
                    <a:pt x="315214" y="0"/>
                  </a:moveTo>
                  <a:lnTo>
                    <a:pt x="268617" y="3428"/>
                  </a:lnTo>
                  <a:lnTo>
                    <a:pt x="224154" y="13335"/>
                  </a:lnTo>
                  <a:lnTo>
                    <a:pt x="182308" y="29210"/>
                  </a:lnTo>
                  <a:lnTo>
                    <a:pt x="143548" y="50673"/>
                  </a:lnTo>
                  <a:lnTo>
                    <a:pt x="108381" y="77088"/>
                  </a:lnTo>
                  <a:lnTo>
                    <a:pt x="77292" y="108076"/>
                  </a:lnTo>
                  <a:lnTo>
                    <a:pt x="50774" y="143256"/>
                  </a:lnTo>
                  <a:lnTo>
                    <a:pt x="29286" y="181863"/>
                  </a:lnTo>
                  <a:lnTo>
                    <a:pt x="13334" y="223647"/>
                  </a:lnTo>
                  <a:lnTo>
                    <a:pt x="3416" y="267970"/>
                  </a:lnTo>
                  <a:lnTo>
                    <a:pt x="0" y="314451"/>
                  </a:lnTo>
                  <a:lnTo>
                    <a:pt x="3416" y="360934"/>
                  </a:lnTo>
                  <a:lnTo>
                    <a:pt x="13334" y="405257"/>
                  </a:lnTo>
                  <a:lnTo>
                    <a:pt x="29286" y="447039"/>
                  </a:lnTo>
                  <a:lnTo>
                    <a:pt x="50774" y="485648"/>
                  </a:lnTo>
                  <a:lnTo>
                    <a:pt x="77292" y="520826"/>
                  </a:lnTo>
                  <a:lnTo>
                    <a:pt x="108381" y="551814"/>
                  </a:lnTo>
                  <a:lnTo>
                    <a:pt x="143548" y="578231"/>
                  </a:lnTo>
                  <a:lnTo>
                    <a:pt x="182308" y="599694"/>
                  </a:lnTo>
                  <a:lnTo>
                    <a:pt x="224154" y="615569"/>
                  </a:lnTo>
                  <a:lnTo>
                    <a:pt x="268617" y="625475"/>
                  </a:lnTo>
                  <a:lnTo>
                    <a:pt x="315214" y="628903"/>
                  </a:lnTo>
                  <a:lnTo>
                    <a:pt x="361810" y="625475"/>
                  </a:lnTo>
                  <a:lnTo>
                    <a:pt x="406273" y="615569"/>
                  </a:lnTo>
                  <a:lnTo>
                    <a:pt x="448119" y="599694"/>
                  </a:lnTo>
                  <a:lnTo>
                    <a:pt x="486879" y="578231"/>
                  </a:lnTo>
                  <a:lnTo>
                    <a:pt x="522033" y="551814"/>
                  </a:lnTo>
                  <a:lnTo>
                    <a:pt x="553135" y="520826"/>
                  </a:lnTo>
                  <a:lnTo>
                    <a:pt x="579627" y="485648"/>
                  </a:lnTo>
                  <a:lnTo>
                    <a:pt x="601091" y="447039"/>
                  </a:lnTo>
                  <a:lnTo>
                    <a:pt x="617093" y="405257"/>
                  </a:lnTo>
                  <a:lnTo>
                    <a:pt x="626999" y="360934"/>
                  </a:lnTo>
                  <a:lnTo>
                    <a:pt x="630427" y="314451"/>
                  </a:lnTo>
                  <a:lnTo>
                    <a:pt x="626999" y="267970"/>
                  </a:lnTo>
                  <a:lnTo>
                    <a:pt x="617093" y="223647"/>
                  </a:lnTo>
                  <a:lnTo>
                    <a:pt x="601091" y="181863"/>
                  </a:lnTo>
                  <a:lnTo>
                    <a:pt x="579627" y="143256"/>
                  </a:lnTo>
                  <a:lnTo>
                    <a:pt x="553135" y="108076"/>
                  </a:lnTo>
                  <a:lnTo>
                    <a:pt x="522033" y="77088"/>
                  </a:lnTo>
                  <a:lnTo>
                    <a:pt x="486879" y="50673"/>
                  </a:lnTo>
                  <a:lnTo>
                    <a:pt x="448119" y="29210"/>
                  </a:lnTo>
                  <a:lnTo>
                    <a:pt x="406273" y="13335"/>
                  </a:lnTo>
                  <a:lnTo>
                    <a:pt x="361810" y="3428"/>
                  </a:lnTo>
                  <a:lnTo>
                    <a:pt x="315214" y="0"/>
                  </a:lnTo>
                  <a:close/>
                </a:path>
              </a:pathLst>
            </a:custGeom>
            <a:solidFill>
              <a:srgbClr val="C3F97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707136" y="1961388"/>
              <a:ext cx="630555" cy="629285"/>
            </a:xfrm>
            <a:custGeom>
              <a:avLst/>
              <a:gdLst/>
              <a:ahLst/>
              <a:cxnLst/>
              <a:rect l="l" t="t" r="r" b="b"/>
              <a:pathLst>
                <a:path w="630555" h="629285">
                  <a:moveTo>
                    <a:pt x="315214" y="0"/>
                  </a:moveTo>
                  <a:lnTo>
                    <a:pt x="268617" y="3428"/>
                  </a:lnTo>
                  <a:lnTo>
                    <a:pt x="224154" y="13335"/>
                  </a:lnTo>
                  <a:lnTo>
                    <a:pt x="182308" y="29210"/>
                  </a:lnTo>
                  <a:lnTo>
                    <a:pt x="143548" y="50673"/>
                  </a:lnTo>
                  <a:lnTo>
                    <a:pt x="108381" y="77088"/>
                  </a:lnTo>
                  <a:lnTo>
                    <a:pt x="77292" y="108076"/>
                  </a:lnTo>
                  <a:lnTo>
                    <a:pt x="50774" y="143256"/>
                  </a:lnTo>
                  <a:lnTo>
                    <a:pt x="29286" y="181863"/>
                  </a:lnTo>
                  <a:lnTo>
                    <a:pt x="13334" y="223647"/>
                  </a:lnTo>
                  <a:lnTo>
                    <a:pt x="3416" y="267970"/>
                  </a:lnTo>
                  <a:lnTo>
                    <a:pt x="0" y="314451"/>
                  </a:lnTo>
                  <a:lnTo>
                    <a:pt x="3416" y="360934"/>
                  </a:lnTo>
                  <a:lnTo>
                    <a:pt x="13334" y="405257"/>
                  </a:lnTo>
                  <a:lnTo>
                    <a:pt x="29286" y="447039"/>
                  </a:lnTo>
                  <a:lnTo>
                    <a:pt x="50774" y="485648"/>
                  </a:lnTo>
                  <a:lnTo>
                    <a:pt x="77292" y="520826"/>
                  </a:lnTo>
                  <a:lnTo>
                    <a:pt x="108381" y="551814"/>
                  </a:lnTo>
                  <a:lnTo>
                    <a:pt x="143548" y="578231"/>
                  </a:lnTo>
                  <a:lnTo>
                    <a:pt x="182308" y="599694"/>
                  </a:lnTo>
                  <a:lnTo>
                    <a:pt x="224154" y="615569"/>
                  </a:lnTo>
                  <a:lnTo>
                    <a:pt x="268617" y="625475"/>
                  </a:lnTo>
                  <a:lnTo>
                    <a:pt x="315214" y="628903"/>
                  </a:lnTo>
                  <a:lnTo>
                    <a:pt x="361810" y="625475"/>
                  </a:lnTo>
                  <a:lnTo>
                    <a:pt x="406273" y="615569"/>
                  </a:lnTo>
                  <a:lnTo>
                    <a:pt x="448119" y="599694"/>
                  </a:lnTo>
                  <a:lnTo>
                    <a:pt x="486879" y="578231"/>
                  </a:lnTo>
                  <a:lnTo>
                    <a:pt x="522033" y="551814"/>
                  </a:lnTo>
                  <a:lnTo>
                    <a:pt x="553135" y="520826"/>
                  </a:lnTo>
                  <a:lnTo>
                    <a:pt x="579627" y="485648"/>
                  </a:lnTo>
                  <a:lnTo>
                    <a:pt x="601091" y="447039"/>
                  </a:lnTo>
                  <a:lnTo>
                    <a:pt x="617093" y="405257"/>
                  </a:lnTo>
                  <a:lnTo>
                    <a:pt x="626999" y="360934"/>
                  </a:lnTo>
                  <a:lnTo>
                    <a:pt x="630427" y="314451"/>
                  </a:lnTo>
                  <a:lnTo>
                    <a:pt x="626999" y="267970"/>
                  </a:lnTo>
                  <a:lnTo>
                    <a:pt x="617093" y="223647"/>
                  </a:lnTo>
                  <a:lnTo>
                    <a:pt x="601091" y="181863"/>
                  </a:lnTo>
                  <a:lnTo>
                    <a:pt x="579627" y="143256"/>
                  </a:lnTo>
                  <a:lnTo>
                    <a:pt x="553135" y="108076"/>
                  </a:lnTo>
                  <a:lnTo>
                    <a:pt x="522033" y="77088"/>
                  </a:lnTo>
                  <a:lnTo>
                    <a:pt x="486879" y="50673"/>
                  </a:lnTo>
                  <a:lnTo>
                    <a:pt x="448119" y="29210"/>
                  </a:lnTo>
                  <a:lnTo>
                    <a:pt x="406273" y="13335"/>
                  </a:lnTo>
                  <a:lnTo>
                    <a:pt x="361810" y="3428"/>
                  </a:lnTo>
                  <a:lnTo>
                    <a:pt x="315214" y="0"/>
                  </a:lnTo>
                  <a:close/>
                </a:path>
              </a:pathLst>
            </a:custGeom>
            <a:ln w="9144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3192" y="121919"/>
              <a:ext cx="629285" cy="629285"/>
            </a:xfrm>
            <a:custGeom>
              <a:avLst/>
              <a:gdLst/>
              <a:ahLst/>
              <a:cxnLst/>
              <a:rect l="l" t="t" r="r" b="b"/>
              <a:pathLst>
                <a:path w="629285" h="629285">
                  <a:moveTo>
                    <a:pt x="314452" y="0"/>
                  </a:moveTo>
                  <a:lnTo>
                    <a:pt x="267970" y="3428"/>
                  </a:lnTo>
                  <a:lnTo>
                    <a:pt x="223608" y="13334"/>
                  </a:lnTo>
                  <a:lnTo>
                    <a:pt x="181864" y="29209"/>
                  </a:lnTo>
                  <a:lnTo>
                    <a:pt x="143205" y="50673"/>
                  </a:lnTo>
                  <a:lnTo>
                    <a:pt x="108127" y="77088"/>
                  </a:lnTo>
                  <a:lnTo>
                    <a:pt x="77114" y="108076"/>
                  </a:lnTo>
                  <a:lnTo>
                    <a:pt x="50647" y="143255"/>
                  </a:lnTo>
                  <a:lnTo>
                    <a:pt x="29222" y="181863"/>
                  </a:lnTo>
                  <a:lnTo>
                    <a:pt x="13309" y="223647"/>
                  </a:lnTo>
                  <a:lnTo>
                    <a:pt x="3403" y="267969"/>
                  </a:lnTo>
                  <a:lnTo>
                    <a:pt x="0" y="314451"/>
                  </a:lnTo>
                  <a:lnTo>
                    <a:pt x="3403" y="360933"/>
                  </a:lnTo>
                  <a:lnTo>
                    <a:pt x="13309" y="405256"/>
                  </a:lnTo>
                  <a:lnTo>
                    <a:pt x="29222" y="447039"/>
                  </a:lnTo>
                  <a:lnTo>
                    <a:pt x="50647" y="485647"/>
                  </a:lnTo>
                  <a:lnTo>
                    <a:pt x="77114" y="520826"/>
                  </a:lnTo>
                  <a:lnTo>
                    <a:pt x="108127" y="551814"/>
                  </a:lnTo>
                  <a:lnTo>
                    <a:pt x="143205" y="578230"/>
                  </a:lnTo>
                  <a:lnTo>
                    <a:pt x="181864" y="599693"/>
                  </a:lnTo>
                  <a:lnTo>
                    <a:pt x="223608" y="615568"/>
                  </a:lnTo>
                  <a:lnTo>
                    <a:pt x="267970" y="625475"/>
                  </a:lnTo>
                  <a:lnTo>
                    <a:pt x="314452" y="628903"/>
                  </a:lnTo>
                  <a:lnTo>
                    <a:pt x="360934" y="625475"/>
                  </a:lnTo>
                  <a:lnTo>
                    <a:pt x="405295" y="615568"/>
                  </a:lnTo>
                  <a:lnTo>
                    <a:pt x="447039" y="599693"/>
                  </a:lnTo>
                  <a:lnTo>
                    <a:pt x="485698" y="578230"/>
                  </a:lnTo>
                  <a:lnTo>
                    <a:pt x="520776" y="551814"/>
                  </a:lnTo>
                  <a:lnTo>
                    <a:pt x="551789" y="520826"/>
                  </a:lnTo>
                  <a:lnTo>
                    <a:pt x="578256" y="485647"/>
                  </a:lnTo>
                  <a:lnTo>
                    <a:pt x="599694" y="447039"/>
                  </a:lnTo>
                  <a:lnTo>
                    <a:pt x="615594" y="405256"/>
                  </a:lnTo>
                  <a:lnTo>
                    <a:pt x="625500" y="360933"/>
                  </a:lnTo>
                  <a:lnTo>
                    <a:pt x="628904" y="314451"/>
                  </a:lnTo>
                  <a:lnTo>
                    <a:pt x="625500" y="267969"/>
                  </a:lnTo>
                  <a:lnTo>
                    <a:pt x="615594" y="223647"/>
                  </a:lnTo>
                  <a:lnTo>
                    <a:pt x="599694" y="181863"/>
                  </a:lnTo>
                  <a:lnTo>
                    <a:pt x="578256" y="143255"/>
                  </a:lnTo>
                  <a:lnTo>
                    <a:pt x="551789" y="108076"/>
                  </a:lnTo>
                  <a:lnTo>
                    <a:pt x="520776" y="77088"/>
                  </a:lnTo>
                  <a:lnTo>
                    <a:pt x="485698" y="50673"/>
                  </a:lnTo>
                  <a:lnTo>
                    <a:pt x="447039" y="29209"/>
                  </a:lnTo>
                  <a:lnTo>
                    <a:pt x="405295" y="13334"/>
                  </a:lnTo>
                  <a:lnTo>
                    <a:pt x="360934" y="3428"/>
                  </a:lnTo>
                  <a:lnTo>
                    <a:pt x="314452" y="0"/>
                  </a:lnTo>
                  <a:close/>
                </a:path>
              </a:pathLst>
            </a:custGeom>
            <a:solidFill>
              <a:srgbClr val="C3F97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3192" y="121919"/>
              <a:ext cx="629285" cy="629285"/>
            </a:xfrm>
            <a:custGeom>
              <a:avLst/>
              <a:gdLst/>
              <a:ahLst/>
              <a:cxnLst/>
              <a:rect l="l" t="t" r="r" b="b"/>
              <a:pathLst>
                <a:path w="629285" h="629285">
                  <a:moveTo>
                    <a:pt x="314452" y="0"/>
                  </a:moveTo>
                  <a:lnTo>
                    <a:pt x="267970" y="3428"/>
                  </a:lnTo>
                  <a:lnTo>
                    <a:pt x="223608" y="13334"/>
                  </a:lnTo>
                  <a:lnTo>
                    <a:pt x="181864" y="29209"/>
                  </a:lnTo>
                  <a:lnTo>
                    <a:pt x="143205" y="50673"/>
                  </a:lnTo>
                  <a:lnTo>
                    <a:pt x="108127" y="77088"/>
                  </a:lnTo>
                  <a:lnTo>
                    <a:pt x="77114" y="108076"/>
                  </a:lnTo>
                  <a:lnTo>
                    <a:pt x="50647" y="143255"/>
                  </a:lnTo>
                  <a:lnTo>
                    <a:pt x="29222" y="181863"/>
                  </a:lnTo>
                  <a:lnTo>
                    <a:pt x="13309" y="223647"/>
                  </a:lnTo>
                  <a:lnTo>
                    <a:pt x="3403" y="267969"/>
                  </a:lnTo>
                  <a:lnTo>
                    <a:pt x="0" y="314451"/>
                  </a:lnTo>
                  <a:lnTo>
                    <a:pt x="3403" y="360933"/>
                  </a:lnTo>
                  <a:lnTo>
                    <a:pt x="13309" y="405256"/>
                  </a:lnTo>
                  <a:lnTo>
                    <a:pt x="29222" y="447039"/>
                  </a:lnTo>
                  <a:lnTo>
                    <a:pt x="50647" y="485647"/>
                  </a:lnTo>
                  <a:lnTo>
                    <a:pt x="77114" y="520826"/>
                  </a:lnTo>
                  <a:lnTo>
                    <a:pt x="108127" y="551814"/>
                  </a:lnTo>
                  <a:lnTo>
                    <a:pt x="143205" y="578230"/>
                  </a:lnTo>
                  <a:lnTo>
                    <a:pt x="181864" y="599693"/>
                  </a:lnTo>
                  <a:lnTo>
                    <a:pt x="223608" y="615568"/>
                  </a:lnTo>
                  <a:lnTo>
                    <a:pt x="267970" y="625475"/>
                  </a:lnTo>
                  <a:lnTo>
                    <a:pt x="314452" y="628903"/>
                  </a:lnTo>
                  <a:lnTo>
                    <a:pt x="360934" y="625475"/>
                  </a:lnTo>
                  <a:lnTo>
                    <a:pt x="405295" y="615568"/>
                  </a:lnTo>
                  <a:lnTo>
                    <a:pt x="447039" y="599693"/>
                  </a:lnTo>
                  <a:lnTo>
                    <a:pt x="485698" y="578230"/>
                  </a:lnTo>
                  <a:lnTo>
                    <a:pt x="520776" y="551814"/>
                  </a:lnTo>
                  <a:lnTo>
                    <a:pt x="551789" y="520826"/>
                  </a:lnTo>
                  <a:lnTo>
                    <a:pt x="578256" y="485647"/>
                  </a:lnTo>
                  <a:lnTo>
                    <a:pt x="599694" y="447039"/>
                  </a:lnTo>
                  <a:lnTo>
                    <a:pt x="615594" y="405256"/>
                  </a:lnTo>
                  <a:lnTo>
                    <a:pt x="625500" y="360933"/>
                  </a:lnTo>
                  <a:lnTo>
                    <a:pt x="628904" y="314451"/>
                  </a:lnTo>
                  <a:lnTo>
                    <a:pt x="625500" y="267969"/>
                  </a:lnTo>
                  <a:lnTo>
                    <a:pt x="615594" y="223647"/>
                  </a:lnTo>
                  <a:lnTo>
                    <a:pt x="599694" y="181863"/>
                  </a:lnTo>
                  <a:lnTo>
                    <a:pt x="578256" y="143255"/>
                  </a:lnTo>
                  <a:lnTo>
                    <a:pt x="551789" y="108076"/>
                  </a:lnTo>
                  <a:lnTo>
                    <a:pt x="520776" y="77088"/>
                  </a:lnTo>
                  <a:lnTo>
                    <a:pt x="485698" y="50673"/>
                  </a:lnTo>
                  <a:lnTo>
                    <a:pt x="447039" y="29209"/>
                  </a:lnTo>
                  <a:lnTo>
                    <a:pt x="405295" y="13334"/>
                  </a:lnTo>
                  <a:lnTo>
                    <a:pt x="360934" y="3428"/>
                  </a:lnTo>
                  <a:lnTo>
                    <a:pt x="314452" y="0"/>
                  </a:lnTo>
                  <a:close/>
                </a:path>
              </a:pathLst>
            </a:custGeom>
            <a:ln w="9144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94075" y="195199"/>
            <a:ext cx="30683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C3F975"/>
              </a:buClr>
              <a:buSzPct val="55000"/>
              <a:buFont typeface="Wingdings"/>
              <a:buChar char=""/>
              <a:tabLst>
                <a:tab pos="354965" algn="l"/>
              </a:tabLst>
            </a:pPr>
            <a:r>
              <a:rPr sz="2000" b="1" spc="-10" dirty="0" err="1">
                <a:solidFill>
                  <a:srgbClr val="FFFFFF"/>
                </a:solidFill>
                <a:latin typeface="Calibri"/>
                <a:cs typeface="Calibri"/>
              </a:rPr>
              <a:t>Introdução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394075" y="804494"/>
            <a:ext cx="21278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C3F975"/>
              </a:buClr>
              <a:buSzPct val="55000"/>
              <a:buFont typeface="Wingdings"/>
              <a:buChar char=""/>
              <a:tabLst>
                <a:tab pos="354965" algn="l"/>
              </a:tabLst>
            </a:pPr>
            <a:r>
              <a:rPr sz="2000" b="1" dirty="0" err="1">
                <a:solidFill>
                  <a:srgbClr val="FFFFFF"/>
                </a:solidFill>
                <a:latin typeface="Calibri"/>
                <a:cs typeface="Calibri"/>
              </a:rPr>
              <a:t>Objetivo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94075" y="1414652"/>
            <a:ext cx="8333105" cy="21679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42900" indent="-342900">
              <a:lnSpc>
                <a:spcPct val="100000"/>
              </a:lnSpc>
              <a:spcBef>
                <a:spcPts val="105"/>
              </a:spcBef>
              <a:buClr>
                <a:srgbClr val="C3F975"/>
              </a:buClr>
              <a:buSzPct val="55000"/>
              <a:buFont typeface="Wingdings"/>
              <a:buChar char=""/>
              <a:tabLst>
                <a:tab pos="355600" algn="l"/>
              </a:tabLst>
            </a:pPr>
            <a:r>
              <a:rPr lang="pt-BR" sz="2000" b="1" dirty="0">
                <a:solidFill>
                  <a:srgbClr val="FFFFFF"/>
                </a:solidFill>
                <a:latin typeface="Calibri"/>
                <a:cs typeface="Calibri"/>
              </a:rPr>
              <a:t>Arquitetura do projeto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Clr>
                <a:srgbClr val="C3F975"/>
              </a:buClr>
              <a:buSzPct val="55000"/>
              <a:buFont typeface="Wingdings"/>
              <a:buChar char=""/>
              <a:tabLst>
                <a:tab pos="354965" algn="l"/>
              </a:tabLst>
            </a:pPr>
            <a:r>
              <a:rPr lang="pt-BR" sz="2000" b="1" dirty="0">
                <a:solidFill>
                  <a:srgbClr val="FFFFFF"/>
                </a:solidFill>
                <a:latin typeface="Calibri"/>
                <a:cs typeface="Calibri"/>
              </a:rPr>
              <a:t>Ferramentas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10"/>
              </a:spcBef>
              <a:buClr>
                <a:srgbClr val="C3F975"/>
              </a:buClr>
              <a:buSzPct val="55000"/>
              <a:buFont typeface="Wingdings"/>
              <a:buChar char=""/>
              <a:tabLst>
                <a:tab pos="354965" algn="l"/>
              </a:tabLst>
            </a:pPr>
            <a:r>
              <a:rPr lang="pt-BR" sz="2000" b="1" spc="-10" dirty="0">
                <a:solidFill>
                  <a:srgbClr val="FFFFFF"/>
                </a:solidFill>
                <a:latin typeface="Calibri"/>
                <a:cs typeface="Calibri"/>
              </a:rPr>
              <a:t>Metadados</a:t>
            </a:r>
          </a:p>
          <a:p>
            <a:pPr marL="354965" indent="-342265">
              <a:lnSpc>
                <a:spcPct val="100000"/>
              </a:lnSpc>
              <a:spcBef>
                <a:spcPts val="2410"/>
              </a:spcBef>
              <a:buClr>
                <a:srgbClr val="C3F975"/>
              </a:buClr>
              <a:buSzPct val="55000"/>
              <a:buFont typeface="Wingdings"/>
              <a:buChar char=""/>
              <a:tabLst>
                <a:tab pos="354965" algn="l"/>
              </a:tabLst>
            </a:pPr>
            <a:r>
              <a:rPr lang="pt-BR" sz="2000" b="1" spc="-10" dirty="0">
                <a:solidFill>
                  <a:srgbClr val="FFFFFF"/>
                </a:solidFill>
                <a:latin typeface="Calibri"/>
                <a:cs typeface="Calibri"/>
              </a:rPr>
              <a:t>GitHub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036" y="3793616"/>
            <a:ext cx="25057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20" dirty="0">
                <a:solidFill>
                  <a:srgbClr val="C3F975"/>
                </a:solidFill>
                <a:latin typeface="Calibri"/>
                <a:cs typeface="Calibri"/>
              </a:rPr>
              <a:t>Introdução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Introdução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7919" y="407417"/>
            <a:ext cx="11957685" cy="490473"/>
            <a:chOff x="118109" y="380237"/>
            <a:chExt cx="11957685" cy="490473"/>
          </a:xfrm>
        </p:grpSpPr>
        <p:sp>
          <p:nvSpPr>
            <p:cNvPr id="4" name="object 4"/>
            <p:cNvSpPr/>
            <p:nvPr/>
          </p:nvSpPr>
          <p:spPr>
            <a:xfrm>
              <a:off x="118109" y="380237"/>
              <a:ext cx="11957050" cy="0"/>
            </a:xfrm>
            <a:custGeom>
              <a:avLst/>
              <a:gdLst/>
              <a:ahLst/>
              <a:cxnLst/>
              <a:rect l="l" t="t" r="r" b="b"/>
              <a:pathLst>
                <a:path w="11957050">
                  <a:moveTo>
                    <a:pt x="0" y="0"/>
                  </a:moveTo>
                  <a:lnTo>
                    <a:pt x="11956796" y="0"/>
                  </a:lnTo>
                </a:path>
              </a:pathLst>
            </a:custGeom>
            <a:ln w="19812">
              <a:solidFill>
                <a:srgbClr val="0846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109" y="506220"/>
              <a:ext cx="11957685" cy="364490"/>
            </a:xfrm>
            <a:custGeom>
              <a:avLst/>
              <a:gdLst/>
              <a:ahLst/>
              <a:cxnLst/>
              <a:rect l="l" t="t" r="r" b="b"/>
              <a:pathLst>
                <a:path w="11957685" h="364490">
                  <a:moveTo>
                    <a:pt x="1195730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11957304" y="364236"/>
                  </a:lnTo>
                  <a:lnTo>
                    <a:pt x="11957304" y="0"/>
                  </a:lnTo>
                  <a:close/>
                </a:path>
              </a:pathLst>
            </a:custGeom>
            <a:solidFill>
              <a:srgbClr val="084634">
                <a:alpha val="70195"/>
              </a:srgbClr>
            </a:solidFill>
          </p:spPr>
          <p:txBody>
            <a:bodyPr wrap="square" lIns="0" tIns="0" rIns="0" bIns="0" rtlCol="0" anchor="ctr"/>
            <a:lstStyle/>
            <a:p>
              <a:r>
                <a:rPr lang="pt-BR" dirty="0"/>
                <a:t>  Projeto Final</a:t>
              </a:r>
              <a:endParaRPr dirty="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425A004-A03A-F810-2E4C-4C2638DF8671}"/>
              </a:ext>
            </a:extLst>
          </p:cNvPr>
          <p:cNvSpPr txBox="1"/>
          <p:nvPr/>
        </p:nvSpPr>
        <p:spPr>
          <a:xfrm>
            <a:off x="304800" y="2472075"/>
            <a:ext cx="10744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sistema de transporte público da cidade de São Paulo é utilizado diariamente por milhões de passageiros, tornando a eficiência operacional da frota de ônibus um ponto crítico para a qualidade do serviço oferecido. Para apoiar a tomada de decisões e aprimorar o monitoramento da rede, torna-se necessário um sistema capaz de acompanhar em </a:t>
            </a:r>
            <a:r>
              <a:rPr lang="pt-BR" b="1" dirty="0" err="1"/>
              <a:t>near</a:t>
            </a:r>
            <a:r>
              <a:rPr lang="pt-BR" b="1" dirty="0"/>
              <a:t> real-time</a:t>
            </a:r>
            <a:r>
              <a:rPr lang="pt-BR" dirty="0"/>
              <a:t> a movimentação dos veículos, além de disponibilizar indicadores e métricas relevantes sobre a operação.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036" y="3793616"/>
            <a:ext cx="196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solidFill>
                  <a:srgbClr val="C3F975"/>
                </a:solidFill>
                <a:latin typeface="Calibri"/>
                <a:cs typeface="Calibri"/>
              </a:rPr>
              <a:t>Objetivo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Objetivo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7950" y="370077"/>
            <a:ext cx="11977370" cy="495934"/>
            <a:chOff x="107950" y="370077"/>
            <a:chExt cx="11977370" cy="495934"/>
          </a:xfrm>
        </p:grpSpPr>
        <p:sp>
          <p:nvSpPr>
            <p:cNvPr id="4" name="object 4"/>
            <p:cNvSpPr/>
            <p:nvPr/>
          </p:nvSpPr>
          <p:spPr>
            <a:xfrm>
              <a:off x="118110" y="380237"/>
              <a:ext cx="11957050" cy="0"/>
            </a:xfrm>
            <a:custGeom>
              <a:avLst/>
              <a:gdLst/>
              <a:ahLst/>
              <a:cxnLst/>
              <a:rect l="l" t="t" r="r" b="b"/>
              <a:pathLst>
                <a:path w="11957050">
                  <a:moveTo>
                    <a:pt x="0" y="0"/>
                  </a:moveTo>
                  <a:lnTo>
                    <a:pt x="11956796" y="0"/>
                  </a:lnTo>
                </a:path>
              </a:pathLst>
            </a:custGeom>
            <a:ln w="19812">
              <a:solidFill>
                <a:srgbClr val="0846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348" y="501395"/>
              <a:ext cx="11957685" cy="364490"/>
            </a:xfrm>
            <a:custGeom>
              <a:avLst/>
              <a:gdLst/>
              <a:ahLst/>
              <a:cxnLst/>
              <a:rect l="l" t="t" r="r" b="b"/>
              <a:pathLst>
                <a:path w="11957685" h="364490">
                  <a:moveTo>
                    <a:pt x="1195730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11957304" y="364236"/>
                  </a:lnTo>
                  <a:lnTo>
                    <a:pt x="11957304" y="0"/>
                  </a:lnTo>
                  <a:close/>
                </a:path>
              </a:pathLst>
            </a:custGeom>
            <a:solidFill>
              <a:srgbClr val="08463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8E2D3A0-27E4-9C69-7CAC-333076989DF6}"/>
              </a:ext>
            </a:extLst>
          </p:cNvPr>
          <p:cNvSpPr txBox="1"/>
          <p:nvPr/>
        </p:nvSpPr>
        <p:spPr>
          <a:xfrm>
            <a:off x="1447800" y="4114800"/>
            <a:ext cx="11160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200" dirty="0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C7785050-8D16-E67C-050F-C1E834BA6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48" y="1401634"/>
            <a:ext cx="11585223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Ingerir dados operacionais da SPTrans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Coletar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posições, paradas e previsões de chegada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 meio da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Olho Vivo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utilizando 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Spark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</a:rPr>
              <a:t>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Apache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NiFi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</a:rPr>
              <a:t>a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utomação</a:t>
            </a: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 controle dos fluxos.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Integrar dados estáticos (GTFS)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Incorporar informações de rotas e viagens para enriquecer as análises e permitir o cruzamento com os dados em tempo real.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Armazenar dados no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MinIO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Utilizando o modelo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Camada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Medalhão (Bronze, Silver, Gold)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Bronze: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dados brutos em formato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Silver: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dados tratados e padronizados em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Parquet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Gold: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dados consolidados e prontos para análise no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E48CC-BA28-5743-9A15-871FFD8F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C3D8AC-6EA3-CEB2-73D9-44CBDBC8FC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Objetivo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2651488-67F6-0610-581F-E3C2B2ECA198}"/>
              </a:ext>
            </a:extLst>
          </p:cNvPr>
          <p:cNvGrpSpPr/>
          <p:nvPr/>
        </p:nvGrpSpPr>
        <p:grpSpPr>
          <a:xfrm>
            <a:off x="107950" y="370077"/>
            <a:ext cx="11977370" cy="495934"/>
            <a:chOff x="107950" y="370077"/>
            <a:chExt cx="11977370" cy="49593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22DDF2C-4338-9577-C25E-33CBC084414E}"/>
                </a:ext>
              </a:extLst>
            </p:cNvPr>
            <p:cNvSpPr/>
            <p:nvPr/>
          </p:nvSpPr>
          <p:spPr>
            <a:xfrm>
              <a:off x="118110" y="380237"/>
              <a:ext cx="11957050" cy="0"/>
            </a:xfrm>
            <a:custGeom>
              <a:avLst/>
              <a:gdLst/>
              <a:ahLst/>
              <a:cxnLst/>
              <a:rect l="l" t="t" r="r" b="b"/>
              <a:pathLst>
                <a:path w="11957050">
                  <a:moveTo>
                    <a:pt x="0" y="0"/>
                  </a:moveTo>
                  <a:lnTo>
                    <a:pt x="11956796" y="0"/>
                  </a:lnTo>
                </a:path>
              </a:pathLst>
            </a:custGeom>
            <a:ln w="19812">
              <a:solidFill>
                <a:srgbClr val="0846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6E3CE0E-2B00-FA31-B572-DB5D24EF8855}"/>
                </a:ext>
              </a:extLst>
            </p:cNvPr>
            <p:cNvSpPr/>
            <p:nvPr/>
          </p:nvSpPr>
          <p:spPr>
            <a:xfrm>
              <a:off x="117348" y="501395"/>
              <a:ext cx="11957685" cy="364490"/>
            </a:xfrm>
            <a:custGeom>
              <a:avLst/>
              <a:gdLst/>
              <a:ahLst/>
              <a:cxnLst/>
              <a:rect l="l" t="t" r="r" b="b"/>
              <a:pathLst>
                <a:path w="11957685" h="364490">
                  <a:moveTo>
                    <a:pt x="1195730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11957304" y="364236"/>
                  </a:lnTo>
                  <a:lnTo>
                    <a:pt x="11957304" y="0"/>
                  </a:lnTo>
                  <a:close/>
                </a:path>
              </a:pathLst>
            </a:custGeom>
            <a:solidFill>
              <a:srgbClr val="08463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AD71B3D-3D1B-679D-1B0F-7F5CC95885C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427063E-DBA8-30E3-4159-5C9761201B05}"/>
              </a:ext>
            </a:extLst>
          </p:cNvPr>
          <p:cNvSpPr txBox="1"/>
          <p:nvPr/>
        </p:nvSpPr>
        <p:spPr>
          <a:xfrm>
            <a:off x="1447800" y="4114800"/>
            <a:ext cx="11160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2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D684796-0734-7781-F03B-90387EF75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318" y="1353152"/>
            <a:ext cx="1101936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Processar dados com o Apache Spark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Responsável por transformar, limpar e consolidar os dados das camadas Bronze e Silver, alimentando a camada Gold.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Orquestrar e automatizar os fluxos de processamento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 meio de 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jobs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Spark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garantindo a execução sempre que subirmos o container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Disponibilizar indicadores e métricas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 os resultados via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permitindo integração com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 (Power BI)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outros sistemas analíticos.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Gerar KPIs de desempenho do transporte público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como: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Pontualidade das linhas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Acessibilidade dos ônibus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Frotas ativas no momento da pesquisa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</a:rPr>
              <a:t>Tempo médio de atraso por min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410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3810000"/>
            <a:ext cx="4168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pt-BR" sz="4400" dirty="0">
                <a:solidFill>
                  <a:srgbClr val="C3F975"/>
                </a:solidFill>
              </a:rPr>
              <a:t>Arquitetura</a:t>
            </a:r>
            <a:endParaRPr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00352" y="6307328"/>
            <a:ext cx="2112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3A7C22"/>
                </a:solidFill>
                <a:latin typeface="Calibri"/>
                <a:cs typeface="Calibri"/>
              </a:rPr>
              <a:t>@2020</a:t>
            </a:r>
            <a:r>
              <a:rPr sz="800" spc="-50" dirty="0">
                <a:solidFill>
                  <a:srgbClr val="3A7C2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A7C22"/>
                </a:solidFill>
                <a:latin typeface="Calibri"/>
                <a:cs typeface="Calibri"/>
              </a:rPr>
              <a:t>LABDATA</a:t>
            </a:r>
            <a:r>
              <a:rPr sz="800" spc="-40" dirty="0">
                <a:solidFill>
                  <a:srgbClr val="3A7C2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A7C22"/>
                </a:solidFill>
                <a:latin typeface="Calibri"/>
                <a:cs typeface="Calibri"/>
              </a:rPr>
              <a:t>FIA.</a:t>
            </a:r>
            <a:r>
              <a:rPr sz="800" spc="-30" dirty="0">
                <a:solidFill>
                  <a:srgbClr val="3A7C2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A7C22"/>
                </a:solidFill>
                <a:latin typeface="Calibri"/>
                <a:cs typeface="Calibri"/>
              </a:rPr>
              <a:t>Copyright</a:t>
            </a:r>
            <a:r>
              <a:rPr sz="800" spc="-15" dirty="0">
                <a:solidFill>
                  <a:srgbClr val="3A7C2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A7C22"/>
                </a:solidFill>
                <a:latin typeface="Calibri"/>
                <a:cs typeface="Calibri"/>
              </a:rPr>
              <a:t>all rights</a:t>
            </a:r>
            <a:r>
              <a:rPr sz="800" spc="-15" dirty="0">
                <a:solidFill>
                  <a:srgbClr val="3A7C22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A7C22"/>
                </a:solidFill>
                <a:latin typeface="Calibri"/>
                <a:cs typeface="Calibri"/>
              </a:rPr>
              <a:t>reserved.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CBE1379E-1E1B-5D0F-093A-A94BF863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7780"/>
            <a:ext cx="7128509" cy="276999"/>
          </a:xfrm>
        </p:spPr>
        <p:txBody>
          <a:bodyPr/>
          <a:lstStyle/>
          <a:p>
            <a:r>
              <a:rPr lang="pt-BR" dirty="0"/>
              <a:t>Arquitetura do projeto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903E78-0818-F026-7A8C-0FF87DFA6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3460700"/>
            <a:ext cx="20002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chine Learning Usando FastAPI - Olá! Seja bem vindo ao meu repositório">
            <a:extLst>
              <a:ext uri="{FF2B5EF4-FFF2-40B4-BE49-F238E27FC236}">
                <a16:creationId xmlns:a16="http://schemas.microsoft.com/office/drawing/2014/main" id="{11182CBF-DC72-D139-2659-20B08A9AD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780" y="5969020"/>
            <a:ext cx="1143000" cy="41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2504BA4-D17E-E08C-95B3-7301994A9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323341"/>
            <a:ext cx="4339547" cy="64747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0352" y="3886200"/>
            <a:ext cx="392602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pt-BR" sz="4400" b="1" dirty="0">
                <a:solidFill>
                  <a:srgbClr val="C3F975"/>
                </a:solidFill>
                <a:latin typeface="Calibri"/>
                <a:cs typeface="Calibri"/>
              </a:rPr>
              <a:t>Ferramentas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0352" y="6307328"/>
            <a:ext cx="2112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8ED973"/>
                </a:solidFill>
                <a:latin typeface="Calibri"/>
                <a:cs typeface="Calibri"/>
              </a:rPr>
              <a:t>@2020</a:t>
            </a:r>
            <a:r>
              <a:rPr sz="800" spc="-50" dirty="0">
                <a:solidFill>
                  <a:srgbClr val="8ED97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8ED973"/>
                </a:solidFill>
                <a:latin typeface="Calibri"/>
                <a:cs typeface="Calibri"/>
              </a:rPr>
              <a:t>LABDATA</a:t>
            </a:r>
            <a:r>
              <a:rPr sz="800" spc="-40" dirty="0">
                <a:solidFill>
                  <a:srgbClr val="8ED97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8ED973"/>
                </a:solidFill>
                <a:latin typeface="Calibri"/>
                <a:cs typeface="Calibri"/>
              </a:rPr>
              <a:t>FIA.</a:t>
            </a:r>
            <a:r>
              <a:rPr sz="800" spc="-30" dirty="0">
                <a:solidFill>
                  <a:srgbClr val="8ED97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8ED973"/>
                </a:solidFill>
                <a:latin typeface="Calibri"/>
                <a:cs typeface="Calibri"/>
              </a:rPr>
              <a:t>Copyright</a:t>
            </a:r>
            <a:r>
              <a:rPr sz="800" spc="-15" dirty="0">
                <a:solidFill>
                  <a:srgbClr val="8ED97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8ED973"/>
                </a:solidFill>
                <a:latin typeface="Calibri"/>
                <a:cs typeface="Calibri"/>
              </a:rPr>
              <a:t>all rights</a:t>
            </a:r>
            <a:r>
              <a:rPr sz="800" spc="-15" dirty="0">
                <a:solidFill>
                  <a:srgbClr val="8ED97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8ED973"/>
                </a:solidFill>
                <a:latin typeface="Calibri"/>
                <a:cs typeface="Calibri"/>
              </a:rPr>
              <a:t>reserved.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FDEDB-C2AC-56B8-06BC-33998831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62C648F-599B-A0A7-8855-16A7D0B47765}"/>
              </a:ext>
            </a:extLst>
          </p:cNvPr>
          <p:cNvGrpSpPr/>
          <p:nvPr/>
        </p:nvGrpSpPr>
        <p:grpSpPr>
          <a:xfrm>
            <a:off x="107315" y="447179"/>
            <a:ext cx="11977370" cy="495934"/>
            <a:chOff x="107950" y="370077"/>
            <a:chExt cx="11977370" cy="49593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BAA2E21-2849-76A8-739F-71D34E06CF49}"/>
                </a:ext>
              </a:extLst>
            </p:cNvPr>
            <p:cNvSpPr/>
            <p:nvPr/>
          </p:nvSpPr>
          <p:spPr>
            <a:xfrm>
              <a:off x="118110" y="380237"/>
              <a:ext cx="11957050" cy="0"/>
            </a:xfrm>
            <a:custGeom>
              <a:avLst/>
              <a:gdLst/>
              <a:ahLst/>
              <a:cxnLst/>
              <a:rect l="l" t="t" r="r" b="b"/>
              <a:pathLst>
                <a:path w="11957050">
                  <a:moveTo>
                    <a:pt x="0" y="0"/>
                  </a:moveTo>
                  <a:lnTo>
                    <a:pt x="11956796" y="0"/>
                  </a:lnTo>
                </a:path>
              </a:pathLst>
            </a:custGeom>
            <a:ln w="19812">
              <a:solidFill>
                <a:srgbClr val="0846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0D39DE4-47BB-A311-4FC3-79E8729959CB}"/>
                </a:ext>
              </a:extLst>
            </p:cNvPr>
            <p:cNvSpPr/>
            <p:nvPr/>
          </p:nvSpPr>
          <p:spPr>
            <a:xfrm>
              <a:off x="117348" y="501395"/>
              <a:ext cx="11957685" cy="364490"/>
            </a:xfrm>
            <a:custGeom>
              <a:avLst/>
              <a:gdLst/>
              <a:ahLst/>
              <a:cxnLst/>
              <a:rect l="l" t="t" r="r" b="b"/>
              <a:pathLst>
                <a:path w="11957685" h="364490">
                  <a:moveTo>
                    <a:pt x="1195730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11957304" y="364236"/>
                  </a:lnTo>
                  <a:lnTo>
                    <a:pt x="11957304" y="0"/>
                  </a:lnTo>
                  <a:close/>
                </a:path>
              </a:pathLst>
            </a:custGeom>
            <a:solidFill>
              <a:srgbClr val="08463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DC95447B-D9EC-CF63-A49D-6CD2C63CE63A}"/>
              </a:ext>
            </a:extLst>
          </p:cNvPr>
          <p:cNvSpPr txBox="1"/>
          <p:nvPr/>
        </p:nvSpPr>
        <p:spPr>
          <a:xfrm>
            <a:off x="1300352" y="6307328"/>
            <a:ext cx="2112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3A7C22"/>
                </a:solidFill>
                <a:latin typeface="Calibri"/>
                <a:cs typeface="Calibri"/>
              </a:rPr>
              <a:t>@2020</a:t>
            </a:r>
            <a:r>
              <a:rPr sz="800" spc="-50" dirty="0">
                <a:solidFill>
                  <a:srgbClr val="3A7C2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A7C22"/>
                </a:solidFill>
                <a:latin typeface="Calibri"/>
                <a:cs typeface="Calibri"/>
              </a:rPr>
              <a:t>LABDATA</a:t>
            </a:r>
            <a:r>
              <a:rPr sz="800" spc="-40" dirty="0">
                <a:solidFill>
                  <a:srgbClr val="3A7C2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A7C22"/>
                </a:solidFill>
                <a:latin typeface="Calibri"/>
                <a:cs typeface="Calibri"/>
              </a:rPr>
              <a:t>FIA.</a:t>
            </a:r>
            <a:r>
              <a:rPr sz="800" spc="-30" dirty="0">
                <a:solidFill>
                  <a:srgbClr val="3A7C2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A7C22"/>
                </a:solidFill>
                <a:latin typeface="Calibri"/>
                <a:cs typeface="Calibri"/>
              </a:rPr>
              <a:t>Copyright</a:t>
            </a:r>
            <a:r>
              <a:rPr sz="800" spc="-15" dirty="0">
                <a:solidFill>
                  <a:srgbClr val="3A7C2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3A7C22"/>
                </a:solidFill>
                <a:latin typeface="Calibri"/>
                <a:cs typeface="Calibri"/>
              </a:rPr>
              <a:t>all rights</a:t>
            </a:r>
            <a:r>
              <a:rPr sz="800" spc="-15" dirty="0">
                <a:solidFill>
                  <a:srgbClr val="3A7C22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A7C22"/>
                </a:solidFill>
                <a:latin typeface="Calibri"/>
                <a:cs typeface="Calibri"/>
              </a:rPr>
              <a:t>reserved.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BCD55477-50D6-87FC-6330-11194C83F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622242"/>
            <a:ext cx="7128509" cy="276999"/>
          </a:xfrm>
        </p:spPr>
        <p:txBody>
          <a:bodyPr/>
          <a:lstStyle/>
          <a:p>
            <a:r>
              <a:rPr lang="pt-BR" dirty="0"/>
              <a:t>Motivo das escolhas</a:t>
            </a:r>
          </a:p>
        </p:txBody>
      </p:sp>
      <p:sp>
        <p:nvSpPr>
          <p:cNvPr id="7" name="Título 13">
            <a:extLst>
              <a:ext uri="{FF2B5EF4-FFF2-40B4-BE49-F238E27FC236}">
                <a16:creationId xmlns:a16="http://schemas.microsoft.com/office/drawing/2014/main" id="{9DFF2097-7BE9-E4E6-39A8-249A67856013}"/>
              </a:ext>
            </a:extLst>
          </p:cNvPr>
          <p:cNvSpPr txBox="1">
            <a:spLocks/>
          </p:cNvSpPr>
          <p:nvPr/>
        </p:nvSpPr>
        <p:spPr>
          <a:xfrm>
            <a:off x="228600" y="135001"/>
            <a:ext cx="712850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pt-BR" dirty="0"/>
              <a:t>Ferramentas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0AA2E3B-C40E-540F-B0AB-27633F731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524753"/>
              </p:ext>
            </p:extLst>
          </p:nvPr>
        </p:nvGraphicFramePr>
        <p:xfrm>
          <a:off x="1447800" y="1088528"/>
          <a:ext cx="9753600" cy="488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266822597"/>
                    </a:ext>
                  </a:extLst>
                </a:gridCol>
                <a:gridCol w="8199120">
                  <a:extLst>
                    <a:ext uri="{9D8B030D-6E8A-4147-A177-3AD203B41FA5}">
                      <a16:colId xmlns:a16="http://schemas.microsoft.com/office/drawing/2014/main" val="272857652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Ferramenta</a:t>
                      </a:r>
                    </a:p>
                  </a:txBody>
                  <a:tcPr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Motivo da escolha</a:t>
                      </a:r>
                    </a:p>
                  </a:txBody>
                  <a:tcPr>
                    <a:solidFill>
                      <a:srgbClr val="376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96252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pt-BR" b="1" dirty="0" err="1"/>
                        <a:t>Nifi</a:t>
                      </a:r>
                      <a:endParaRPr lang="pt-BR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Automação :  </a:t>
                      </a:r>
                      <a:r>
                        <a:rPr lang="pt-BR" sz="1200" dirty="0"/>
                        <a:t>O </a:t>
                      </a:r>
                      <a:r>
                        <a:rPr lang="pt-BR" sz="1200" dirty="0" err="1"/>
                        <a:t>NiFi</a:t>
                      </a:r>
                      <a:r>
                        <a:rPr lang="pt-BR" sz="1200" dirty="0"/>
                        <a:t> permite criar fluxos visuais para capturar dados da API OLHO VIVO.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Configuração: </a:t>
                      </a:r>
                      <a:r>
                        <a:rPr lang="pt-BR" sz="1200" dirty="0"/>
                        <a:t>Permite gerenciar autenticação, chamadas periódicas e manipulação de </a:t>
                      </a:r>
                      <a:r>
                        <a:rPr lang="pt-BR" sz="1200" dirty="0" err="1"/>
                        <a:t>headers</a:t>
                      </a:r>
                      <a:r>
                        <a:rPr lang="pt-BR" sz="1200" dirty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Interface Visual intuitiva: 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2097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Spark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Processamento em Lote e Streaming:</a:t>
                      </a:r>
                      <a:r>
                        <a:rPr lang="pt-BR" sz="1200" dirty="0"/>
                        <a:t> Suporta dados em tempo real (</a:t>
                      </a:r>
                      <a:r>
                        <a:rPr lang="pt-BR" sz="1200" dirty="0" err="1"/>
                        <a:t>near</a:t>
                      </a:r>
                      <a:r>
                        <a:rPr lang="pt-BR" sz="1200" dirty="0"/>
                        <a:t> real-time) e processamento periódico.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Escalabilidade:</a:t>
                      </a:r>
                      <a:r>
                        <a:rPr lang="pt-BR" sz="1200" dirty="0"/>
                        <a:t> Pode rodar local agora e em cluster futuramente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Performance:</a:t>
                      </a:r>
                      <a:r>
                        <a:rPr lang="pt-BR" sz="1200" dirty="0"/>
                        <a:t> Usa execução distribuída, otimizando grandes volumes de dados.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058044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pt-BR" b="1" dirty="0" err="1"/>
                        <a:t>Postgres</a:t>
                      </a:r>
                      <a:endParaRPr lang="pt-BR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Banco Relacional Robusto:</a:t>
                      </a:r>
                      <a:r>
                        <a:rPr lang="pt-BR" sz="1200" dirty="0"/>
                        <a:t> Ideal para consultas analíticas e geração de dashboards.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Conexão Direta com  </a:t>
                      </a:r>
                      <a:r>
                        <a:rPr lang="pt-BR" sz="1200" b="1" dirty="0" err="1"/>
                        <a:t>PowerBI</a:t>
                      </a:r>
                      <a:r>
                        <a:rPr lang="pt-BR" sz="1200" b="1" dirty="0"/>
                        <a:t>:</a:t>
                      </a:r>
                      <a:r>
                        <a:rPr lang="pt-BR" sz="1200" dirty="0"/>
                        <a:t> Facilita análises e visualização.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Integração Simples com BI e APIs:</a:t>
                      </a:r>
                      <a:r>
                        <a:rPr lang="pt-BR" sz="1200" dirty="0"/>
                        <a:t> Power BI e </a:t>
                      </a:r>
                      <a:r>
                        <a:rPr lang="pt-BR" sz="1200" dirty="0" err="1"/>
                        <a:t>FastAPI</a:t>
                      </a:r>
                      <a:r>
                        <a:rPr lang="pt-BR" sz="1200" dirty="0"/>
                        <a:t> se conectam diretamente, facilitando consumo dos dados.</a:t>
                      </a:r>
                      <a:endParaRPr lang="pt-BR" sz="12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14248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pt-BR" b="1" dirty="0" err="1"/>
                        <a:t>FastApi</a:t>
                      </a:r>
                      <a:endParaRPr lang="pt-B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Framework Leve e Rápido:</a:t>
                      </a:r>
                      <a:r>
                        <a:rPr lang="pt-BR" sz="1200" dirty="0"/>
                        <a:t> Construído sobre Python com suporte nativo a alta performance.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Pronto para Produção:</a:t>
                      </a:r>
                      <a:r>
                        <a:rPr lang="pt-BR" sz="1200" dirty="0"/>
                        <a:t> Ideal para servir KPIs e dados processados da camada Gold para sistemas externos e dashboards.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Documentação Automática:</a:t>
                      </a:r>
                      <a:r>
                        <a:rPr lang="pt-BR" sz="1200" dirty="0"/>
                        <a:t> Gera Swagger/</a:t>
                      </a:r>
                      <a:r>
                        <a:rPr lang="pt-BR" sz="1200" dirty="0" err="1"/>
                        <a:t>OpenAPI</a:t>
                      </a:r>
                      <a:r>
                        <a:rPr lang="pt-BR" sz="1200" dirty="0"/>
                        <a:t> automaticamente, facilitando integrações.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04398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pt-BR" b="1" dirty="0" err="1"/>
                        <a:t>Minio</a:t>
                      </a:r>
                      <a:endParaRPr lang="pt-BR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Escalável:</a:t>
                      </a:r>
                      <a:r>
                        <a:rPr lang="pt-BR" sz="1200" dirty="0"/>
                        <a:t> Pode crescer distribuído, permitindo armazenar dados em larga escala.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Ideal para Dados Brutos e Refinados: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Gratuito:</a:t>
                      </a:r>
                      <a:r>
                        <a:rPr lang="pt-BR" sz="1200" dirty="0"/>
                        <a:t> Alternativa econômica</a:t>
                      </a:r>
                      <a:endParaRPr lang="pt-BR" sz="12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710515"/>
                  </a:ext>
                </a:extLst>
              </a:tr>
              <a:tr h="816472">
                <a:tc>
                  <a:txBody>
                    <a:bodyPr/>
                    <a:lstStyle/>
                    <a:p>
                      <a:pPr algn="ctr"/>
                      <a:r>
                        <a:rPr lang="pt-BR" b="1" dirty="0" err="1"/>
                        <a:t>PowerBI</a:t>
                      </a:r>
                      <a:endParaRPr lang="pt-B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Interface Intuitiva:</a:t>
                      </a:r>
                      <a:r>
                        <a:rPr lang="pt-BR" sz="1200" dirty="0"/>
                        <a:t> Fácil criação de relatórios interativos.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Popular no Mercado:</a:t>
                      </a:r>
                      <a:r>
                        <a:rPr lang="pt-BR" sz="1200" dirty="0"/>
                        <a:t> Ferramenta amplamente utilizada, acessível e eficaz.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200" b="1" dirty="0"/>
                        <a:t>Conexão Direta ao PostgreSQL:</a:t>
                      </a:r>
                      <a:r>
                        <a:rPr lang="pt-BR" sz="1200" dirty="0"/>
                        <a:t> Atualização automática dos dashboards.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98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460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E587-F144-B7D8-75F8-8BDC3B08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94081E7-9E3E-2782-4EC8-FA802B8D93CD}"/>
              </a:ext>
            </a:extLst>
          </p:cNvPr>
          <p:cNvSpPr txBox="1"/>
          <p:nvPr/>
        </p:nvSpPr>
        <p:spPr>
          <a:xfrm>
            <a:off x="2057400" y="3962400"/>
            <a:ext cx="392602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pt-BR" sz="4400" b="1" dirty="0">
                <a:solidFill>
                  <a:srgbClr val="C3F975"/>
                </a:solidFill>
                <a:latin typeface="Calibri"/>
                <a:cs typeface="Calibri"/>
              </a:rPr>
              <a:t>Metadados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5695F1F-96F4-3C31-22FF-4BCECEE3AC23}"/>
              </a:ext>
            </a:extLst>
          </p:cNvPr>
          <p:cNvSpPr txBox="1"/>
          <p:nvPr/>
        </p:nvSpPr>
        <p:spPr>
          <a:xfrm>
            <a:off x="1300352" y="6307328"/>
            <a:ext cx="2112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8ED973"/>
                </a:solidFill>
                <a:latin typeface="Calibri"/>
                <a:cs typeface="Calibri"/>
              </a:rPr>
              <a:t>@2020</a:t>
            </a:r>
            <a:r>
              <a:rPr sz="800" spc="-50" dirty="0">
                <a:solidFill>
                  <a:srgbClr val="8ED97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8ED973"/>
                </a:solidFill>
                <a:latin typeface="Calibri"/>
                <a:cs typeface="Calibri"/>
              </a:rPr>
              <a:t>LABDATA</a:t>
            </a:r>
            <a:r>
              <a:rPr sz="800" spc="-40" dirty="0">
                <a:solidFill>
                  <a:srgbClr val="8ED97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8ED973"/>
                </a:solidFill>
                <a:latin typeface="Calibri"/>
                <a:cs typeface="Calibri"/>
              </a:rPr>
              <a:t>FIA.</a:t>
            </a:r>
            <a:r>
              <a:rPr sz="800" spc="-30" dirty="0">
                <a:solidFill>
                  <a:srgbClr val="8ED97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8ED973"/>
                </a:solidFill>
                <a:latin typeface="Calibri"/>
                <a:cs typeface="Calibri"/>
              </a:rPr>
              <a:t>Copyright</a:t>
            </a:r>
            <a:r>
              <a:rPr sz="800" spc="-15" dirty="0">
                <a:solidFill>
                  <a:srgbClr val="8ED973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8ED973"/>
                </a:solidFill>
                <a:latin typeface="Calibri"/>
                <a:cs typeface="Calibri"/>
              </a:rPr>
              <a:t>all rights</a:t>
            </a:r>
            <a:r>
              <a:rPr sz="800" spc="-15" dirty="0">
                <a:solidFill>
                  <a:srgbClr val="8ED973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8ED973"/>
                </a:solidFill>
                <a:latin typeface="Calibri"/>
                <a:cs typeface="Calibri"/>
              </a:rPr>
              <a:t>reserved.</a:t>
            </a:r>
            <a:endParaRPr sz="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102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EE1EF-0944-4498-7BA7-9F024B33C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3F1161-B0F5-FA17-AD3F-438A07E7CE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0" dirty="0"/>
              <a:t>Metadados - GTFS</a:t>
            </a:r>
            <a:endParaRPr spc="-10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2A9D8B4-F6F5-C59A-3659-3E5871B44521}"/>
              </a:ext>
            </a:extLst>
          </p:cNvPr>
          <p:cNvGrpSpPr/>
          <p:nvPr/>
        </p:nvGrpSpPr>
        <p:grpSpPr>
          <a:xfrm>
            <a:off x="118110" y="380237"/>
            <a:ext cx="11997690" cy="485648"/>
            <a:chOff x="118110" y="380237"/>
            <a:chExt cx="11997690" cy="485648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81252FC-4674-1ACD-712E-A0105E3EF4FB}"/>
                </a:ext>
              </a:extLst>
            </p:cNvPr>
            <p:cNvSpPr/>
            <p:nvPr/>
          </p:nvSpPr>
          <p:spPr>
            <a:xfrm>
              <a:off x="118110" y="380237"/>
              <a:ext cx="11957050" cy="0"/>
            </a:xfrm>
            <a:custGeom>
              <a:avLst/>
              <a:gdLst/>
              <a:ahLst/>
              <a:cxnLst/>
              <a:rect l="l" t="t" r="r" b="b"/>
              <a:pathLst>
                <a:path w="11957050">
                  <a:moveTo>
                    <a:pt x="0" y="0"/>
                  </a:moveTo>
                  <a:lnTo>
                    <a:pt x="11956796" y="0"/>
                  </a:lnTo>
                </a:path>
              </a:pathLst>
            </a:custGeom>
            <a:ln w="19812">
              <a:solidFill>
                <a:srgbClr val="0846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C60DB8-FD72-ED89-A38B-B613F801078E}"/>
                </a:ext>
              </a:extLst>
            </p:cNvPr>
            <p:cNvSpPr/>
            <p:nvPr/>
          </p:nvSpPr>
          <p:spPr>
            <a:xfrm>
              <a:off x="158115" y="501395"/>
              <a:ext cx="11957685" cy="364490"/>
            </a:xfrm>
            <a:custGeom>
              <a:avLst/>
              <a:gdLst/>
              <a:ahLst/>
              <a:cxnLst/>
              <a:rect l="l" t="t" r="r" b="b"/>
              <a:pathLst>
                <a:path w="11957685" h="364490">
                  <a:moveTo>
                    <a:pt x="1195730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11957304" y="364236"/>
                  </a:lnTo>
                  <a:lnTo>
                    <a:pt x="11957304" y="0"/>
                  </a:lnTo>
                  <a:close/>
                </a:path>
              </a:pathLst>
            </a:custGeom>
            <a:solidFill>
              <a:srgbClr val="084634">
                <a:alpha val="70195"/>
              </a:srgbClr>
            </a:solidFill>
          </p:spPr>
          <p:txBody>
            <a:bodyPr wrap="square" lIns="0" tIns="0" rIns="0" bIns="0" rtlCol="0" anchor="ctr"/>
            <a:lstStyle/>
            <a:p>
              <a:r>
                <a:rPr lang="pt-BR" dirty="0"/>
                <a:t>  Routes.txt</a:t>
              </a:r>
              <a:endParaRPr dirty="0"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466F939-0452-B33F-16B8-F6A0211E6F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BF7C0A3-85F0-3D3B-6F19-1F83C8BCC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046455"/>
              </p:ext>
            </p:extLst>
          </p:nvPr>
        </p:nvGraphicFramePr>
        <p:xfrm>
          <a:off x="685800" y="1676400"/>
          <a:ext cx="10439400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718">
                  <a:extLst>
                    <a:ext uri="{9D8B030D-6E8A-4147-A177-3AD203B41FA5}">
                      <a16:colId xmlns:a16="http://schemas.microsoft.com/office/drawing/2014/main" val="4555079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0056437"/>
                    </a:ext>
                  </a:extLst>
                </a:gridCol>
                <a:gridCol w="4266882">
                  <a:extLst>
                    <a:ext uri="{9D8B030D-6E8A-4147-A177-3AD203B41FA5}">
                      <a16:colId xmlns:a16="http://schemas.microsoft.com/office/drawing/2014/main" val="369619572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672662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Nome da Coluna</a:t>
                      </a:r>
                      <a:endParaRPr lang="pt-BR" dirty="0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Tipo de Dado</a:t>
                      </a:r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Descrição</a:t>
                      </a:r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Exemplo</a:t>
                      </a:r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431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 err="1"/>
                        <a:t>route_id</a:t>
                      </a:r>
                      <a:endParaRPr lang="pt-BR" sz="14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Texto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Identificador único da linha de ônibus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1012-10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7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/>
                        <a:t>agency_id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Identificador da empresa/operadora da linha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24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/>
                        <a:t>route_short_name</a:t>
                      </a:r>
                      <a:endParaRPr lang="pt-BR" sz="14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Texto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Código curto usado para identificar a linha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1012-10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811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/>
                        <a:t>route_long_name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Nome completo e descritivo da linha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Term. </a:t>
                      </a:r>
                      <a:r>
                        <a:rPr lang="en-US" sz="1400" dirty="0" err="1"/>
                        <a:t>Jd</a:t>
                      </a:r>
                      <a:r>
                        <a:rPr lang="en-US" sz="1400" dirty="0"/>
                        <a:t>. Britania - </a:t>
                      </a:r>
                      <a:r>
                        <a:rPr lang="en-US" sz="1400" dirty="0" err="1"/>
                        <a:t>Jd</a:t>
                      </a:r>
                      <a:r>
                        <a:rPr lang="en-US" sz="1400" dirty="0"/>
                        <a:t>. Monte Belo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558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/>
                        <a:t>route_type</a:t>
                      </a:r>
                      <a:endParaRPr lang="pt-BR" sz="14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Número (Inteiro)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Tipo de modal (3 = ônibus urbano conforme padrão GTFS)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85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/>
                        <a:t>route_color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Cor representativa da linha (formato hexadecimal)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509E2F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65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/>
                        <a:t>route_text_color</a:t>
                      </a:r>
                      <a:endParaRPr lang="pt-BR" sz="14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Texto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Cor do texto utilizada para contraste na comunicação visual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FFFFFF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86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01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EF47F-6119-7EFE-564A-7650A137A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8146E5-30CC-5979-C621-C4E5EF62AE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0" dirty="0"/>
              <a:t>Metadados - GTFS</a:t>
            </a:r>
            <a:endParaRPr spc="-10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1C403E7-5919-BB30-2F06-A276113B970C}"/>
              </a:ext>
            </a:extLst>
          </p:cNvPr>
          <p:cNvGrpSpPr/>
          <p:nvPr/>
        </p:nvGrpSpPr>
        <p:grpSpPr>
          <a:xfrm>
            <a:off x="118110" y="380237"/>
            <a:ext cx="11997690" cy="485648"/>
            <a:chOff x="118110" y="380237"/>
            <a:chExt cx="11997690" cy="485648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DF69817-4BDC-E614-EFB7-5A1AE7DC073B}"/>
                </a:ext>
              </a:extLst>
            </p:cNvPr>
            <p:cNvSpPr/>
            <p:nvPr/>
          </p:nvSpPr>
          <p:spPr>
            <a:xfrm>
              <a:off x="118110" y="380237"/>
              <a:ext cx="11957050" cy="0"/>
            </a:xfrm>
            <a:custGeom>
              <a:avLst/>
              <a:gdLst/>
              <a:ahLst/>
              <a:cxnLst/>
              <a:rect l="l" t="t" r="r" b="b"/>
              <a:pathLst>
                <a:path w="11957050">
                  <a:moveTo>
                    <a:pt x="0" y="0"/>
                  </a:moveTo>
                  <a:lnTo>
                    <a:pt x="11956796" y="0"/>
                  </a:lnTo>
                </a:path>
              </a:pathLst>
            </a:custGeom>
            <a:ln w="19812">
              <a:solidFill>
                <a:srgbClr val="0846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87920A3-FADB-660B-8D6A-042CB5F02428}"/>
                </a:ext>
              </a:extLst>
            </p:cNvPr>
            <p:cNvSpPr/>
            <p:nvPr/>
          </p:nvSpPr>
          <p:spPr>
            <a:xfrm>
              <a:off x="158115" y="501395"/>
              <a:ext cx="11957685" cy="364490"/>
            </a:xfrm>
            <a:custGeom>
              <a:avLst/>
              <a:gdLst/>
              <a:ahLst/>
              <a:cxnLst/>
              <a:rect l="l" t="t" r="r" b="b"/>
              <a:pathLst>
                <a:path w="11957685" h="364490">
                  <a:moveTo>
                    <a:pt x="1195730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11957304" y="364236"/>
                  </a:lnTo>
                  <a:lnTo>
                    <a:pt x="11957304" y="0"/>
                  </a:lnTo>
                  <a:close/>
                </a:path>
              </a:pathLst>
            </a:custGeom>
            <a:solidFill>
              <a:srgbClr val="084634">
                <a:alpha val="70195"/>
              </a:srgbClr>
            </a:solidFill>
          </p:spPr>
          <p:txBody>
            <a:bodyPr wrap="square" lIns="0" tIns="0" rIns="0" bIns="0" rtlCol="0" anchor="ctr"/>
            <a:lstStyle/>
            <a:p>
              <a:r>
                <a:rPr lang="pt-BR" dirty="0"/>
                <a:t>  Trips.txt</a:t>
              </a:r>
              <a:endParaRPr dirty="0"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086591E-280C-F015-36F6-74155AA1E88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338CB10-B252-7A83-924D-35B5AD32F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378989"/>
              </p:ext>
            </p:extLst>
          </p:nvPr>
        </p:nvGraphicFramePr>
        <p:xfrm>
          <a:off x="1676400" y="1651000"/>
          <a:ext cx="8686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718">
                  <a:extLst>
                    <a:ext uri="{9D8B030D-6E8A-4147-A177-3AD203B41FA5}">
                      <a16:colId xmlns:a16="http://schemas.microsoft.com/office/drawing/2014/main" val="4555079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00564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96195723"/>
                    </a:ext>
                  </a:extLst>
                </a:gridCol>
                <a:gridCol w="1752282">
                  <a:extLst>
                    <a:ext uri="{9D8B030D-6E8A-4147-A177-3AD203B41FA5}">
                      <a16:colId xmlns:a16="http://schemas.microsoft.com/office/drawing/2014/main" val="2672662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Nome da Coluna</a:t>
                      </a:r>
                      <a:endParaRPr lang="pt-BR" dirty="0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Tipo de Dado</a:t>
                      </a:r>
                      <a:endParaRPr lang="pt-BR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Descrição</a:t>
                      </a:r>
                      <a:endParaRPr lang="pt-BR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Exemplo</a:t>
                      </a:r>
                      <a:endParaRPr lang="pt-BR" dirty="0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431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 err="1"/>
                        <a:t>route_id</a:t>
                      </a:r>
                      <a:endParaRPr lang="pt-BR" sz="14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Texto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Identificador da linha relacionada à viagem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1012-10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7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service_id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Identifica o tipo de operação (dias úteis, sábado, domingo etc.)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USD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24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trip_id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Texto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Identificador único da viagem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1012-10-0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811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trip_headsign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Destino exibido no letreiro do ônibus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Jd. Monte Belo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558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direction_id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Número (Inteiro)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Direção da viagem (0 = ida / 1 = volta)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85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 err="1"/>
                        <a:t>shape_id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Identificador do traçado geográfico da rota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84609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656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928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8A777-D2AE-7BFE-856B-3C0019C4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681258-584D-962E-AC6B-E77C87DEBF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0" dirty="0"/>
              <a:t>Metadados - GTFS</a:t>
            </a:r>
            <a:endParaRPr spc="-10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0F900F5-EBA2-45C1-1200-CA1B0EA77246}"/>
              </a:ext>
            </a:extLst>
          </p:cNvPr>
          <p:cNvGrpSpPr/>
          <p:nvPr/>
        </p:nvGrpSpPr>
        <p:grpSpPr>
          <a:xfrm>
            <a:off x="118110" y="380237"/>
            <a:ext cx="11997690" cy="485648"/>
            <a:chOff x="118110" y="380237"/>
            <a:chExt cx="11997690" cy="485648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DECF5AF-5CDA-3380-1217-32FC8E3CD1EA}"/>
                </a:ext>
              </a:extLst>
            </p:cNvPr>
            <p:cNvSpPr/>
            <p:nvPr/>
          </p:nvSpPr>
          <p:spPr>
            <a:xfrm>
              <a:off x="118110" y="380237"/>
              <a:ext cx="11957050" cy="0"/>
            </a:xfrm>
            <a:custGeom>
              <a:avLst/>
              <a:gdLst/>
              <a:ahLst/>
              <a:cxnLst/>
              <a:rect l="l" t="t" r="r" b="b"/>
              <a:pathLst>
                <a:path w="11957050">
                  <a:moveTo>
                    <a:pt x="0" y="0"/>
                  </a:moveTo>
                  <a:lnTo>
                    <a:pt x="11956796" y="0"/>
                  </a:lnTo>
                </a:path>
              </a:pathLst>
            </a:custGeom>
            <a:ln w="19812">
              <a:solidFill>
                <a:srgbClr val="0846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64B46E0-CB7F-0B87-A4ED-54475028687B}"/>
                </a:ext>
              </a:extLst>
            </p:cNvPr>
            <p:cNvSpPr/>
            <p:nvPr/>
          </p:nvSpPr>
          <p:spPr>
            <a:xfrm>
              <a:off x="158115" y="501395"/>
              <a:ext cx="11957685" cy="364490"/>
            </a:xfrm>
            <a:custGeom>
              <a:avLst/>
              <a:gdLst/>
              <a:ahLst/>
              <a:cxnLst/>
              <a:rect l="l" t="t" r="r" b="b"/>
              <a:pathLst>
                <a:path w="11957685" h="364490">
                  <a:moveTo>
                    <a:pt x="1195730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11957304" y="364236"/>
                  </a:lnTo>
                  <a:lnTo>
                    <a:pt x="11957304" y="0"/>
                  </a:lnTo>
                  <a:close/>
                </a:path>
              </a:pathLst>
            </a:custGeom>
            <a:solidFill>
              <a:srgbClr val="084634">
                <a:alpha val="70195"/>
              </a:srgbClr>
            </a:solidFill>
          </p:spPr>
          <p:txBody>
            <a:bodyPr wrap="square" lIns="0" tIns="0" rIns="0" bIns="0" rtlCol="0" anchor="ctr"/>
            <a:lstStyle/>
            <a:p>
              <a:r>
                <a:rPr lang="pt-BR" dirty="0"/>
                <a:t>  stop_times.txt</a:t>
              </a:r>
              <a:endParaRPr dirty="0"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5B5E2A0E-98D1-C085-09AC-BF26D5476BA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F7DA5C9-5831-18EA-B28F-87508B852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741051"/>
              </p:ext>
            </p:extLst>
          </p:nvPr>
        </p:nvGraphicFramePr>
        <p:xfrm>
          <a:off x="1866900" y="2242820"/>
          <a:ext cx="8458200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718">
                  <a:extLst>
                    <a:ext uri="{9D8B030D-6E8A-4147-A177-3AD203B41FA5}">
                      <a16:colId xmlns:a16="http://schemas.microsoft.com/office/drawing/2014/main" val="4555079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00564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96195723"/>
                    </a:ext>
                  </a:extLst>
                </a:gridCol>
                <a:gridCol w="1523682">
                  <a:extLst>
                    <a:ext uri="{9D8B030D-6E8A-4147-A177-3AD203B41FA5}">
                      <a16:colId xmlns:a16="http://schemas.microsoft.com/office/drawing/2014/main" val="2672662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b="1"/>
                        <a:t>Nome da Coluna</a:t>
                      </a:r>
                      <a:endParaRPr lang="pt-BR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b="1"/>
                        <a:t>Tipo de Dado</a:t>
                      </a:r>
                      <a:endParaRPr lang="pt-BR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b="1"/>
                        <a:t>Descrição</a:t>
                      </a:r>
                      <a:endParaRPr lang="pt-BR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b="1" dirty="0"/>
                        <a:t>Exemplo</a:t>
                      </a:r>
                      <a:endParaRPr lang="pt-BR" dirty="0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431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dirty="0" err="1"/>
                        <a:t>trip_id</a:t>
                      </a:r>
                      <a:endParaRPr lang="pt-BR" sz="14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Texto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Referência da viagem à qual o registro pertence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1012-10-0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7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dirty="0" err="1"/>
                        <a:t>arrival_time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Hora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Horário previsto de chegada na parada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07:00:00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24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dirty="0" err="1"/>
                        <a:t>departure_time</a:t>
                      </a:r>
                      <a:endParaRPr lang="pt-BR" sz="14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Hora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Horário previsto de saída da parada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07:00:00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811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dirty="0" err="1"/>
                        <a:t>stop_id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Identificador da parada de ônibus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301790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558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b="1" dirty="0" err="1"/>
                        <a:t>stop_sequence</a:t>
                      </a:r>
                      <a:endParaRPr lang="pt-BR" sz="14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Número (Inteiro)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/>
                        <a:t>Ordem da parada dentro da viagem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850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877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B1707-D880-CED7-2116-5E3A6CA7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E65024-4622-4209-8098-0D30306D4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0" dirty="0"/>
              <a:t>Metadados - GTFS</a:t>
            </a:r>
            <a:endParaRPr spc="-10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1D5B382-DBF9-FBAE-BB0B-DD2230CD91FF}"/>
              </a:ext>
            </a:extLst>
          </p:cNvPr>
          <p:cNvGrpSpPr/>
          <p:nvPr/>
        </p:nvGrpSpPr>
        <p:grpSpPr>
          <a:xfrm>
            <a:off x="118110" y="380237"/>
            <a:ext cx="11997690" cy="485648"/>
            <a:chOff x="118110" y="380237"/>
            <a:chExt cx="11997690" cy="485648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2FA0F74-A9ED-8660-9806-969DA4BF8DC3}"/>
                </a:ext>
              </a:extLst>
            </p:cNvPr>
            <p:cNvSpPr/>
            <p:nvPr/>
          </p:nvSpPr>
          <p:spPr>
            <a:xfrm>
              <a:off x="118110" y="380237"/>
              <a:ext cx="11957050" cy="0"/>
            </a:xfrm>
            <a:custGeom>
              <a:avLst/>
              <a:gdLst/>
              <a:ahLst/>
              <a:cxnLst/>
              <a:rect l="l" t="t" r="r" b="b"/>
              <a:pathLst>
                <a:path w="11957050">
                  <a:moveTo>
                    <a:pt x="0" y="0"/>
                  </a:moveTo>
                  <a:lnTo>
                    <a:pt x="11956796" y="0"/>
                  </a:lnTo>
                </a:path>
              </a:pathLst>
            </a:custGeom>
            <a:ln w="19812">
              <a:solidFill>
                <a:srgbClr val="0846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6AEC9B9-36FA-7F11-6C5D-85F69544B242}"/>
                </a:ext>
              </a:extLst>
            </p:cNvPr>
            <p:cNvSpPr/>
            <p:nvPr/>
          </p:nvSpPr>
          <p:spPr>
            <a:xfrm>
              <a:off x="158115" y="501395"/>
              <a:ext cx="11957685" cy="364490"/>
            </a:xfrm>
            <a:custGeom>
              <a:avLst/>
              <a:gdLst/>
              <a:ahLst/>
              <a:cxnLst/>
              <a:rect l="l" t="t" r="r" b="b"/>
              <a:pathLst>
                <a:path w="11957685" h="364490">
                  <a:moveTo>
                    <a:pt x="1195730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11957304" y="364236"/>
                  </a:lnTo>
                  <a:lnTo>
                    <a:pt x="11957304" y="0"/>
                  </a:lnTo>
                  <a:close/>
                </a:path>
              </a:pathLst>
            </a:custGeom>
            <a:solidFill>
              <a:srgbClr val="084634">
                <a:alpha val="70195"/>
              </a:srgbClr>
            </a:solidFill>
          </p:spPr>
          <p:txBody>
            <a:bodyPr wrap="square" lIns="0" tIns="0" rIns="0" bIns="0" rtlCol="0" anchor="ctr"/>
            <a:lstStyle/>
            <a:p>
              <a:r>
                <a:rPr lang="pt-BR" dirty="0"/>
                <a:t>  stop_.txt</a:t>
              </a:r>
              <a:endParaRPr dirty="0"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7A61942-75AA-C922-29A8-55F1CAD4F00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DD51DD2-FD16-7B08-DA21-77CA977EE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63285"/>
              </p:ext>
            </p:extLst>
          </p:nvPr>
        </p:nvGraphicFramePr>
        <p:xfrm>
          <a:off x="1866900" y="2242820"/>
          <a:ext cx="84582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718">
                  <a:extLst>
                    <a:ext uri="{9D8B030D-6E8A-4147-A177-3AD203B41FA5}">
                      <a16:colId xmlns:a16="http://schemas.microsoft.com/office/drawing/2014/main" val="4555079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00564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96195723"/>
                    </a:ext>
                  </a:extLst>
                </a:gridCol>
                <a:gridCol w="1523682">
                  <a:extLst>
                    <a:ext uri="{9D8B030D-6E8A-4147-A177-3AD203B41FA5}">
                      <a16:colId xmlns:a16="http://schemas.microsoft.com/office/drawing/2014/main" val="2672662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Nome da Coluna</a:t>
                      </a:r>
                      <a:endParaRPr lang="pt-BR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Tipo de Dado</a:t>
                      </a:r>
                      <a:endParaRPr lang="pt-BR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Descrição</a:t>
                      </a:r>
                      <a:endParaRPr lang="pt-BR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Exemplo</a:t>
                      </a:r>
                      <a:endParaRPr lang="pt-BR" dirty="0"/>
                    </a:p>
                  </a:txBody>
                  <a:tcPr anchor="ctr">
                    <a:solidFill>
                      <a:srgbClr val="376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431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stop_id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Texto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Identificador único da parada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18848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7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stop_name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Nome da parada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Clínicas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24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stop_desc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Texto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Referência ou observação sobre a parada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i="1"/>
                        <a:t>(vazio)</a:t>
                      </a:r>
                      <a:endParaRPr lang="pt-BR" sz="140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811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stop_lat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Número (Decimal)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Latitude da parada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-23.554022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558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 err="1"/>
                        <a:t>stop_lon</a:t>
                      </a:r>
                      <a:endParaRPr lang="pt-BR" sz="14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Número (Decimal)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Longitude da parada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-46.671108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850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722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0D1DB-7A63-7FAA-A486-9D715F2C9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4C136F-369A-E8B4-798C-55C57B5538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0" dirty="0"/>
              <a:t>Metadados</a:t>
            </a:r>
            <a:endParaRPr spc="-10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0B4FEFF-4476-4F37-86D9-246898A78EA3}"/>
              </a:ext>
            </a:extLst>
          </p:cNvPr>
          <p:cNvGrpSpPr/>
          <p:nvPr/>
        </p:nvGrpSpPr>
        <p:grpSpPr>
          <a:xfrm>
            <a:off x="107950" y="370077"/>
            <a:ext cx="11977370" cy="495934"/>
            <a:chOff x="107950" y="370077"/>
            <a:chExt cx="11977370" cy="49593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93124BF-FA37-10DE-D13D-7C77C507098D}"/>
                </a:ext>
              </a:extLst>
            </p:cNvPr>
            <p:cNvSpPr/>
            <p:nvPr/>
          </p:nvSpPr>
          <p:spPr>
            <a:xfrm>
              <a:off x="118110" y="380237"/>
              <a:ext cx="11957050" cy="0"/>
            </a:xfrm>
            <a:custGeom>
              <a:avLst/>
              <a:gdLst/>
              <a:ahLst/>
              <a:cxnLst/>
              <a:rect l="l" t="t" r="r" b="b"/>
              <a:pathLst>
                <a:path w="11957050">
                  <a:moveTo>
                    <a:pt x="0" y="0"/>
                  </a:moveTo>
                  <a:lnTo>
                    <a:pt x="11956796" y="0"/>
                  </a:lnTo>
                </a:path>
              </a:pathLst>
            </a:custGeom>
            <a:ln w="19812">
              <a:solidFill>
                <a:srgbClr val="0846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40A1D7D-395E-4C8D-0346-44192226DF0A}"/>
                </a:ext>
              </a:extLst>
            </p:cNvPr>
            <p:cNvSpPr/>
            <p:nvPr/>
          </p:nvSpPr>
          <p:spPr>
            <a:xfrm>
              <a:off x="117348" y="501395"/>
              <a:ext cx="11957685" cy="364490"/>
            </a:xfrm>
            <a:custGeom>
              <a:avLst/>
              <a:gdLst/>
              <a:ahLst/>
              <a:cxnLst/>
              <a:rect l="l" t="t" r="r" b="b"/>
              <a:pathLst>
                <a:path w="11957685" h="364490">
                  <a:moveTo>
                    <a:pt x="11957304" y="0"/>
                  </a:moveTo>
                  <a:lnTo>
                    <a:pt x="0" y="0"/>
                  </a:lnTo>
                  <a:lnTo>
                    <a:pt x="0" y="364236"/>
                  </a:lnTo>
                  <a:lnTo>
                    <a:pt x="11957304" y="364236"/>
                  </a:lnTo>
                  <a:lnTo>
                    <a:pt x="11957304" y="0"/>
                  </a:lnTo>
                  <a:close/>
                </a:path>
              </a:pathLst>
            </a:custGeom>
            <a:solidFill>
              <a:srgbClr val="08463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r>
                <a:rPr lang="pt-BR" dirty="0"/>
                <a:t>  Linhas Utilizadas</a:t>
              </a:r>
              <a:endParaRPr dirty="0"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D49A0CC-5E52-3B8C-3B0D-76E4E86D0AD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523E03F-B7D2-881F-4E91-730F4C98A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773909"/>
              </p:ext>
            </p:extLst>
          </p:nvPr>
        </p:nvGraphicFramePr>
        <p:xfrm>
          <a:off x="304800" y="1447800"/>
          <a:ext cx="46482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04002482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67683120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269749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id_linha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nome_linha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regiao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1221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Cachoeirinha – Lgo. São Francisco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zona_norte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6912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Vl. Sabrina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zona_norte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61393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Vl. Nova Galvão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zona_norte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8077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2495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Pirituba – Term. Lapa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zona_norte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01320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Jd. Peri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zona_norte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1573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Jd. Miriam –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zona_sul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83939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Sto. Amaro –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zona_sul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76648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1977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Guarapiranga – Term. Sto. Amaro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zona_sul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5862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1318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Jd. Selma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zona_sul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47134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2160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Aricanduva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zona_leste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5114280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73CE376-CA1A-B5EC-CCB6-EAAA904BC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937826"/>
              </p:ext>
            </p:extLst>
          </p:nvPr>
        </p:nvGraphicFramePr>
        <p:xfrm>
          <a:off x="6096000" y="1262380"/>
          <a:ext cx="53340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57774198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41533487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798545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id_linha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nome_linha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regiao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21492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Sapopemba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zona_leste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60092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2580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Cid. Tiradentes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zona_leste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7333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1808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Vl. Carrão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zona_leste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1781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Pirituba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zona_oeste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5925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1376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Lapa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zona_oeste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71418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Pirituba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zona_oeste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5246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Lapa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zona_oeste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81174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1523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Amaral Gurgel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7074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Pça. Ramos –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2004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Princesa Isabel – Term. Pq. D. Pedro II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63228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1366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Term. Amaral Gurgel – Term. Sto. Amaro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9709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303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8463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98704" y="761"/>
            <a:ext cx="11878310" cy="6506845"/>
            <a:chOff x="298704" y="761"/>
            <a:chExt cx="11878310" cy="65068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848" y="6044183"/>
              <a:ext cx="1723644" cy="4526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8610" y="761"/>
              <a:ext cx="11868150" cy="6497320"/>
            </a:xfrm>
            <a:custGeom>
              <a:avLst/>
              <a:gdLst/>
              <a:ahLst/>
              <a:cxnLst/>
              <a:rect l="l" t="t" r="r" b="b"/>
              <a:pathLst>
                <a:path w="11868150" h="6497320">
                  <a:moveTo>
                    <a:pt x="0" y="6496812"/>
                  </a:moveTo>
                  <a:lnTo>
                    <a:pt x="11868150" y="6496812"/>
                  </a:lnTo>
                </a:path>
                <a:path w="11868150" h="6497320">
                  <a:moveTo>
                    <a:pt x="0" y="0"/>
                  </a:moveTo>
                  <a:lnTo>
                    <a:pt x="0" y="6496189"/>
                  </a:lnTo>
                </a:path>
              </a:pathLst>
            </a:custGeom>
            <a:ln w="19812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9763" y="459333"/>
            <a:ext cx="185540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3200" spc="-20" dirty="0">
                <a:solidFill>
                  <a:srgbClr val="FFFFFF"/>
                </a:solidFill>
              </a:rPr>
              <a:t>GitHub</a:t>
            </a:r>
            <a:endParaRPr sz="320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0C91A43-AB40-336E-33EF-417412AB9125}"/>
              </a:ext>
            </a:extLst>
          </p:cNvPr>
          <p:cNvSpPr/>
          <p:nvPr/>
        </p:nvSpPr>
        <p:spPr>
          <a:xfrm>
            <a:off x="3412362" y="917958"/>
            <a:ext cx="5257800" cy="63500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12019D-2D47-CAC4-E793-EE208D2C6F94}"/>
              </a:ext>
            </a:extLst>
          </p:cNvPr>
          <p:cNvSpPr txBox="1"/>
          <p:nvPr/>
        </p:nvSpPr>
        <p:spPr>
          <a:xfrm>
            <a:off x="3600513" y="1055658"/>
            <a:ext cx="4838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https://github.com/xMACEDOx/Projeto_Final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7D34A4D-0DBA-B388-B086-ADEB53D2E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569" y="1821523"/>
            <a:ext cx="2846462" cy="2855795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E8D2152A-6E83-E6BD-072C-3CFA4E1615EE}"/>
              </a:ext>
            </a:extLst>
          </p:cNvPr>
          <p:cNvSpPr/>
          <p:nvPr/>
        </p:nvSpPr>
        <p:spPr>
          <a:xfrm>
            <a:off x="4154757" y="1562690"/>
            <a:ext cx="3657600" cy="3391661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object 7">
            <a:extLst>
              <a:ext uri="{FF2B5EF4-FFF2-40B4-BE49-F238E27FC236}">
                <a16:creationId xmlns:a16="http://schemas.microsoft.com/office/drawing/2014/main" id="{29987DEB-886B-F747-B9DD-E5F136BA78CB}"/>
              </a:ext>
            </a:extLst>
          </p:cNvPr>
          <p:cNvGrpSpPr/>
          <p:nvPr/>
        </p:nvGrpSpPr>
        <p:grpSpPr>
          <a:xfrm>
            <a:off x="581142" y="-2031"/>
            <a:ext cx="1552458" cy="1690186"/>
            <a:chOff x="393192" y="761"/>
            <a:chExt cx="2363215" cy="2589912"/>
          </a:xfrm>
        </p:grpSpPr>
        <p:sp>
          <p:nvSpPr>
            <p:cNvPr id="18" name="object 10">
              <a:extLst>
                <a:ext uri="{FF2B5EF4-FFF2-40B4-BE49-F238E27FC236}">
                  <a16:creationId xmlns:a16="http://schemas.microsoft.com/office/drawing/2014/main" id="{79EA05CD-D6B5-9137-0ECA-EB0D924D50FF}"/>
                </a:ext>
              </a:extLst>
            </p:cNvPr>
            <p:cNvSpPr/>
            <p:nvPr/>
          </p:nvSpPr>
          <p:spPr>
            <a:xfrm>
              <a:off x="540257" y="761"/>
              <a:ext cx="2216150" cy="2215515"/>
            </a:xfrm>
            <a:custGeom>
              <a:avLst/>
              <a:gdLst/>
              <a:ahLst/>
              <a:cxnLst/>
              <a:rect l="l" t="t" r="r" b="b"/>
              <a:pathLst>
                <a:path w="2216150" h="2215515">
                  <a:moveTo>
                    <a:pt x="0" y="1107694"/>
                  </a:moveTo>
                  <a:lnTo>
                    <a:pt x="1206" y="1055624"/>
                  </a:lnTo>
                  <a:lnTo>
                    <a:pt x="4787" y="1004062"/>
                  </a:lnTo>
                  <a:lnTo>
                    <a:pt x="10693" y="953262"/>
                  </a:lnTo>
                  <a:lnTo>
                    <a:pt x="18872" y="903097"/>
                  </a:lnTo>
                  <a:lnTo>
                    <a:pt x="29260" y="853694"/>
                  </a:lnTo>
                  <a:lnTo>
                    <a:pt x="41821" y="805180"/>
                  </a:lnTo>
                  <a:lnTo>
                    <a:pt x="56476" y="757555"/>
                  </a:lnTo>
                  <a:lnTo>
                    <a:pt x="73202" y="710946"/>
                  </a:lnTo>
                  <a:lnTo>
                    <a:pt x="91935" y="665226"/>
                  </a:lnTo>
                  <a:lnTo>
                    <a:pt x="112610" y="620649"/>
                  </a:lnTo>
                  <a:lnTo>
                    <a:pt x="135178" y="577088"/>
                  </a:lnTo>
                  <a:lnTo>
                    <a:pt x="159600" y="534670"/>
                  </a:lnTo>
                  <a:lnTo>
                    <a:pt x="185813" y="493522"/>
                  </a:lnTo>
                  <a:lnTo>
                    <a:pt x="213766" y="453517"/>
                  </a:lnTo>
                  <a:lnTo>
                    <a:pt x="243395" y="414909"/>
                  </a:lnTo>
                  <a:lnTo>
                    <a:pt x="274662" y="377698"/>
                  </a:lnTo>
                  <a:lnTo>
                    <a:pt x="307505" y="341884"/>
                  </a:lnTo>
                  <a:lnTo>
                    <a:pt x="341871" y="307467"/>
                  </a:lnTo>
                  <a:lnTo>
                    <a:pt x="377710" y="274574"/>
                  </a:lnTo>
                  <a:lnTo>
                    <a:pt x="414959" y="243332"/>
                  </a:lnTo>
                  <a:lnTo>
                    <a:pt x="453593" y="213741"/>
                  </a:lnTo>
                  <a:lnTo>
                    <a:pt x="493522" y="185801"/>
                  </a:lnTo>
                  <a:lnTo>
                    <a:pt x="534720" y="159639"/>
                  </a:lnTo>
                  <a:lnTo>
                    <a:pt x="577113" y="135128"/>
                  </a:lnTo>
                  <a:lnTo>
                    <a:pt x="620674" y="112649"/>
                  </a:lnTo>
                  <a:lnTo>
                    <a:pt x="665327" y="91948"/>
                  </a:lnTo>
                  <a:lnTo>
                    <a:pt x="711022" y="73152"/>
                  </a:lnTo>
                  <a:lnTo>
                    <a:pt x="757682" y="56515"/>
                  </a:lnTo>
                  <a:lnTo>
                    <a:pt x="805307" y="41783"/>
                  </a:lnTo>
                  <a:lnTo>
                    <a:pt x="853820" y="29210"/>
                  </a:lnTo>
                  <a:lnTo>
                    <a:pt x="903224" y="18923"/>
                  </a:lnTo>
                  <a:lnTo>
                    <a:pt x="953388" y="10668"/>
                  </a:lnTo>
                  <a:lnTo>
                    <a:pt x="1004188" y="4826"/>
                  </a:lnTo>
                  <a:lnTo>
                    <a:pt x="1055751" y="1143"/>
                  </a:lnTo>
                  <a:lnTo>
                    <a:pt x="1107821" y="0"/>
                  </a:lnTo>
                  <a:lnTo>
                    <a:pt x="1160018" y="1143"/>
                  </a:lnTo>
                  <a:lnTo>
                    <a:pt x="1211580" y="4826"/>
                  </a:lnTo>
                  <a:lnTo>
                    <a:pt x="1262380" y="10668"/>
                  </a:lnTo>
                  <a:lnTo>
                    <a:pt x="1312545" y="18923"/>
                  </a:lnTo>
                  <a:lnTo>
                    <a:pt x="1361948" y="29210"/>
                  </a:lnTo>
                  <a:lnTo>
                    <a:pt x="1410462" y="41783"/>
                  </a:lnTo>
                  <a:lnTo>
                    <a:pt x="1458087" y="56515"/>
                  </a:lnTo>
                  <a:lnTo>
                    <a:pt x="1504696" y="73152"/>
                  </a:lnTo>
                  <a:lnTo>
                    <a:pt x="1550416" y="91948"/>
                  </a:lnTo>
                  <a:lnTo>
                    <a:pt x="1595120" y="112649"/>
                  </a:lnTo>
                  <a:lnTo>
                    <a:pt x="1638681" y="135128"/>
                  </a:lnTo>
                  <a:lnTo>
                    <a:pt x="1681099" y="159639"/>
                  </a:lnTo>
                  <a:lnTo>
                    <a:pt x="1722247" y="185801"/>
                  </a:lnTo>
                  <a:lnTo>
                    <a:pt x="1762125" y="213741"/>
                  </a:lnTo>
                  <a:lnTo>
                    <a:pt x="1800733" y="243332"/>
                  </a:lnTo>
                  <a:lnTo>
                    <a:pt x="1838071" y="274574"/>
                  </a:lnTo>
                  <a:lnTo>
                    <a:pt x="1873885" y="307467"/>
                  </a:lnTo>
                  <a:lnTo>
                    <a:pt x="1908302" y="341884"/>
                  </a:lnTo>
                  <a:lnTo>
                    <a:pt x="1941068" y="377698"/>
                  </a:lnTo>
                  <a:lnTo>
                    <a:pt x="1972310" y="414909"/>
                  </a:lnTo>
                  <a:lnTo>
                    <a:pt x="2002028" y="453517"/>
                  </a:lnTo>
                  <a:lnTo>
                    <a:pt x="2029968" y="493522"/>
                  </a:lnTo>
                  <a:lnTo>
                    <a:pt x="2056130" y="534670"/>
                  </a:lnTo>
                  <a:lnTo>
                    <a:pt x="2080514" y="577088"/>
                  </a:lnTo>
                  <a:lnTo>
                    <a:pt x="2103120" y="620649"/>
                  </a:lnTo>
                  <a:lnTo>
                    <a:pt x="2123821" y="665226"/>
                  </a:lnTo>
                  <a:lnTo>
                    <a:pt x="2142617" y="710946"/>
                  </a:lnTo>
                  <a:lnTo>
                    <a:pt x="2159254" y="757555"/>
                  </a:lnTo>
                  <a:lnTo>
                    <a:pt x="2173986" y="805180"/>
                  </a:lnTo>
                  <a:lnTo>
                    <a:pt x="2186559" y="853694"/>
                  </a:lnTo>
                  <a:lnTo>
                    <a:pt x="2196846" y="903097"/>
                  </a:lnTo>
                  <a:lnTo>
                    <a:pt x="2205101" y="953262"/>
                  </a:lnTo>
                  <a:lnTo>
                    <a:pt x="2210943" y="1004062"/>
                  </a:lnTo>
                  <a:lnTo>
                    <a:pt x="2214499" y="1055624"/>
                  </a:lnTo>
                  <a:lnTo>
                    <a:pt x="2215769" y="1107694"/>
                  </a:lnTo>
                  <a:lnTo>
                    <a:pt x="2214499" y="1159891"/>
                  </a:lnTo>
                  <a:lnTo>
                    <a:pt x="2210943" y="1211453"/>
                  </a:lnTo>
                  <a:lnTo>
                    <a:pt x="2205101" y="1262253"/>
                  </a:lnTo>
                  <a:lnTo>
                    <a:pt x="2196846" y="1312418"/>
                  </a:lnTo>
                  <a:lnTo>
                    <a:pt x="2186559" y="1361694"/>
                  </a:lnTo>
                  <a:lnTo>
                    <a:pt x="2173986" y="1410208"/>
                  </a:lnTo>
                  <a:lnTo>
                    <a:pt x="2159254" y="1457833"/>
                  </a:lnTo>
                  <a:lnTo>
                    <a:pt x="2142617" y="1504569"/>
                  </a:lnTo>
                  <a:lnTo>
                    <a:pt x="2123821" y="1550289"/>
                  </a:lnTo>
                  <a:lnTo>
                    <a:pt x="2103120" y="1594866"/>
                  </a:lnTo>
                  <a:lnTo>
                    <a:pt x="2080514" y="1638427"/>
                  </a:lnTo>
                  <a:lnTo>
                    <a:pt x="2056130" y="1680845"/>
                  </a:lnTo>
                  <a:lnTo>
                    <a:pt x="2029968" y="1721993"/>
                  </a:lnTo>
                  <a:lnTo>
                    <a:pt x="2002028" y="1761998"/>
                  </a:lnTo>
                  <a:lnTo>
                    <a:pt x="1972310" y="1800606"/>
                  </a:lnTo>
                  <a:lnTo>
                    <a:pt x="1941068" y="1837817"/>
                  </a:lnTo>
                  <a:lnTo>
                    <a:pt x="1908302" y="1873631"/>
                  </a:lnTo>
                  <a:lnTo>
                    <a:pt x="1873885" y="1908048"/>
                  </a:lnTo>
                  <a:lnTo>
                    <a:pt x="1838071" y="1940814"/>
                  </a:lnTo>
                  <a:lnTo>
                    <a:pt x="1800733" y="1972183"/>
                  </a:lnTo>
                  <a:lnTo>
                    <a:pt x="1762125" y="2001774"/>
                  </a:lnTo>
                  <a:lnTo>
                    <a:pt x="1722247" y="2029714"/>
                  </a:lnTo>
                  <a:lnTo>
                    <a:pt x="1681099" y="2055876"/>
                  </a:lnTo>
                  <a:lnTo>
                    <a:pt x="1638681" y="2080387"/>
                  </a:lnTo>
                  <a:lnTo>
                    <a:pt x="1595120" y="2102866"/>
                  </a:lnTo>
                  <a:lnTo>
                    <a:pt x="1550416" y="2123567"/>
                  </a:lnTo>
                  <a:lnTo>
                    <a:pt x="1504696" y="2142236"/>
                  </a:lnTo>
                  <a:lnTo>
                    <a:pt x="1458087" y="2159000"/>
                  </a:lnTo>
                  <a:lnTo>
                    <a:pt x="1410462" y="2173732"/>
                  </a:lnTo>
                  <a:lnTo>
                    <a:pt x="1361948" y="2186178"/>
                  </a:lnTo>
                  <a:lnTo>
                    <a:pt x="1312545" y="2196592"/>
                  </a:lnTo>
                  <a:lnTo>
                    <a:pt x="1262380" y="2204847"/>
                  </a:lnTo>
                  <a:lnTo>
                    <a:pt x="1211580" y="2210689"/>
                  </a:lnTo>
                  <a:lnTo>
                    <a:pt x="1160018" y="2214245"/>
                  </a:lnTo>
                  <a:lnTo>
                    <a:pt x="1107821" y="2215515"/>
                  </a:lnTo>
                  <a:lnTo>
                    <a:pt x="1055751" y="2214245"/>
                  </a:lnTo>
                  <a:lnTo>
                    <a:pt x="1004188" y="2210689"/>
                  </a:lnTo>
                  <a:lnTo>
                    <a:pt x="953388" y="2204847"/>
                  </a:lnTo>
                  <a:lnTo>
                    <a:pt x="903224" y="2196592"/>
                  </a:lnTo>
                  <a:lnTo>
                    <a:pt x="853820" y="2186178"/>
                  </a:lnTo>
                  <a:lnTo>
                    <a:pt x="805307" y="2173732"/>
                  </a:lnTo>
                  <a:lnTo>
                    <a:pt x="757682" y="2159000"/>
                  </a:lnTo>
                  <a:lnTo>
                    <a:pt x="711022" y="2142236"/>
                  </a:lnTo>
                  <a:lnTo>
                    <a:pt x="665327" y="2123567"/>
                  </a:lnTo>
                  <a:lnTo>
                    <a:pt x="620674" y="2102866"/>
                  </a:lnTo>
                  <a:lnTo>
                    <a:pt x="577113" y="2080387"/>
                  </a:lnTo>
                  <a:lnTo>
                    <a:pt x="534720" y="2055876"/>
                  </a:lnTo>
                  <a:lnTo>
                    <a:pt x="493522" y="2029714"/>
                  </a:lnTo>
                  <a:lnTo>
                    <a:pt x="453593" y="2001774"/>
                  </a:lnTo>
                  <a:lnTo>
                    <a:pt x="414959" y="1972183"/>
                  </a:lnTo>
                  <a:lnTo>
                    <a:pt x="377710" y="1940814"/>
                  </a:lnTo>
                  <a:lnTo>
                    <a:pt x="341871" y="1908048"/>
                  </a:lnTo>
                  <a:lnTo>
                    <a:pt x="307505" y="1873631"/>
                  </a:lnTo>
                  <a:lnTo>
                    <a:pt x="274662" y="1837817"/>
                  </a:lnTo>
                  <a:lnTo>
                    <a:pt x="243395" y="1800606"/>
                  </a:lnTo>
                  <a:lnTo>
                    <a:pt x="213766" y="1761998"/>
                  </a:lnTo>
                  <a:lnTo>
                    <a:pt x="185813" y="1721993"/>
                  </a:lnTo>
                  <a:lnTo>
                    <a:pt x="159600" y="1680845"/>
                  </a:lnTo>
                  <a:lnTo>
                    <a:pt x="135178" y="1638427"/>
                  </a:lnTo>
                  <a:lnTo>
                    <a:pt x="112610" y="1594866"/>
                  </a:lnTo>
                  <a:lnTo>
                    <a:pt x="91935" y="1550289"/>
                  </a:lnTo>
                  <a:lnTo>
                    <a:pt x="73202" y="1504569"/>
                  </a:lnTo>
                  <a:lnTo>
                    <a:pt x="56476" y="1457833"/>
                  </a:lnTo>
                  <a:lnTo>
                    <a:pt x="41821" y="1410208"/>
                  </a:lnTo>
                  <a:lnTo>
                    <a:pt x="29260" y="1361694"/>
                  </a:lnTo>
                  <a:lnTo>
                    <a:pt x="18872" y="1312418"/>
                  </a:lnTo>
                  <a:lnTo>
                    <a:pt x="10693" y="1262253"/>
                  </a:lnTo>
                  <a:lnTo>
                    <a:pt x="4787" y="1211453"/>
                  </a:lnTo>
                  <a:lnTo>
                    <a:pt x="1206" y="1159891"/>
                  </a:lnTo>
                  <a:lnTo>
                    <a:pt x="0" y="1107694"/>
                  </a:lnTo>
                  <a:close/>
                </a:path>
              </a:pathLst>
            </a:custGeom>
            <a:ln w="38100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1">
              <a:extLst>
                <a:ext uri="{FF2B5EF4-FFF2-40B4-BE49-F238E27FC236}">
                  <a16:creationId xmlns:a16="http://schemas.microsoft.com/office/drawing/2014/main" id="{1270C465-95B9-2F8D-2E94-03E6EF3F5203}"/>
                </a:ext>
              </a:extLst>
            </p:cNvPr>
            <p:cNvSpPr/>
            <p:nvPr/>
          </p:nvSpPr>
          <p:spPr>
            <a:xfrm>
              <a:off x="707136" y="1961388"/>
              <a:ext cx="630555" cy="629285"/>
            </a:xfrm>
            <a:custGeom>
              <a:avLst/>
              <a:gdLst/>
              <a:ahLst/>
              <a:cxnLst/>
              <a:rect l="l" t="t" r="r" b="b"/>
              <a:pathLst>
                <a:path w="630555" h="629285">
                  <a:moveTo>
                    <a:pt x="315214" y="0"/>
                  </a:moveTo>
                  <a:lnTo>
                    <a:pt x="268617" y="3428"/>
                  </a:lnTo>
                  <a:lnTo>
                    <a:pt x="224154" y="13335"/>
                  </a:lnTo>
                  <a:lnTo>
                    <a:pt x="182308" y="29210"/>
                  </a:lnTo>
                  <a:lnTo>
                    <a:pt x="143548" y="50673"/>
                  </a:lnTo>
                  <a:lnTo>
                    <a:pt x="108381" y="77088"/>
                  </a:lnTo>
                  <a:lnTo>
                    <a:pt x="77292" y="108076"/>
                  </a:lnTo>
                  <a:lnTo>
                    <a:pt x="50774" y="143256"/>
                  </a:lnTo>
                  <a:lnTo>
                    <a:pt x="29286" y="181863"/>
                  </a:lnTo>
                  <a:lnTo>
                    <a:pt x="13334" y="223647"/>
                  </a:lnTo>
                  <a:lnTo>
                    <a:pt x="3416" y="267970"/>
                  </a:lnTo>
                  <a:lnTo>
                    <a:pt x="0" y="314451"/>
                  </a:lnTo>
                  <a:lnTo>
                    <a:pt x="3416" y="360934"/>
                  </a:lnTo>
                  <a:lnTo>
                    <a:pt x="13334" y="405257"/>
                  </a:lnTo>
                  <a:lnTo>
                    <a:pt x="29286" y="447039"/>
                  </a:lnTo>
                  <a:lnTo>
                    <a:pt x="50774" y="485648"/>
                  </a:lnTo>
                  <a:lnTo>
                    <a:pt x="77292" y="520826"/>
                  </a:lnTo>
                  <a:lnTo>
                    <a:pt x="108381" y="551814"/>
                  </a:lnTo>
                  <a:lnTo>
                    <a:pt x="143548" y="578231"/>
                  </a:lnTo>
                  <a:lnTo>
                    <a:pt x="182308" y="599694"/>
                  </a:lnTo>
                  <a:lnTo>
                    <a:pt x="224154" y="615569"/>
                  </a:lnTo>
                  <a:lnTo>
                    <a:pt x="268617" y="625475"/>
                  </a:lnTo>
                  <a:lnTo>
                    <a:pt x="315214" y="628903"/>
                  </a:lnTo>
                  <a:lnTo>
                    <a:pt x="361810" y="625475"/>
                  </a:lnTo>
                  <a:lnTo>
                    <a:pt x="406273" y="615569"/>
                  </a:lnTo>
                  <a:lnTo>
                    <a:pt x="448119" y="599694"/>
                  </a:lnTo>
                  <a:lnTo>
                    <a:pt x="486879" y="578231"/>
                  </a:lnTo>
                  <a:lnTo>
                    <a:pt x="522033" y="551814"/>
                  </a:lnTo>
                  <a:lnTo>
                    <a:pt x="553135" y="520826"/>
                  </a:lnTo>
                  <a:lnTo>
                    <a:pt x="579627" y="485648"/>
                  </a:lnTo>
                  <a:lnTo>
                    <a:pt x="601091" y="447039"/>
                  </a:lnTo>
                  <a:lnTo>
                    <a:pt x="617093" y="405257"/>
                  </a:lnTo>
                  <a:lnTo>
                    <a:pt x="626999" y="360934"/>
                  </a:lnTo>
                  <a:lnTo>
                    <a:pt x="630427" y="314451"/>
                  </a:lnTo>
                  <a:lnTo>
                    <a:pt x="626999" y="267970"/>
                  </a:lnTo>
                  <a:lnTo>
                    <a:pt x="617093" y="223647"/>
                  </a:lnTo>
                  <a:lnTo>
                    <a:pt x="601091" y="181863"/>
                  </a:lnTo>
                  <a:lnTo>
                    <a:pt x="579627" y="143256"/>
                  </a:lnTo>
                  <a:lnTo>
                    <a:pt x="553135" y="108076"/>
                  </a:lnTo>
                  <a:lnTo>
                    <a:pt x="522033" y="77088"/>
                  </a:lnTo>
                  <a:lnTo>
                    <a:pt x="486879" y="50673"/>
                  </a:lnTo>
                  <a:lnTo>
                    <a:pt x="448119" y="29210"/>
                  </a:lnTo>
                  <a:lnTo>
                    <a:pt x="406273" y="13335"/>
                  </a:lnTo>
                  <a:lnTo>
                    <a:pt x="361810" y="3428"/>
                  </a:lnTo>
                  <a:lnTo>
                    <a:pt x="315214" y="0"/>
                  </a:lnTo>
                  <a:close/>
                </a:path>
              </a:pathLst>
            </a:custGeom>
            <a:solidFill>
              <a:srgbClr val="C3F97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2">
              <a:extLst>
                <a:ext uri="{FF2B5EF4-FFF2-40B4-BE49-F238E27FC236}">
                  <a16:creationId xmlns:a16="http://schemas.microsoft.com/office/drawing/2014/main" id="{89D2101A-CE49-B264-4065-56A7C8290B25}"/>
                </a:ext>
              </a:extLst>
            </p:cNvPr>
            <p:cNvSpPr/>
            <p:nvPr/>
          </p:nvSpPr>
          <p:spPr>
            <a:xfrm>
              <a:off x="707136" y="1961388"/>
              <a:ext cx="630555" cy="629285"/>
            </a:xfrm>
            <a:custGeom>
              <a:avLst/>
              <a:gdLst/>
              <a:ahLst/>
              <a:cxnLst/>
              <a:rect l="l" t="t" r="r" b="b"/>
              <a:pathLst>
                <a:path w="630555" h="629285">
                  <a:moveTo>
                    <a:pt x="315214" y="0"/>
                  </a:moveTo>
                  <a:lnTo>
                    <a:pt x="268617" y="3428"/>
                  </a:lnTo>
                  <a:lnTo>
                    <a:pt x="224154" y="13335"/>
                  </a:lnTo>
                  <a:lnTo>
                    <a:pt x="182308" y="29210"/>
                  </a:lnTo>
                  <a:lnTo>
                    <a:pt x="143548" y="50673"/>
                  </a:lnTo>
                  <a:lnTo>
                    <a:pt x="108381" y="77088"/>
                  </a:lnTo>
                  <a:lnTo>
                    <a:pt x="77292" y="108076"/>
                  </a:lnTo>
                  <a:lnTo>
                    <a:pt x="50774" y="143256"/>
                  </a:lnTo>
                  <a:lnTo>
                    <a:pt x="29286" y="181863"/>
                  </a:lnTo>
                  <a:lnTo>
                    <a:pt x="13334" y="223647"/>
                  </a:lnTo>
                  <a:lnTo>
                    <a:pt x="3416" y="267970"/>
                  </a:lnTo>
                  <a:lnTo>
                    <a:pt x="0" y="314451"/>
                  </a:lnTo>
                  <a:lnTo>
                    <a:pt x="3416" y="360934"/>
                  </a:lnTo>
                  <a:lnTo>
                    <a:pt x="13334" y="405257"/>
                  </a:lnTo>
                  <a:lnTo>
                    <a:pt x="29286" y="447039"/>
                  </a:lnTo>
                  <a:lnTo>
                    <a:pt x="50774" y="485648"/>
                  </a:lnTo>
                  <a:lnTo>
                    <a:pt x="77292" y="520826"/>
                  </a:lnTo>
                  <a:lnTo>
                    <a:pt x="108381" y="551814"/>
                  </a:lnTo>
                  <a:lnTo>
                    <a:pt x="143548" y="578231"/>
                  </a:lnTo>
                  <a:lnTo>
                    <a:pt x="182308" y="599694"/>
                  </a:lnTo>
                  <a:lnTo>
                    <a:pt x="224154" y="615569"/>
                  </a:lnTo>
                  <a:lnTo>
                    <a:pt x="268617" y="625475"/>
                  </a:lnTo>
                  <a:lnTo>
                    <a:pt x="315214" y="628903"/>
                  </a:lnTo>
                  <a:lnTo>
                    <a:pt x="361810" y="625475"/>
                  </a:lnTo>
                  <a:lnTo>
                    <a:pt x="406273" y="615569"/>
                  </a:lnTo>
                  <a:lnTo>
                    <a:pt x="448119" y="599694"/>
                  </a:lnTo>
                  <a:lnTo>
                    <a:pt x="486879" y="578231"/>
                  </a:lnTo>
                  <a:lnTo>
                    <a:pt x="522033" y="551814"/>
                  </a:lnTo>
                  <a:lnTo>
                    <a:pt x="553135" y="520826"/>
                  </a:lnTo>
                  <a:lnTo>
                    <a:pt x="579627" y="485648"/>
                  </a:lnTo>
                  <a:lnTo>
                    <a:pt x="601091" y="447039"/>
                  </a:lnTo>
                  <a:lnTo>
                    <a:pt x="617093" y="405257"/>
                  </a:lnTo>
                  <a:lnTo>
                    <a:pt x="626999" y="360934"/>
                  </a:lnTo>
                  <a:lnTo>
                    <a:pt x="630427" y="314451"/>
                  </a:lnTo>
                  <a:lnTo>
                    <a:pt x="626999" y="267970"/>
                  </a:lnTo>
                  <a:lnTo>
                    <a:pt x="617093" y="223647"/>
                  </a:lnTo>
                  <a:lnTo>
                    <a:pt x="601091" y="181863"/>
                  </a:lnTo>
                  <a:lnTo>
                    <a:pt x="579627" y="143256"/>
                  </a:lnTo>
                  <a:lnTo>
                    <a:pt x="553135" y="108076"/>
                  </a:lnTo>
                  <a:lnTo>
                    <a:pt x="522033" y="77088"/>
                  </a:lnTo>
                  <a:lnTo>
                    <a:pt x="486879" y="50673"/>
                  </a:lnTo>
                  <a:lnTo>
                    <a:pt x="448119" y="29210"/>
                  </a:lnTo>
                  <a:lnTo>
                    <a:pt x="406273" y="13335"/>
                  </a:lnTo>
                  <a:lnTo>
                    <a:pt x="361810" y="3428"/>
                  </a:lnTo>
                  <a:lnTo>
                    <a:pt x="315214" y="0"/>
                  </a:lnTo>
                  <a:close/>
                </a:path>
              </a:pathLst>
            </a:custGeom>
            <a:ln w="9144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3">
              <a:extLst>
                <a:ext uri="{FF2B5EF4-FFF2-40B4-BE49-F238E27FC236}">
                  <a16:creationId xmlns:a16="http://schemas.microsoft.com/office/drawing/2014/main" id="{69C78557-4519-31E6-8862-ECD977F70AC0}"/>
                </a:ext>
              </a:extLst>
            </p:cNvPr>
            <p:cNvSpPr/>
            <p:nvPr/>
          </p:nvSpPr>
          <p:spPr>
            <a:xfrm>
              <a:off x="393192" y="121919"/>
              <a:ext cx="629285" cy="629285"/>
            </a:xfrm>
            <a:custGeom>
              <a:avLst/>
              <a:gdLst/>
              <a:ahLst/>
              <a:cxnLst/>
              <a:rect l="l" t="t" r="r" b="b"/>
              <a:pathLst>
                <a:path w="629285" h="629285">
                  <a:moveTo>
                    <a:pt x="314452" y="0"/>
                  </a:moveTo>
                  <a:lnTo>
                    <a:pt x="267970" y="3428"/>
                  </a:lnTo>
                  <a:lnTo>
                    <a:pt x="223608" y="13334"/>
                  </a:lnTo>
                  <a:lnTo>
                    <a:pt x="181864" y="29209"/>
                  </a:lnTo>
                  <a:lnTo>
                    <a:pt x="143205" y="50673"/>
                  </a:lnTo>
                  <a:lnTo>
                    <a:pt x="108127" y="77088"/>
                  </a:lnTo>
                  <a:lnTo>
                    <a:pt x="77114" y="108076"/>
                  </a:lnTo>
                  <a:lnTo>
                    <a:pt x="50647" y="143255"/>
                  </a:lnTo>
                  <a:lnTo>
                    <a:pt x="29222" y="181863"/>
                  </a:lnTo>
                  <a:lnTo>
                    <a:pt x="13309" y="223647"/>
                  </a:lnTo>
                  <a:lnTo>
                    <a:pt x="3403" y="267969"/>
                  </a:lnTo>
                  <a:lnTo>
                    <a:pt x="0" y="314451"/>
                  </a:lnTo>
                  <a:lnTo>
                    <a:pt x="3403" y="360933"/>
                  </a:lnTo>
                  <a:lnTo>
                    <a:pt x="13309" y="405256"/>
                  </a:lnTo>
                  <a:lnTo>
                    <a:pt x="29222" y="447039"/>
                  </a:lnTo>
                  <a:lnTo>
                    <a:pt x="50647" y="485647"/>
                  </a:lnTo>
                  <a:lnTo>
                    <a:pt x="77114" y="520826"/>
                  </a:lnTo>
                  <a:lnTo>
                    <a:pt x="108127" y="551814"/>
                  </a:lnTo>
                  <a:lnTo>
                    <a:pt x="143205" y="578230"/>
                  </a:lnTo>
                  <a:lnTo>
                    <a:pt x="181864" y="599693"/>
                  </a:lnTo>
                  <a:lnTo>
                    <a:pt x="223608" y="615568"/>
                  </a:lnTo>
                  <a:lnTo>
                    <a:pt x="267970" y="625475"/>
                  </a:lnTo>
                  <a:lnTo>
                    <a:pt x="314452" y="628903"/>
                  </a:lnTo>
                  <a:lnTo>
                    <a:pt x="360934" y="625475"/>
                  </a:lnTo>
                  <a:lnTo>
                    <a:pt x="405295" y="615568"/>
                  </a:lnTo>
                  <a:lnTo>
                    <a:pt x="447039" y="599693"/>
                  </a:lnTo>
                  <a:lnTo>
                    <a:pt x="485698" y="578230"/>
                  </a:lnTo>
                  <a:lnTo>
                    <a:pt x="520776" y="551814"/>
                  </a:lnTo>
                  <a:lnTo>
                    <a:pt x="551789" y="520826"/>
                  </a:lnTo>
                  <a:lnTo>
                    <a:pt x="578256" y="485647"/>
                  </a:lnTo>
                  <a:lnTo>
                    <a:pt x="599694" y="447039"/>
                  </a:lnTo>
                  <a:lnTo>
                    <a:pt x="615594" y="405256"/>
                  </a:lnTo>
                  <a:lnTo>
                    <a:pt x="625500" y="360933"/>
                  </a:lnTo>
                  <a:lnTo>
                    <a:pt x="628904" y="314451"/>
                  </a:lnTo>
                  <a:lnTo>
                    <a:pt x="625500" y="267969"/>
                  </a:lnTo>
                  <a:lnTo>
                    <a:pt x="615594" y="223647"/>
                  </a:lnTo>
                  <a:lnTo>
                    <a:pt x="599694" y="181863"/>
                  </a:lnTo>
                  <a:lnTo>
                    <a:pt x="578256" y="143255"/>
                  </a:lnTo>
                  <a:lnTo>
                    <a:pt x="551789" y="108076"/>
                  </a:lnTo>
                  <a:lnTo>
                    <a:pt x="520776" y="77088"/>
                  </a:lnTo>
                  <a:lnTo>
                    <a:pt x="485698" y="50673"/>
                  </a:lnTo>
                  <a:lnTo>
                    <a:pt x="447039" y="29209"/>
                  </a:lnTo>
                  <a:lnTo>
                    <a:pt x="405295" y="13334"/>
                  </a:lnTo>
                  <a:lnTo>
                    <a:pt x="360934" y="3428"/>
                  </a:lnTo>
                  <a:lnTo>
                    <a:pt x="314452" y="0"/>
                  </a:lnTo>
                  <a:close/>
                </a:path>
              </a:pathLst>
            </a:custGeom>
            <a:solidFill>
              <a:srgbClr val="C3F97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F628F9BD-3428-6FA0-2DA9-1827CAA676C6}"/>
                </a:ext>
              </a:extLst>
            </p:cNvPr>
            <p:cNvSpPr/>
            <p:nvPr/>
          </p:nvSpPr>
          <p:spPr>
            <a:xfrm>
              <a:off x="393192" y="121919"/>
              <a:ext cx="629285" cy="629285"/>
            </a:xfrm>
            <a:custGeom>
              <a:avLst/>
              <a:gdLst/>
              <a:ahLst/>
              <a:cxnLst/>
              <a:rect l="l" t="t" r="r" b="b"/>
              <a:pathLst>
                <a:path w="629285" h="629285">
                  <a:moveTo>
                    <a:pt x="314452" y="0"/>
                  </a:moveTo>
                  <a:lnTo>
                    <a:pt x="267970" y="3428"/>
                  </a:lnTo>
                  <a:lnTo>
                    <a:pt x="223608" y="13334"/>
                  </a:lnTo>
                  <a:lnTo>
                    <a:pt x="181864" y="29209"/>
                  </a:lnTo>
                  <a:lnTo>
                    <a:pt x="143205" y="50673"/>
                  </a:lnTo>
                  <a:lnTo>
                    <a:pt x="108127" y="77088"/>
                  </a:lnTo>
                  <a:lnTo>
                    <a:pt x="77114" y="108076"/>
                  </a:lnTo>
                  <a:lnTo>
                    <a:pt x="50647" y="143255"/>
                  </a:lnTo>
                  <a:lnTo>
                    <a:pt x="29222" y="181863"/>
                  </a:lnTo>
                  <a:lnTo>
                    <a:pt x="13309" y="223647"/>
                  </a:lnTo>
                  <a:lnTo>
                    <a:pt x="3403" y="267969"/>
                  </a:lnTo>
                  <a:lnTo>
                    <a:pt x="0" y="314451"/>
                  </a:lnTo>
                  <a:lnTo>
                    <a:pt x="3403" y="360933"/>
                  </a:lnTo>
                  <a:lnTo>
                    <a:pt x="13309" y="405256"/>
                  </a:lnTo>
                  <a:lnTo>
                    <a:pt x="29222" y="447039"/>
                  </a:lnTo>
                  <a:lnTo>
                    <a:pt x="50647" y="485647"/>
                  </a:lnTo>
                  <a:lnTo>
                    <a:pt x="77114" y="520826"/>
                  </a:lnTo>
                  <a:lnTo>
                    <a:pt x="108127" y="551814"/>
                  </a:lnTo>
                  <a:lnTo>
                    <a:pt x="143205" y="578230"/>
                  </a:lnTo>
                  <a:lnTo>
                    <a:pt x="181864" y="599693"/>
                  </a:lnTo>
                  <a:lnTo>
                    <a:pt x="223608" y="615568"/>
                  </a:lnTo>
                  <a:lnTo>
                    <a:pt x="267970" y="625475"/>
                  </a:lnTo>
                  <a:lnTo>
                    <a:pt x="314452" y="628903"/>
                  </a:lnTo>
                  <a:lnTo>
                    <a:pt x="360934" y="625475"/>
                  </a:lnTo>
                  <a:lnTo>
                    <a:pt x="405295" y="615568"/>
                  </a:lnTo>
                  <a:lnTo>
                    <a:pt x="447039" y="599693"/>
                  </a:lnTo>
                  <a:lnTo>
                    <a:pt x="485698" y="578230"/>
                  </a:lnTo>
                  <a:lnTo>
                    <a:pt x="520776" y="551814"/>
                  </a:lnTo>
                  <a:lnTo>
                    <a:pt x="551789" y="520826"/>
                  </a:lnTo>
                  <a:lnTo>
                    <a:pt x="578256" y="485647"/>
                  </a:lnTo>
                  <a:lnTo>
                    <a:pt x="599694" y="447039"/>
                  </a:lnTo>
                  <a:lnTo>
                    <a:pt x="615594" y="405256"/>
                  </a:lnTo>
                  <a:lnTo>
                    <a:pt x="625500" y="360933"/>
                  </a:lnTo>
                  <a:lnTo>
                    <a:pt x="628904" y="314451"/>
                  </a:lnTo>
                  <a:lnTo>
                    <a:pt x="625500" y="267969"/>
                  </a:lnTo>
                  <a:lnTo>
                    <a:pt x="615594" y="223647"/>
                  </a:lnTo>
                  <a:lnTo>
                    <a:pt x="599694" y="181863"/>
                  </a:lnTo>
                  <a:lnTo>
                    <a:pt x="578256" y="143255"/>
                  </a:lnTo>
                  <a:lnTo>
                    <a:pt x="551789" y="108076"/>
                  </a:lnTo>
                  <a:lnTo>
                    <a:pt x="520776" y="77088"/>
                  </a:lnTo>
                  <a:lnTo>
                    <a:pt x="485698" y="50673"/>
                  </a:lnTo>
                  <a:lnTo>
                    <a:pt x="447039" y="29209"/>
                  </a:lnTo>
                  <a:lnTo>
                    <a:pt x="405295" y="13334"/>
                  </a:lnTo>
                  <a:lnTo>
                    <a:pt x="360934" y="3428"/>
                  </a:lnTo>
                  <a:lnTo>
                    <a:pt x="314452" y="0"/>
                  </a:lnTo>
                  <a:close/>
                </a:path>
              </a:pathLst>
            </a:custGeom>
            <a:ln w="9144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11">
            <a:extLst>
              <a:ext uri="{FF2B5EF4-FFF2-40B4-BE49-F238E27FC236}">
                <a16:creationId xmlns:a16="http://schemas.microsoft.com/office/drawing/2014/main" id="{C0C0A4CA-C424-7D4F-C201-493AA8E92EB7}"/>
              </a:ext>
            </a:extLst>
          </p:cNvPr>
          <p:cNvSpPr/>
          <p:nvPr/>
        </p:nvSpPr>
        <p:spPr>
          <a:xfrm>
            <a:off x="1720206" y="14269"/>
            <a:ext cx="413394" cy="410674"/>
          </a:xfrm>
          <a:custGeom>
            <a:avLst/>
            <a:gdLst/>
            <a:ahLst/>
            <a:cxnLst/>
            <a:rect l="l" t="t" r="r" b="b"/>
            <a:pathLst>
              <a:path w="630555" h="629285">
                <a:moveTo>
                  <a:pt x="315214" y="0"/>
                </a:moveTo>
                <a:lnTo>
                  <a:pt x="268617" y="3428"/>
                </a:lnTo>
                <a:lnTo>
                  <a:pt x="224154" y="13335"/>
                </a:lnTo>
                <a:lnTo>
                  <a:pt x="182308" y="29210"/>
                </a:lnTo>
                <a:lnTo>
                  <a:pt x="143548" y="50673"/>
                </a:lnTo>
                <a:lnTo>
                  <a:pt x="108381" y="77088"/>
                </a:lnTo>
                <a:lnTo>
                  <a:pt x="77292" y="108076"/>
                </a:lnTo>
                <a:lnTo>
                  <a:pt x="50774" y="143256"/>
                </a:lnTo>
                <a:lnTo>
                  <a:pt x="29286" y="181863"/>
                </a:lnTo>
                <a:lnTo>
                  <a:pt x="13334" y="223647"/>
                </a:lnTo>
                <a:lnTo>
                  <a:pt x="3416" y="267970"/>
                </a:lnTo>
                <a:lnTo>
                  <a:pt x="0" y="314451"/>
                </a:lnTo>
                <a:lnTo>
                  <a:pt x="3416" y="360934"/>
                </a:lnTo>
                <a:lnTo>
                  <a:pt x="13334" y="405257"/>
                </a:lnTo>
                <a:lnTo>
                  <a:pt x="29286" y="447039"/>
                </a:lnTo>
                <a:lnTo>
                  <a:pt x="50774" y="485648"/>
                </a:lnTo>
                <a:lnTo>
                  <a:pt x="77292" y="520826"/>
                </a:lnTo>
                <a:lnTo>
                  <a:pt x="108381" y="551814"/>
                </a:lnTo>
                <a:lnTo>
                  <a:pt x="143548" y="578231"/>
                </a:lnTo>
                <a:lnTo>
                  <a:pt x="182308" y="599694"/>
                </a:lnTo>
                <a:lnTo>
                  <a:pt x="224154" y="615569"/>
                </a:lnTo>
                <a:lnTo>
                  <a:pt x="268617" y="625475"/>
                </a:lnTo>
                <a:lnTo>
                  <a:pt x="315214" y="628903"/>
                </a:lnTo>
                <a:lnTo>
                  <a:pt x="361810" y="625475"/>
                </a:lnTo>
                <a:lnTo>
                  <a:pt x="406273" y="615569"/>
                </a:lnTo>
                <a:lnTo>
                  <a:pt x="448119" y="599694"/>
                </a:lnTo>
                <a:lnTo>
                  <a:pt x="486879" y="578231"/>
                </a:lnTo>
                <a:lnTo>
                  <a:pt x="522033" y="551814"/>
                </a:lnTo>
                <a:lnTo>
                  <a:pt x="553135" y="520826"/>
                </a:lnTo>
                <a:lnTo>
                  <a:pt x="579627" y="485648"/>
                </a:lnTo>
                <a:lnTo>
                  <a:pt x="601091" y="447039"/>
                </a:lnTo>
                <a:lnTo>
                  <a:pt x="617093" y="405257"/>
                </a:lnTo>
                <a:lnTo>
                  <a:pt x="626999" y="360934"/>
                </a:lnTo>
                <a:lnTo>
                  <a:pt x="630427" y="314451"/>
                </a:lnTo>
                <a:lnTo>
                  <a:pt x="626999" y="267970"/>
                </a:lnTo>
                <a:lnTo>
                  <a:pt x="617093" y="223647"/>
                </a:lnTo>
                <a:lnTo>
                  <a:pt x="601091" y="181863"/>
                </a:lnTo>
                <a:lnTo>
                  <a:pt x="579627" y="143256"/>
                </a:lnTo>
                <a:lnTo>
                  <a:pt x="553135" y="108076"/>
                </a:lnTo>
                <a:lnTo>
                  <a:pt x="522033" y="77088"/>
                </a:lnTo>
                <a:lnTo>
                  <a:pt x="486879" y="50673"/>
                </a:lnTo>
                <a:lnTo>
                  <a:pt x="448119" y="29210"/>
                </a:lnTo>
                <a:lnTo>
                  <a:pt x="406273" y="13335"/>
                </a:lnTo>
                <a:lnTo>
                  <a:pt x="361810" y="3428"/>
                </a:lnTo>
                <a:lnTo>
                  <a:pt x="315214" y="0"/>
                </a:lnTo>
                <a:close/>
              </a:path>
            </a:pathLst>
          </a:custGeom>
          <a:solidFill>
            <a:srgbClr val="C3F975">
              <a:alpha val="5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E783A-5D0B-589E-836E-0218B8B3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4E942F-8546-0CC9-A750-CF334F65D9C9}"/>
              </a:ext>
            </a:extLst>
          </p:cNvPr>
          <p:cNvSpPr/>
          <p:nvPr/>
        </p:nvSpPr>
        <p:spPr>
          <a:xfrm>
            <a:off x="0" y="-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8463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1D2BABC-3BBE-B625-FF86-4D1AF787C3AB}"/>
              </a:ext>
            </a:extLst>
          </p:cNvPr>
          <p:cNvGrpSpPr/>
          <p:nvPr/>
        </p:nvGrpSpPr>
        <p:grpSpPr>
          <a:xfrm>
            <a:off x="298704" y="761"/>
            <a:ext cx="11878310" cy="6506845"/>
            <a:chOff x="298704" y="761"/>
            <a:chExt cx="11878310" cy="650684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B5BAD1B-D71E-4EC1-1760-D8E04CF28DA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848" y="6044183"/>
              <a:ext cx="1723644" cy="452628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B47DF9A-622B-309E-E85D-E350DCED33B3}"/>
                </a:ext>
              </a:extLst>
            </p:cNvPr>
            <p:cNvSpPr/>
            <p:nvPr/>
          </p:nvSpPr>
          <p:spPr>
            <a:xfrm>
              <a:off x="308610" y="761"/>
              <a:ext cx="11868150" cy="6497320"/>
            </a:xfrm>
            <a:custGeom>
              <a:avLst/>
              <a:gdLst/>
              <a:ahLst/>
              <a:cxnLst/>
              <a:rect l="l" t="t" r="r" b="b"/>
              <a:pathLst>
                <a:path w="11868150" h="6497320">
                  <a:moveTo>
                    <a:pt x="0" y="6496812"/>
                  </a:moveTo>
                  <a:lnTo>
                    <a:pt x="11868150" y="6496812"/>
                  </a:lnTo>
                </a:path>
                <a:path w="11868150" h="6497320">
                  <a:moveTo>
                    <a:pt x="0" y="0"/>
                  </a:moveTo>
                  <a:lnTo>
                    <a:pt x="0" y="6496189"/>
                  </a:lnTo>
                </a:path>
              </a:pathLst>
            </a:custGeom>
            <a:ln w="19812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079679D-BD09-ED93-023D-312FF8F40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3338" y="410293"/>
            <a:ext cx="1615062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400" spc="-20" dirty="0">
                <a:solidFill>
                  <a:srgbClr val="FFFFFF"/>
                </a:solidFill>
              </a:rPr>
              <a:t>Linkedin</a:t>
            </a:r>
            <a:endParaRPr sz="24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13B4461-79C9-D06E-EA6A-59226597601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@2020</a:t>
            </a:r>
            <a:r>
              <a:rPr spc="-50" dirty="0"/>
              <a:t> </a:t>
            </a:r>
            <a:r>
              <a:rPr dirty="0"/>
              <a:t>LABDATA</a:t>
            </a:r>
            <a:r>
              <a:rPr spc="-40" dirty="0"/>
              <a:t> </a:t>
            </a:r>
            <a:r>
              <a:rPr dirty="0"/>
              <a:t>FIA.</a:t>
            </a:r>
            <a:r>
              <a:rPr spc="-30" dirty="0"/>
              <a:t> </a:t>
            </a: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all rights</a:t>
            </a:r>
            <a:r>
              <a:rPr spc="-1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A3024E2-D188-1578-17CD-38EA04C2CD2B}"/>
              </a:ext>
            </a:extLst>
          </p:cNvPr>
          <p:cNvSpPr/>
          <p:nvPr/>
        </p:nvSpPr>
        <p:spPr>
          <a:xfrm>
            <a:off x="7315200" y="1195501"/>
            <a:ext cx="4263390" cy="555936"/>
          </a:xfrm>
          <a:prstGeom prst="rect">
            <a:avLst/>
          </a:prstGeom>
          <a:noFill/>
          <a:ln w="19050">
            <a:solidFill>
              <a:srgbClr val="C3F9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649C06D-6923-527D-220C-420F3B53A288}"/>
              </a:ext>
            </a:extLst>
          </p:cNvPr>
          <p:cNvSpPr/>
          <p:nvPr/>
        </p:nvSpPr>
        <p:spPr>
          <a:xfrm>
            <a:off x="7618095" y="1751437"/>
            <a:ext cx="3657600" cy="3391661"/>
          </a:xfrm>
          <a:prstGeom prst="rect">
            <a:avLst/>
          </a:prstGeom>
          <a:noFill/>
          <a:ln w="19050">
            <a:solidFill>
              <a:srgbClr val="C3F97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object 7">
            <a:extLst>
              <a:ext uri="{FF2B5EF4-FFF2-40B4-BE49-F238E27FC236}">
                <a16:creationId xmlns:a16="http://schemas.microsoft.com/office/drawing/2014/main" id="{51D40AEE-D4FA-0ECF-E82B-348085097AFF}"/>
              </a:ext>
            </a:extLst>
          </p:cNvPr>
          <p:cNvGrpSpPr/>
          <p:nvPr/>
        </p:nvGrpSpPr>
        <p:grpSpPr>
          <a:xfrm>
            <a:off x="648542" y="-2031"/>
            <a:ext cx="1296484" cy="1280305"/>
            <a:chOff x="460198" y="761"/>
            <a:chExt cx="1800016" cy="1552645"/>
          </a:xfrm>
        </p:grpSpPr>
        <p:sp>
          <p:nvSpPr>
            <p:cNvPr id="18" name="object 10">
              <a:extLst>
                <a:ext uri="{FF2B5EF4-FFF2-40B4-BE49-F238E27FC236}">
                  <a16:creationId xmlns:a16="http://schemas.microsoft.com/office/drawing/2014/main" id="{414A1D8B-CB6C-98FD-E4A4-E16F6B3A7210}"/>
                </a:ext>
              </a:extLst>
            </p:cNvPr>
            <p:cNvSpPr/>
            <p:nvPr/>
          </p:nvSpPr>
          <p:spPr>
            <a:xfrm>
              <a:off x="540257" y="761"/>
              <a:ext cx="1719957" cy="1552645"/>
            </a:xfrm>
            <a:custGeom>
              <a:avLst/>
              <a:gdLst/>
              <a:ahLst/>
              <a:cxnLst/>
              <a:rect l="l" t="t" r="r" b="b"/>
              <a:pathLst>
                <a:path w="2216150" h="2215515">
                  <a:moveTo>
                    <a:pt x="0" y="1107694"/>
                  </a:moveTo>
                  <a:lnTo>
                    <a:pt x="1206" y="1055624"/>
                  </a:lnTo>
                  <a:lnTo>
                    <a:pt x="4787" y="1004062"/>
                  </a:lnTo>
                  <a:lnTo>
                    <a:pt x="10693" y="953262"/>
                  </a:lnTo>
                  <a:lnTo>
                    <a:pt x="18872" y="903097"/>
                  </a:lnTo>
                  <a:lnTo>
                    <a:pt x="29260" y="853694"/>
                  </a:lnTo>
                  <a:lnTo>
                    <a:pt x="41821" y="805180"/>
                  </a:lnTo>
                  <a:lnTo>
                    <a:pt x="56476" y="757555"/>
                  </a:lnTo>
                  <a:lnTo>
                    <a:pt x="73202" y="710946"/>
                  </a:lnTo>
                  <a:lnTo>
                    <a:pt x="91935" y="665226"/>
                  </a:lnTo>
                  <a:lnTo>
                    <a:pt x="112610" y="620649"/>
                  </a:lnTo>
                  <a:lnTo>
                    <a:pt x="135178" y="577088"/>
                  </a:lnTo>
                  <a:lnTo>
                    <a:pt x="159600" y="534670"/>
                  </a:lnTo>
                  <a:lnTo>
                    <a:pt x="185813" y="493522"/>
                  </a:lnTo>
                  <a:lnTo>
                    <a:pt x="213766" y="453517"/>
                  </a:lnTo>
                  <a:lnTo>
                    <a:pt x="243395" y="414909"/>
                  </a:lnTo>
                  <a:lnTo>
                    <a:pt x="274662" y="377698"/>
                  </a:lnTo>
                  <a:lnTo>
                    <a:pt x="307505" y="341884"/>
                  </a:lnTo>
                  <a:lnTo>
                    <a:pt x="341871" y="307467"/>
                  </a:lnTo>
                  <a:lnTo>
                    <a:pt x="377710" y="274574"/>
                  </a:lnTo>
                  <a:lnTo>
                    <a:pt x="414959" y="243332"/>
                  </a:lnTo>
                  <a:lnTo>
                    <a:pt x="453593" y="213741"/>
                  </a:lnTo>
                  <a:lnTo>
                    <a:pt x="493522" y="185801"/>
                  </a:lnTo>
                  <a:lnTo>
                    <a:pt x="534720" y="159639"/>
                  </a:lnTo>
                  <a:lnTo>
                    <a:pt x="577113" y="135128"/>
                  </a:lnTo>
                  <a:lnTo>
                    <a:pt x="620674" y="112649"/>
                  </a:lnTo>
                  <a:lnTo>
                    <a:pt x="665327" y="91948"/>
                  </a:lnTo>
                  <a:lnTo>
                    <a:pt x="711022" y="73152"/>
                  </a:lnTo>
                  <a:lnTo>
                    <a:pt x="757682" y="56515"/>
                  </a:lnTo>
                  <a:lnTo>
                    <a:pt x="805307" y="41783"/>
                  </a:lnTo>
                  <a:lnTo>
                    <a:pt x="853820" y="29210"/>
                  </a:lnTo>
                  <a:lnTo>
                    <a:pt x="903224" y="18923"/>
                  </a:lnTo>
                  <a:lnTo>
                    <a:pt x="953388" y="10668"/>
                  </a:lnTo>
                  <a:lnTo>
                    <a:pt x="1004188" y="4826"/>
                  </a:lnTo>
                  <a:lnTo>
                    <a:pt x="1055751" y="1143"/>
                  </a:lnTo>
                  <a:lnTo>
                    <a:pt x="1107821" y="0"/>
                  </a:lnTo>
                  <a:lnTo>
                    <a:pt x="1160018" y="1143"/>
                  </a:lnTo>
                  <a:lnTo>
                    <a:pt x="1211580" y="4826"/>
                  </a:lnTo>
                  <a:lnTo>
                    <a:pt x="1262380" y="10668"/>
                  </a:lnTo>
                  <a:lnTo>
                    <a:pt x="1312545" y="18923"/>
                  </a:lnTo>
                  <a:lnTo>
                    <a:pt x="1361948" y="29210"/>
                  </a:lnTo>
                  <a:lnTo>
                    <a:pt x="1410462" y="41783"/>
                  </a:lnTo>
                  <a:lnTo>
                    <a:pt x="1458087" y="56515"/>
                  </a:lnTo>
                  <a:lnTo>
                    <a:pt x="1504696" y="73152"/>
                  </a:lnTo>
                  <a:lnTo>
                    <a:pt x="1550416" y="91948"/>
                  </a:lnTo>
                  <a:lnTo>
                    <a:pt x="1595120" y="112649"/>
                  </a:lnTo>
                  <a:lnTo>
                    <a:pt x="1638681" y="135128"/>
                  </a:lnTo>
                  <a:lnTo>
                    <a:pt x="1681099" y="159639"/>
                  </a:lnTo>
                  <a:lnTo>
                    <a:pt x="1722247" y="185801"/>
                  </a:lnTo>
                  <a:lnTo>
                    <a:pt x="1762125" y="213741"/>
                  </a:lnTo>
                  <a:lnTo>
                    <a:pt x="1800733" y="243332"/>
                  </a:lnTo>
                  <a:lnTo>
                    <a:pt x="1838071" y="274574"/>
                  </a:lnTo>
                  <a:lnTo>
                    <a:pt x="1873885" y="307467"/>
                  </a:lnTo>
                  <a:lnTo>
                    <a:pt x="1908302" y="341884"/>
                  </a:lnTo>
                  <a:lnTo>
                    <a:pt x="1941068" y="377698"/>
                  </a:lnTo>
                  <a:lnTo>
                    <a:pt x="1972310" y="414909"/>
                  </a:lnTo>
                  <a:lnTo>
                    <a:pt x="2002028" y="453517"/>
                  </a:lnTo>
                  <a:lnTo>
                    <a:pt x="2029968" y="493522"/>
                  </a:lnTo>
                  <a:lnTo>
                    <a:pt x="2056130" y="534670"/>
                  </a:lnTo>
                  <a:lnTo>
                    <a:pt x="2080514" y="577088"/>
                  </a:lnTo>
                  <a:lnTo>
                    <a:pt x="2103120" y="620649"/>
                  </a:lnTo>
                  <a:lnTo>
                    <a:pt x="2123821" y="665226"/>
                  </a:lnTo>
                  <a:lnTo>
                    <a:pt x="2142617" y="710946"/>
                  </a:lnTo>
                  <a:lnTo>
                    <a:pt x="2159254" y="757555"/>
                  </a:lnTo>
                  <a:lnTo>
                    <a:pt x="2173986" y="805180"/>
                  </a:lnTo>
                  <a:lnTo>
                    <a:pt x="2186559" y="853694"/>
                  </a:lnTo>
                  <a:lnTo>
                    <a:pt x="2196846" y="903097"/>
                  </a:lnTo>
                  <a:lnTo>
                    <a:pt x="2205101" y="953262"/>
                  </a:lnTo>
                  <a:lnTo>
                    <a:pt x="2210943" y="1004062"/>
                  </a:lnTo>
                  <a:lnTo>
                    <a:pt x="2214499" y="1055624"/>
                  </a:lnTo>
                  <a:lnTo>
                    <a:pt x="2215769" y="1107694"/>
                  </a:lnTo>
                  <a:lnTo>
                    <a:pt x="2214499" y="1159891"/>
                  </a:lnTo>
                  <a:lnTo>
                    <a:pt x="2210943" y="1211453"/>
                  </a:lnTo>
                  <a:lnTo>
                    <a:pt x="2205101" y="1262253"/>
                  </a:lnTo>
                  <a:lnTo>
                    <a:pt x="2196846" y="1312418"/>
                  </a:lnTo>
                  <a:lnTo>
                    <a:pt x="2186559" y="1361694"/>
                  </a:lnTo>
                  <a:lnTo>
                    <a:pt x="2173986" y="1410208"/>
                  </a:lnTo>
                  <a:lnTo>
                    <a:pt x="2159254" y="1457833"/>
                  </a:lnTo>
                  <a:lnTo>
                    <a:pt x="2142617" y="1504569"/>
                  </a:lnTo>
                  <a:lnTo>
                    <a:pt x="2123821" y="1550289"/>
                  </a:lnTo>
                  <a:lnTo>
                    <a:pt x="2103120" y="1594866"/>
                  </a:lnTo>
                  <a:lnTo>
                    <a:pt x="2080514" y="1638427"/>
                  </a:lnTo>
                  <a:lnTo>
                    <a:pt x="2056130" y="1680845"/>
                  </a:lnTo>
                  <a:lnTo>
                    <a:pt x="2029968" y="1721993"/>
                  </a:lnTo>
                  <a:lnTo>
                    <a:pt x="2002028" y="1761998"/>
                  </a:lnTo>
                  <a:lnTo>
                    <a:pt x="1972310" y="1800606"/>
                  </a:lnTo>
                  <a:lnTo>
                    <a:pt x="1941068" y="1837817"/>
                  </a:lnTo>
                  <a:lnTo>
                    <a:pt x="1908302" y="1873631"/>
                  </a:lnTo>
                  <a:lnTo>
                    <a:pt x="1873885" y="1908048"/>
                  </a:lnTo>
                  <a:lnTo>
                    <a:pt x="1838071" y="1940814"/>
                  </a:lnTo>
                  <a:lnTo>
                    <a:pt x="1800733" y="1972183"/>
                  </a:lnTo>
                  <a:lnTo>
                    <a:pt x="1762125" y="2001774"/>
                  </a:lnTo>
                  <a:lnTo>
                    <a:pt x="1722247" y="2029714"/>
                  </a:lnTo>
                  <a:lnTo>
                    <a:pt x="1681099" y="2055876"/>
                  </a:lnTo>
                  <a:lnTo>
                    <a:pt x="1638681" y="2080387"/>
                  </a:lnTo>
                  <a:lnTo>
                    <a:pt x="1595120" y="2102866"/>
                  </a:lnTo>
                  <a:lnTo>
                    <a:pt x="1550416" y="2123567"/>
                  </a:lnTo>
                  <a:lnTo>
                    <a:pt x="1504696" y="2142236"/>
                  </a:lnTo>
                  <a:lnTo>
                    <a:pt x="1458087" y="2159000"/>
                  </a:lnTo>
                  <a:lnTo>
                    <a:pt x="1410462" y="2173732"/>
                  </a:lnTo>
                  <a:lnTo>
                    <a:pt x="1361948" y="2186178"/>
                  </a:lnTo>
                  <a:lnTo>
                    <a:pt x="1312545" y="2196592"/>
                  </a:lnTo>
                  <a:lnTo>
                    <a:pt x="1262380" y="2204847"/>
                  </a:lnTo>
                  <a:lnTo>
                    <a:pt x="1211580" y="2210689"/>
                  </a:lnTo>
                  <a:lnTo>
                    <a:pt x="1160018" y="2214245"/>
                  </a:lnTo>
                  <a:lnTo>
                    <a:pt x="1107821" y="2215515"/>
                  </a:lnTo>
                  <a:lnTo>
                    <a:pt x="1055751" y="2214245"/>
                  </a:lnTo>
                  <a:lnTo>
                    <a:pt x="1004188" y="2210689"/>
                  </a:lnTo>
                  <a:lnTo>
                    <a:pt x="953388" y="2204847"/>
                  </a:lnTo>
                  <a:lnTo>
                    <a:pt x="903224" y="2196592"/>
                  </a:lnTo>
                  <a:lnTo>
                    <a:pt x="853820" y="2186178"/>
                  </a:lnTo>
                  <a:lnTo>
                    <a:pt x="805307" y="2173732"/>
                  </a:lnTo>
                  <a:lnTo>
                    <a:pt x="757682" y="2159000"/>
                  </a:lnTo>
                  <a:lnTo>
                    <a:pt x="711022" y="2142236"/>
                  </a:lnTo>
                  <a:lnTo>
                    <a:pt x="665327" y="2123567"/>
                  </a:lnTo>
                  <a:lnTo>
                    <a:pt x="620674" y="2102866"/>
                  </a:lnTo>
                  <a:lnTo>
                    <a:pt x="577113" y="2080387"/>
                  </a:lnTo>
                  <a:lnTo>
                    <a:pt x="534720" y="2055876"/>
                  </a:lnTo>
                  <a:lnTo>
                    <a:pt x="493522" y="2029714"/>
                  </a:lnTo>
                  <a:lnTo>
                    <a:pt x="453593" y="2001774"/>
                  </a:lnTo>
                  <a:lnTo>
                    <a:pt x="414959" y="1972183"/>
                  </a:lnTo>
                  <a:lnTo>
                    <a:pt x="377710" y="1940814"/>
                  </a:lnTo>
                  <a:lnTo>
                    <a:pt x="341871" y="1908048"/>
                  </a:lnTo>
                  <a:lnTo>
                    <a:pt x="307505" y="1873631"/>
                  </a:lnTo>
                  <a:lnTo>
                    <a:pt x="274662" y="1837817"/>
                  </a:lnTo>
                  <a:lnTo>
                    <a:pt x="243395" y="1800606"/>
                  </a:lnTo>
                  <a:lnTo>
                    <a:pt x="213766" y="1761998"/>
                  </a:lnTo>
                  <a:lnTo>
                    <a:pt x="185813" y="1721993"/>
                  </a:lnTo>
                  <a:lnTo>
                    <a:pt x="159600" y="1680845"/>
                  </a:lnTo>
                  <a:lnTo>
                    <a:pt x="135178" y="1638427"/>
                  </a:lnTo>
                  <a:lnTo>
                    <a:pt x="112610" y="1594866"/>
                  </a:lnTo>
                  <a:lnTo>
                    <a:pt x="91935" y="1550289"/>
                  </a:lnTo>
                  <a:lnTo>
                    <a:pt x="73202" y="1504569"/>
                  </a:lnTo>
                  <a:lnTo>
                    <a:pt x="56476" y="1457833"/>
                  </a:lnTo>
                  <a:lnTo>
                    <a:pt x="41821" y="1410208"/>
                  </a:lnTo>
                  <a:lnTo>
                    <a:pt x="29260" y="1361694"/>
                  </a:lnTo>
                  <a:lnTo>
                    <a:pt x="18872" y="1312418"/>
                  </a:lnTo>
                  <a:lnTo>
                    <a:pt x="10693" y="1262253"/>
                  </a:lnTo>
                  <a:lnTo>
                    <a:pt x="4787" y="1211453"/>
                  </a:lnTo>
                  <a:lnTo>
                    <a:pt x="1206" y="1159891"/>
                  </a:lnTo>
                  <a:lnTo>
                    <a:pt x="0" y="1107694"/>
                  </a:lnTo>
                  <a:close/>
                </a:path>
              </a:pathLst>
            </a:custGeom>
            <a:ln w="38100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13">
              <a:extLst>
                <a:ext uri="{FF2B5EF4-FFF2-40B4-BE49-F238E27FC236}">
                  <a16:creationId xmlns:a16="http://schemas.microsoft.com/office/drawing/2014/main" id="{A07B1AAD-50A3-4F97-F989-72681FAA69A2}"/>
                </a:ext>
              </a:extLst>
            </p:cNvPr>
            <p:cNvSpPr/>
            <p:nvPr/>
          </p:nvSpPr>
          <p:spPr>
            <a:xfrm>
              <a:off x="460198" y="102235"/>
              <a:ext cx="508039" cy="431853"/>
            </a:xfrm>
            <a:custGeom>
              <a:avLst/>
              <a:gdLst/>
              <a:ahLst/>
              <a:cxnLst/>
              <a:rect l="l" t="t" r="r" b="b"/>
              <a:pathLst>
                <a:path w="629285" h="629285">
                  <a:moveTo>
                    <a:pt x="314452" y="0"/>
                  </a:moveTo>
                  <a:lnTo>
                    <a:pt x="267970" y="3428"/>
                  </a:lnTo>
                  <a:lnTo>
                    <a:pt x="223608" y="13334"/>
                  </a:lnTo>
                  <a:lnTo>
                    <a:pt x="181864" y="29209"/>
                  </a:lnTo>
                  <a:lnTo>
                    <a:pt x="143205" y="50673"/>
                  </a:lnTo>
                  <a:lnTo>
                    <a:pt x="108127" y="77088"/>
                  </a:lnTo>
                  <a:lnTo>
                    <a:pt x="77114" y="108076"/>
                  </a:lnTo>
                  <a:lnTo>
                    <a:pt x="50647" y="143255"/>
                  </a:lnTo>
                  <a:lnTo>
                    <a:pt x="29222" y="181863"/>
                  </a:lnTo>
                  <a:lnTo>
                    <a:pt x="13309" y="223647"/>
                  </a:lnTo>
                  <a:lnTo>
                    <a:pt x="3403" y="267969"/>
                  </a:lnTo>
                  <a:lnTo>
                    <a:pt x="0" y="314451"/>
                  </a:lnTo>
                  <a:lnTo>
                    <a:pt x="3403" y="360933"/>
                  </a:lnTo>
                  <a:lnTo>
                    <a:pt x="13309" y="405256"/>
                  </a:lnTo>
                  <a:lnTo>
                    <a:pt x="29222" y="447039"/>
                  </a:lnTo>
                  <a:lnTo>
                    <a:pt x="50647" y="485647"/>
                  </a:lnTo>
                  <a:lnTo>
                    <a:pt x="77114" y="520826"/>
                  </a:lnTo>
                  <a:lnTo>
                    <a:pt x="108127" y="551814"/>
                  </a:lnTo>
                  <a:lnTo>
                    <a:pt x="143205" y="578230"/>
                  </a:lnTo>
                  <a:lnTo>
                    <a:pt x="181864" y="599693"/>
                  </a:lnTo>
                  <a:lnTo>
                    <a:pt x="223608" y="615568"/>
                  </a:lnTo>
                  <a:lnTo>
                    <a:pt x="267970" y="625475"/>
                  </a:lnTo>
                  <a:lnTo>
                    <a:pt x="314452" y="628903"/>
                  </a:lnTo>
                  <a:lnTo>
                    <a:pt x="360934" y="625475"/>
                  </a:lnTo>
                  <a:lnTo>
                    <a:pt x="405295" y="615568"/>
                  </a:lnTo>
                  <a:lnTo>
                    <a:pt x="447039" y="599693"/>
                  </a:lnTo>
                  <a:lnTo>
                    <a:pt x="485698" y="578230"/>
                  </a:lnTo>
                  <a:lnTo>
                    <a:pt x="520776" y="551814"/>
                  </a:lnTo>
                  <a:lnTo>
                    <a:pt x="551789" y="520826"/>
                  </a:lnTo>
                  <a:lnTo>
                    <a:pt x="578256" y="485647"/>
                  </a:lnTo>
                  <a:lnTo>
                    <a:pt x="599694" y="447039"/>
                  </a:lnTo>
                  <a:lnTo>
                    <a:pt x="615594" y="405256"/>
                  </a:lnTo>
                  <a:lnTo>
                    <a:pt x="625500" y="360933"/>
                  </a:lnTo>
                  <a:lnTo>
                    <a:pt x="628904" y="314451"/>
                  </a:lnTo>
                  <a:lnTo>
                    <a:pt x="625500" y="267969"/>
                  </a:lnTo>
                  <a:lnTo>
                    <a:pt x="615594" y="223647"/>
                  </a:lnTo>
                  <a:lnTo>
                    <a:pt x="599694" y="181863"/>
                  </a:lnTo>
                  <a:lnTo>
                    <a:pt x="578256" y="143255"/>
                  </a:lnTo>
                  <a:lnTo>
                    <a:pt x="551789" y="108076"/>
                  </a:lnTo>
                  <a:lnTo>
                    <a:pt x="520776" y="77088"/>
                  </a:lnTo>
                  <a:lnTo>
                    <a:pt x="485698" y="50673"/>
                  </a:lnTo>
                  <a:lnTo>
                    <a:pt x="447039" y="29209"/>
                  </a:lnTo>
                  <a:lnTo>
                    <a:pt x="405295" y="13334"/>
                  </a:lnTo>
                  <a:lnTo>
                    <a:pt x="360934" y="3428"/>
                  </a:lnTo>
                  <a:lnTo>
                    <a:pt x="314452" y="0"/>
                  </a:lnTo>
                  <a:close/>
                </a:path>
              </a:pathLst>
            </a:custGeom>
            <a:solidFill>
              <a:srgbClr val="C3F97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528329CA-DA20-58B8-F233-BC3E49A4DA6F}"/>
                </a:ext>
              </a:extLst>
            </p:cNvPr>
            <p:cNvSpPr/>
            <p:nvPr/>
          </p:nvSpPr>
          <p:spPr>
            <a:xfrm>
              <a:off x="460199" y="102235"/>
              <a:ext cx="508039" cy="431853"/>
            </a:xfrm>
            <a:custGeom>
              <a:avLst/>
              <a:gdLst/>
              <a:ahLst/>
              <a:cxnLst/>
              <a:rect l="l" t="t" r="r" b="b"/>
              <a:pathLst>
                <a:path w="629285" h="629285">
                  <a:moveTo>
                    <a:pt x="314452" y="0"/>
                  </a:moveTo>
                  <a:lnTo>
                    <a:pt x="267970" y="3428"/>
                  </a:lnTo>
                  <a:lnTo>
                    <a:pt x="223608" y="13334"/>
                  </a:lnTo>
                  <a:lnTo>
                    <a:pt x="181864" y="29209"/>
                  </a:lnTo>
                  <a:lnTo>
                    <a:pt x="143205" y="50673"/>
                  </a:lnTo>
                  <a:lnTo>
                    <a:pt x="108127" y="77088"/>
                  </a:lnTo>
                  <a:lnTo>
                    <a:pt x="77114" y="108076"/>
                  </a:lnTo>
                  <a:lnTo>
                    <a:pt x="50647" y="143255"/>
                  </a:lnTo>
                  <a:lnTo>
                    <a:pt x="29222" y="181863"/>
                  </a:lnTo>
                  <a:lnTo>
                    <a:pt x="13309" y="223647"/>
                  </a:lnTo>
                  <a:lnTo>
                    <a:pt x="3403" y="267969"/>
                  </a:lnTo>
                  <a:lnTo>
                    <a:pt x="0" y="314451"/>
                  </a:lnTo>
                  <a:lnTo>
                    <a:pt x="3403" y="360933"/>
                  </a:lnTo>
                  <a:lnTo>
                    <a:pt x="13309" y="405256"/>
                  </a:lnTo>
                  <a:lnTo>
                    <a:pt x="29222" y="447039"/>
                  </a:lnTo>
                  <a:lnTo>
                    <a:pt x="50647" y="485647"/>
                  </a:lnTo>
                  <a:lnTo>
                    <a:pt x="77114" y="520826"/>
                  </a:lnTo>
                  <a:lnTo>
                    <a:pt x="108127" y="551814"/>
                  </a:lnTo>
                  <a:lnTo>
                    <a:pt x="143205" y="578230"/>
                  </a:lnTo>
                  <a:lnTo>
                    <a:pt x="181864" y="599693"/>
                  </a:lnTo>
                  <a:lnTo>
                    <a:pt x="223608" y="615568"/>
                  </a:lnTo>
                  <a:lnTo>
                    <a:pt x="267970" y="625475"/>
                  </a:lnTo>
                  <a:lnTo>
                    <a:pt x="314452" y="628903"/>
                  </a:lnTo>
                  <a:lnTo>
                    <a:pt x="360934" y="625475"/>
                  </a:lnTo>
                  <a:lnTo>
                    <a:pt x="405295" y="615568"/>
                  </a:lnTo>
                  <a:lnTo>
                    <a:pt x="447039" y="599693"/>
                  </a:lnTo>
                  <a:lnTo>
                    <a:pt x="485698" y="578230"/>
                  </a:lnTo>
                  <a:lnTo>
                    <a:pt x="520776" y="551814"/>
                  </a:lnTo>
                  <a:lnTo>
                    <a:pt x="551789" y="520826"/>
                  </a:lnTo>
                  <a:lnTo>
                    <a:pt x="578256" y="485647"/>
                  </a:lnTo>
                  <a:lnTo>
                    <a:pt x="599694" y="447039"/>
                  </a:lnTo>
                  <a:lnTo>
                    <a:pt x="615594" y="405256"/>
                  </a:lnTo>
                  <a:lnTo>
                    <a:pt x="625500" y="360933"/>
                  </a:lnTo>
                  <a:lnTo>
                    <a:pt x="628904" y="314451"/>
                  </a:lnTo>
                  <a:lnTo>
                    <a:pt x="625500" y="267969"/>
                  </a:lnTo>
                  <a:lnTo>
                    <a:pt x="615594" y="223647"/>
                  </a:lnTo>
                  <a:lnTo>
                    <a:pt x="599694" y="181863"/>
                  </a:lnTo>
                  <a:lnTo>
                    <a:pt x="578256" y="143255"/>
                  </a:lnTo>
                  <a:lnTo>
                    <a:pt x="551789" y="108076"/>
                  </a:lnTo>
                  <a:lnTo>
                    <a:pt x="520776" y="77088"/>
                  </a:lnTo>
                  <a:lnTo>
                    <a:pt x="485698" y="50673"/>
                  </a:lnTo>
                  <a:lnTo>
                    <a:pt x="447039" y="29209"/>
                  </a:lnTo>
                  <a:lnTo>
                    <a:pt x="405295" y="13334"/>
                  </a:lnTo>
                  <a:lnTo>
                    <a:pt x="360934" y="3428"/>
                  </a:lnTo>
                  <a:lnTo>
                    <a:pt x="314452" y="0"/>
                  </a:lnTo>
                  <a:close/>
                </a:path>
              </a:pathLst>
            </a:custGeom>
            <a:ln w="9144">
              <a:solidFill>
                <a:srgbClr val="C3F975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3" name="object 11">
            <a:extLst>
              <a:ext uri="{FF2B5EF4-FFF2-40B4-BE49-F238E27FC236}">
                <a16:creationId xmlns:a16="http://schemas.microsoft.com/office/drawing/2014/main" id="{F3E729B6-BA59-F182-5D59-0C2ADA66E145}"/>
              </a:ext>
            </a:extLst>
          </p:cNvPr>
          <p:cNvSpPr/>
          <p:nvPr/>
        </p:nvSpPr>
        <p:spPr>
          <a:xfrm>
            <a:off x="1561102" y="18279"/>
            <a:ext cx="391544" cy="381516"/>
          </a:xfrm>
          <a:custGeom>
            <a:avLst/>
            <a:gdLst/>
            <a:ahLst/>
            <a:cxnLst/>
            <a:rect l="l" t="t" r="r" b="b"/>
            <a:pathLst>
              <a:path w="630555" h="629285">
                <a:moveTo>
                  <a:pt x="315214" y="0"/>
                </a:moveTo>
                <a:lnTo>
                  <a:pt x="268617" y="3428"/>
                </a:lnTo>
                <a:lnTo>
                  <a:pt x="224154" y="13335"/>
                </a:lnTo>
                <a:lnTo>
                  <a:pt x="182308" y="29210"/>
                </a:lnTo>
                <a:lnTo>
                  <a:pt x="143548" y="50673"/>
                </a:lnTo>
                <a:lnTo>
                  <a:pt x="108381" y="77088"/>
                </a:lnTo>
                <a:lnTo>
                  <a:pt x="77292" y="108076"/>
                </a:lnTo>
                <a:lnTo>
                  <a:pt x="50774" y="143256"/>
                </a:lnTo>
                <a:lnTo>
                  <a:pt x="29286" y="181863"/>
                </a:lnTo>
                <a:lnTo>
                  <a:pt x="13334" y="223647"/>
                </a:lnTo>
                <a:lnTo>
                  <a:pt x="3416" y="267970"/>
                </a:lnTo>
                <a:lnTo>
                  <a:pt x="0" y="314451"/>
                </a:lnTo>
                <a:lnTo>
                  <a:pt x="3416" y="360934"/>
                </a:lnTo>
                <a:lnTo>
                  <a:pt x="13334" y="405257"/>
                </a:lnTo>
                <a:lnTo>
                  <a:pt x="29286" y="447039"/>
                </a:lnTo>
                <a:lnTo>
                  <a:pt x="50774" y="485648"/>
                </a:lnTo>
                <a:lnTo>
                  <a:pt x="77292" y="520826"/>
                </a:lnTo>
                <a:lnTo>
                  <a:pt x="108381" y="551814"/>
                </a:lnTo>
                <a:lnTo>
                  <a:pt x="143548" y="578231"/>
                </a:lnTo>
                <a:lnTo>
                  <a:pt x="182308" y="599694"/>
                </a:lnTo>
                <a:lnTo>
                  <a:pt x="224154" y="615569"/>
                </a:lnTo>
                <a:lnTo>
                  <a:pt x="268617" y="625475"/>
                </a:lnTo>
                <a:lnTo>
                  <a:pt x="315214" y="628903"/>
                </a:lnTo>
                <a:lnTo>
                  <a:pt x="361810" y="625475"/>
                </a:lnTo>
                <a:lnTo>
                  <a:pt x="406273" y="615569"/>
                </a:lnTo>
                <a:lnTo>
                  <a:pt x="448119" y="599694"/>
                </a:lnTo>
                <a:lnTo>
                  <a:pt x="486879" y="578231"/>
                </a:lnTo>
                <a:lnTo>
                  <a:pt x="522033" y="551814"/>
                </a:lnTo>
                <a:lnTo>
                  <a:pt x="553135" y="520826"/>
                </a:lnTo>
                <a:lnTo>
                  <a:pt x="579627" y="485648"/>
                </a:lnTo>
                <a:lnTo>
                  <a:pt x="601091" y="447039"/>
                </a:lnTo>
                <a:lnTo>
                  <a:pt x="617093" y="405257"/>
                </a:lnTo>
                <a:lnTo>
                  <a:pt x="626999" y="360934"/>
                </a:lnTo>
                <a:lnTo>
                  <a:pt x="630427" y="314451"/>
                </a:lnTo>
                <a:lnTo>
                  <a:pt x="626999" y="267970"/>
                </a:lnTo>
                <a:lnTo>
                  <a:pt x="617093" y="223647"/>
                </a:lnTo>
                <a:lnTo>
                  <a:pt x="601091" y="181863"/>
                </a:lnTo>
                <a:lnTo>
                  <a:pt x="579627" y="143256"/>
                </a:lnTo>
                <a:lnTo>
                  <a:pt x="553135" y="108076"/>
                </a:lnTo>
                <a:lnTo>
                  <a:pt x="522033" y="77088"/>
                </a:lnTo>
                <a:lnTo>
                  <a:pt x="486879" y="50673"/>
                </a:lnTo>
                <a:lnTo>
                  <a:pt x="448119" y="29210"/>
                </a:lnTo>
                <a:lnTo>
                  <a:pt x="406273" y="13335"/>
                </a:lnTo>
                <a:lnTo>
                  <a:pt x="361810" y="3428"/>
                </a:lnTo>
                <a:lnTo>
                  <a:pt x="315214" y="0"/>
                </a:lnTo>
                <a:close/>
              </a:path>
            </a:pathLst>
          </a:custGeom>
          <a:solidFill>
            <a:srgbClr val="C3F975">
              <a:alpha val="5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FCD75B6-9E8E-C34C-1569-775D91C8D90D}"/>
              </a:ext>
            </a:extLst>
          </p:cNvPr>
          <p:cNvSpPr/>
          <p:nvPr/>
        </p:nvSpPr>
        <p:spPr>
          <a:xfrm>
            <a:off x="1978807" y="1176400"/>
            <a:ext cx="4263390" cy="555936"/>
          </a:xfrm>
          <a:prstGeom prst="rect">
            <a:avLst/>
          </a:prstGeom>
          <a:noFill/>
          <a:ln w="19050">
            <a:solidFill>
              <a:srgbClr val="C3F9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CBD5345-D04E-2886-34CD-ADE2684551DB}"/>
              </a:ext>
            </a:extLst>
          </p:cNvPr>
          <p:cNvSpPr/>
          <p:nvPr/>
        </p:nvSpPr>
        <p:spPr>
          <a:xfrm>
            <a:off x="2209800" y="1739072"/>
            <a:ext cx="3657600" cy="3391661"/>
          </a:xfrm>
          <a:prstGeom prst="rect">
            <a:avLst/>
          </a:prstGeom>
          <a:noFill/>
          <a:ln w="19050">
            <a:solidFill>
              <a:srgbClr val="C3F97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68CF767-F110-92F2-14E2-BFF39008929F}"/>
              </a:ext>
            </a:extLst>
          </p:cNvPr>
          <p:cNvSpPr txBox="1"/>
          <p:nvPr/>
        </p:nvSpPr>
        <p:spPr>
          <a:xfrm>
            <a:off x="2438400" y="1161981"/>
            <a:ext cx="3857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Vinicius Macedo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2945E39-D287-AB75-3BA0-179B2E82B78D}"/>
              </a:ext>
            </a:extLst>
          </p:cNvPr>
          <p:cNvSpPr txBox="1"/>
          <p:nvPr/>
        </p:nvSpPr>
        <p:spPr>
          <a:xfrm>
            <a:off x="8395419" y="1182037"/>
            <a:ext cx="2870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Yuri Castro</a:t>
            </a:r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EFFCA293-3935-4AB3-82B8-4816488597E5}"/>
              </a:ext>
            </a:extLst>
          </p:cNvPr>
          <p:cNvSpPr/>
          <p:nvPr/>
        </p:nvSpPr>
        <p:spPr>
          <a:xfrm>
            <a:off x="1365330" y="1047962"/>
            <a:ext cx="391544" cy="381516"/>
          </a:xfrm>
          <a:custGeom>
            <a:avLst/>
            <a:gdLst/>
            <a:ahLst/>
            <a:cxnLst/>
            <a:rect l="l" t="t" r="r" b="b"/>
            <a:pathLst>
              <a:path w="630555" h="629285">
                <a:moveTo>
                  <a:pt x="315214" y="0"/>
                </a:moveTo>
                <a:lnTo>
                  <a:pt x="268617" y="3428"/>
                </a:lnTo>
                <a:lnTo>
                  <a:pt x="224154" y="13335"/>
                </a:lnTo>
                <a:lnTo>
                  <a:pt x="182308" y="29210"/>
                </a:lnTo>
                <a:lnTo>
                  <a:pt x="143548" y="50673"/>
                </a:lnTo>
                <a:lnTo>
                  <a:pt x="108381" y="77088"/>
                </a:lnTo>
                <a:lnTo>
                  <a:pt x="77292" y="108076"/>
                </a:lnTo>
                <a:lnTo>
                  <a:pt x="50774" y="143256"/>
                </a:lnTo>
                <a:lnTo>
                  <a:pt x="29286" y="181863"/>
                </a:lnTo>
                <a:lnTo>
                  <a:pt x="13334" y="223647"/>
                </a:lnTo>
                <a:lnTo>
                  <a:pt x="3416" y="267970"/>
                </a:lnTo>
                <a:lnTo>
                  <a:pt x="0" y="314451"/>
                </a:lnTo>
                <a:lnTo>
                  <a:pt x="3416" y="360934"/>
                </a:lnTo>
                <a:lnTo>
                  <a:pt x="13334" y="405257"/>
                </a:lnTo>
                <a:lnTo>
                  <a:pt x="29286" y="447039"/>
                </a:lnTo>
                <a:lnTo>
                  <a:pt x="50774" y="485648"/>
                </a:lnTo>
                <a:lnTo>
                  <a:pt x="77292" y="520826"/>
                </a:lnTo>
                <a:lnTo>
                  <a:pt x="108381" y="551814"/>
                </a:lnTo>
                <a:lnTo>
                  <a:pt x="143548" y="578231"/>
                </a:lnTo>
                <a:lnTo>
                  <a:pt x="182308" y="599694"/>
                </a:lnTo>
                <a:lnTo>
                  <a:pt x="224154" y="615569"/>
                </a:lnTo>
                <a:lnTo>
                  <a:pt x="268617" y="625475"/>
                </a:lnTo>
                <a:lnTo>
                  <a:pt x="315214" y="628903"/>
                </a:lnTo>
                <a:lnTo>
                  <a:pt x="361810" y="625475"/>
                </a:lnTo>
                <a:lnTo>
                  <a:pt x="406273" y="615569"/>
                </a:lnTo>
                <a:lnTo>
                  <a:pt x="448119" y="599694"/>
                </a:lnTo>
                <a:lnTo>
                  <a:pt x="486879" y="578231"/>
                </a:lnTo>
                <a:lnTo>
                  <a:pt x="522033" y="551814"/>
                </a:lnTo>
                <a:lnTo>
                  <a:pt x="553135" y="520826"/>
                </a:lnTo>
                <a:lnTo>
                  <a:pt x="579627" y="485648"/>
                </a:lnTo>
                <a:lnTo>
                  <a:pt x="601091" y="447039"/>
                </a:lnTo>
                <a:lnTo>
                  <a:pt x="617093" y="405257"/>
                </a:lnTo>
                <a:lnTo>
                  <a:pt x="626999" y="360934"/>
                </a:lnTo>
                <a:lnTo>
                  <a:pt x="630427" y="314451"/>
                </a:lnTo>
                <a:lnTo>
                  <a:pt x="626999" y="267970"/>
                </a:lnTo>
                <a:lnTo>
                  <a:pt x="617093" y="223647"/>
                </a:lnTo>
                <a:lnTo>
                  <a:pt x="601091" y="181863"/>
                </a:lnTo>
                <a:lnTo>
                  <a:pt x="579627" y="143256"/>
                </a:lnTo>
                <a:lnTo>
                  <a:pt x="553135" y="108076"/>
                </a:lnTo>
                <a:lnTo>
                  <a:pt x="522033" y="77088"/>
                </a:lnTo>
                <a:lnTo>
                  <a:pt x="486879" y="50673"/>
                </a:lnTo>
                <a:lnTo>
                  <a:pt x="448119" y="29210"/>
                </a:lnTo>
                <a:lnTo>
                  <a:pt x="406273" y="13335"/>
                </a:lnTo>
                <a:lnTo>
                  <a:pt x="361810" y="3428"/>
                </a:lnTo>
                <a:lnTo>
                  <a:pt x="315214" y="0"/>
                </a:lnTo>
                <a:close/>
              </a:path>
            </a:pathLst>
          </a:custGeom>
          <a:solidFill>
            <a:srgbClr val="C3F975">
              <a:alpha val="5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F12EFCAF-C4D6-CEB5-29B0-6717586B2469}"/>
              </a:ext>
            </a:extLst>
          </p:cNvPr>
          <p:cNvSpPr/>
          <p:nvPr/>
        </p:nvSpPr>
        <p:spPr>
          <a:xfrm>
            <a:off x="1365330" y="1047962"/>
            <a:ext cx="391543" cy="381516"/>
          </a:xfrm>
          <a:custGeom>
            <a:avLst/>
            <a:gdLst/>
            <a:ahLst/>
            <a:cxnLst/>
            <a:rect l="l" t="t" r="r" b="b"/>
            <a:pathLst>
              <a:path w="629285" h="629285">
                <a:moveTo>
                  <a:pt x="314452" y="0"/>
                </a:moveTo>
                <a:lnTo>
                  <a:pt x="267970" y="3428"/>
                </a:lnTo>
                <a:lnTo>
                  <a:pt x="223608" y="13334"/>
                </a:lnTo>
                <a:lnTo>
                  <a:pt x="181864" y="29209"/>
                </a:lnTo>
                <a:lnTo>
                  <a:pt x="143205" y="50673"/>
                </a:lnTo>
                <a:lnTo>
                  <a:pt x="108127" y="77088"/>
                </a:lnTo>
                <a:lnTo>
                  <a:pt x="77114" y="108076"/>
                </a:lnTo>
                <a:lnTo>
                  <a:pt x="50647" y="143255"/>
                </a:lnTo>
                <a:lnTo>
                  <a:pt x="29222" y="181863"/>
                </a:lnTo>
                <a:lnTo>
                  <a:pt x="13309" y="223647"/>
                </a:lnTo>
                <a:lnTo>
                  <a:pt x="3403" y="267969"/>
                </a:lnTo>
                <a:lnTo>
                  <a:pt x="0" y="314451"/>
                </a:lnTo>
                <a:lnTo>
                  <a:pt x="3403" y="360933"/>
                </a:lnTo>
                <a:lnTo>
                  <a:pt x="13309" y="405256"/>
                </a:lnTo>
                <a:lnTo>
                  <a:pt x="29222" y="447039"/>
                </a:lnTo>
                <a:lnTo>
                  <a:pt x="50647" y="485647"/>
                </a:lnTo>
                <a:lnTo>
                  <a:pt x="77114" y="520826"/>
                </a:lnTo>
                <a:lnTo>
                  <a:pt x="108127" y="551814"/>
                </a:lnTo>
                <a:lnTo>
                  <a:pt x="143205" y="578230"/>
                </a:lnTo>
                <a:lnTo>
                  <a:pt x="181864" y="599693"/>
                </a:lnTo>
                <a:lnTo>
                  <a:pt x="223608" y="615568"/>
                </a:lnTo>
                <a:lnTo>
                  <a:pt x="267970" y="625475"/>
                </a:lnTo>
                <a:lnTo>
                  <a:pt x="314452" y="628903"/>
                </a:lnTo>
                <a:lnTo>
                  <a:pt x="360934" y="625475"/>
                </a:lnTo>
                <a:lnTo>
                  <a:pt x="405295" y="615568"/>
                </a:lnTo>
                <a:lnTo>
                  <a:pt x="447039" y="599693"/>
                </a:lnTo>
                <a:lnTo>
                  <a:pt x="485698" y="578230"/>
                </a:lnTo>
                <a:lnTo>
                  <a:pt x="520776" y="551814"/>
                </a:lnTo>
                <a:lnTo>
                  <a:pt x="551789" y="520826"/>
                </a:lnTo>
                <a:lnTo>
                  <a:pt x="578256" y="485647"/>
                </a:lnTo>
                <a:lnTo>
                  <a:pt x="599694" y="447039"/>
                </a:lnTo>
                <a:lnTo>
                  <a:pt x="615594" y="405256"/>
                </a:lnTo>
                <a:lnTo>
                  <a:pt x="625500" y="360933"/>
                </a:lnTo>
                <a:lnTo>
                  <a:pt x="628904" y="314451"/>
                </a:lnTo>
                <a:lnTo>
                  <a:pt x="625500" y="267969"/>
                </a:lnTo>
                <a:lnTo>
                  <a:pt x="615594" y="223647"/>
                </a:lnTo>
                <a:lnTo>
                  <a:pt x="599694" y="181863"/>
                </a:lnTo>
                <a:lnTo>
                  <a:pt x="578256" y="143255"/>
                </a:lnTo>
                <a:lnTo>
                  <a:pt x="551789" y="108076"/>
                </a:lnTo>
                <a:lnTo>
                  <a:pt x="520776" y="77088"/>
                </a:lnTo>
                <a:lnTo>
                  <a:pt x="485698" y="50673"/>
                </a:lnTo>
                <a:lnTo>
                  <a:pt x="447039" y="29209"/>
                </a:lnTo>
                <a:lnTo>
                  <a:pt x="405295" y="13334"/>
                </a:lnTo>
                <a:lnTo>
                  <a:pt x="360934" y="3428"/>
                </a:lnTo>
                <a:lnTo>
                  <a:pt x="314452" y="0"/>
                </a:lnTo>
                <a:close/>
              </a:path>
            </a:pathLst>
          </a:custGeom>
          <a:ln w="9144">
            <a:solidFill>
              <a:srgbClr val="C3F975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FF3DF6D6-0315-913F-8943-87FE5758E9F0}"/>
              </a:ext>
            </a:extLst>
          </p:cNvPr>
          <p:cNvSpPr/>
          <p:nvPr/>
        </p:nvSpPr>
        <p:spPr>
          <a:xfrm>
            <a:off x="1557928" y="18279"/>
            <a:ext cx="391543" cy="381516"/>
          </a:xfrm>
          <a:custGeom>
            <a:avLst/>
            <a:gdLst/>
            <a:ahLst/>
            <a:cxnLst/>
            <a:rect l="l" t="t" r="r" b="b"/>
            <a:pathLst>
              <a:path w="629285" h="629285">
                <a:moveTo>
                  <a:pt x="314452" y="0"/>
                </a:moveTo>
                <a:lnTo>
                  <a:pt x="267970" y="3428"/>
                </a:lnTo>
                <a:lnTo>
                  <a:pt x="223608" y="13334"/>
                </a:lnTo>
                <a:lnTo>
                  <a:pt x="181864" y="29209"/>
                </a:lnTo>
                <a:lnTo>
                  <a:pt x="143205" y="50673"/>
                </a:lnTo>
                <a:lnTo>
                  <a:pt x="108127" y="77088"/>
                </a:lnTo>
                <a:lnTo>
                  <a:pt x="77114" y="108076"/>
                </a:lnTo>
                <a:lnTo>
                  <a:pt x="50647" y="143255"/>
                </a:lnTo>
                <a:lnTo>
                  <a:pt x="29222" y="181863"/>
                </a:lnTo>
                <a:lnTo>
                  <a:pt x="13309" y="223647"/>
                </a:lnTo>
                <a:lnTo>
                  <a:pt x="3403" y="267969"/>
                </a:lnTo>
                <a:lnTo>
                  <a:pt x="0" y="314451"/>
                </a:lnTo>
                <a:lnTo>
                  <a:pt x="3403" y="360933"/>
                </a:lnTo>
                <a:lnTo>
                  <a:pt x="13309" y="405256"/>
                </a:lnTo>
                <a:lnTo>
                  <a:pt x="29222" y="447039"/>
                </a:lnTo>
                <a:lnTo>
                  <a:pt x="50647" y="485647"/>
                </a:lnTo>
                <a:lnTo>
                  <a:pt x="77114" y="520826"/>
                </a:lnTo>
                <a:lnTo>
                  <a:pt x="108127" y="551814"/>
                </a:lnTo>
                <a:lnTo>
                  <a:pt x="143205" y="578230"/>
                </a:lnTo>
                <a:lnTo>
                  <a:pt x="181864" y="599693"/>
                </a:lnTo>
                <a:lnTo>
                  <a:pt x="223608" y="615568"/>
                </a:lnTo>
                <a:lnTo>
                  <a:pt x="267970" y="625475"/>
                </a:lnTo>
                <a:lnTo>
                  <a:pt x="314452" y="628903"/>
                </a:lnTo>
                <a:lnTo>
                  <a:pt x="360934" y="625475"/>
                </a:lnTo>
                <a:lnTo>
                  <a:pt x="405295" y="615568"/>
                </a:lnTo>
                <a:lnTo>
                  <a:pt x="447039" y="599693"/>
                </a:lnTo>
                <a:lnTo>
                  <a:pt x="485698" y="578230"/>
                </a:lnTo>
                <a:lnTo>
                  <a:pt x="520776" y="551814"/>
                </a:lnTo>
                <a:lnTo>
                  <a:pt x="551789" y="520826"/>
                </a:lnTo>
                <a:lnTo>
                  <a:pt x="578256" y="485647"/>
                </a:lnTo>
                <a:lnTo>
                  <a:pt x="599694" y="447039"/>
                </a:lnTo>
                <a:lnTo>
                  <a:pt x="615594" y="405256"/>
                </a:lnTo>
                <a:lnTo>
                  <a:pt x="625500" y="360933"/>
                </a:lnTo>
                <a:lnTo>
                  <a:pt x="628904" y="314451"/>
                </a:lnTo>
                <a:lnTo>
                  <a:pt x="625500" y="267969"/>
                </a:lnTo>
                <a:lnTo>
                  <a:pt x="615594" y="223647"/>
                </a:lnTo>
                <a:lnTo>
                  <a:pt x="599694" y="181863"/>
                </a:lnTo>
                <a:lnTo>
                  <a:pt x="578256" y="143255"/>
                </a:lnTo>
                <a:lnTo>
                  <a:pt x="551789" y="108076"/>
                </a:lnTo>
                <a:lnTo>
                  <a:pt x="520776" y="77088"/>
                </a:lnTo>
                <a:lnTo>
                  <a:pt x="485698" y="50673"/>
                </a:lnTo>
                <a:lnTo>
                  <a:pt x="447039" y="29209"/>
                </a:lnTo>
                <a:lnTo>
                  <a:pt x="405295" y="13334"/>
                </a:lnTo>
                <a:lnTo>
                  <a:pt x="360934" y="3428"/>
                </a:lnTo>
                <a:lnTo>
                  <a:pt x="314452" y="0"/>
                </a:lnTo>
                <a:close/>
              </a:path>
            </a:pathLst>
          </a:custGeom>
          <a:ln w="9144">
            <a:solidFill>
              <a:srgbClr val="C3F975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34CB387B-6A67-B59A-E9D2-471FF3DB7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183" y="2007995"/>
            <a:ext cx="2764834" cy="2746524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AB768E83-81E6-DEA5-BDD5-169F93492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2007995"/>
            <a:ext cx="2718393" cy="269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3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67883" y="0"/>
            <a:ext cx="7024370" cy="6858000"/>
          </a:xfrm>
          <a:custGeom>
            <a:avLst/>
            <a:gdLst/>
            <a:ahLst/>
            <a:cxnLst/>
            <a:rect l="l" t="t" r="r" b="b"/>
            <a:pathLst>
              <a:path w="7024370" h="6858000">
                <a:moveTo>
                  <a:pt x="7024115" y="0"/>
                </a:moveTo>
                <a:lnTo>
                  <a:pt x="0" y="0"/>
                </a:lnTo>
                <a:lnTo>
                  <a:pt x="0" y="6858000"/>
                </a:lnTo>
                <a:lnTo>
                  <a:pt x="7024115" y="6858000"/>
                </a:lnTo>
                <a:lnTo>
                  <a:pt x="7024115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26706" y="4503165"/>
            <a:ext cx="2696845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http://labdata.fia.com.br</a:t>
            </a:r>
            <a:endParaRPr sz="2000" dirty="0">
              <a:latin typeface="Calibri"/>
              <a:cs typeface="Calibri"/>
            </a:endParaRPr>
          </a:p>
          <a:p>
            <a:pPr marL="12700" marR="140335">
              <a:lnSpc>
                <a:spcPct val="200000"/>
              </a:lnSpc>
              <a:spcBef>
                <a:spcPts val="5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Instagram: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@labdatafia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Facebook:</a:t>
            </a:r>
            <a:r>
              <a:rPr sz="20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@LabdataFIA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1819" y="967739"/>
            <a:ext cx="2458212" cy="27584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</TotalTime>
  <Words>1988</Words>
  <Application>Microsoft Office PowerPoint</Application>
  <PresentationFormat>Widescreen</PresentationFormat>
  <Paragraphs>342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1" baseType="lpstr">
      <vt:lpstr>Aptos Narrow</vt:lpstr>
      <vt:lpstr>Arial</vt:lpstr>
      <vt:lpstr>Calibri</vt:lpstr>
      <vt:lpstr>Segoe UI</vt:lpstr>
      <vt:lpstr>Segoe UI Symbol</vt:lpstr>
      <vt:lpstr>Times New Roman</vt:lpstr>
      <vt:lpstr>Wingdings</vt:lpstr>
      <vt:lpstr>Office Theme</vt:lpstr>
      <vt:lpstr>Apresentação do PowerPoint</vt:lpstr>
      <vt:lpstr>FIA Business School NOSSOS DIFERENCIAIS | QUEM SOMOS</vt:lpstr>
      <vt:lpstr>Labdata NOSSOS DIFERENCIAIS | QUEM SOMOS</vt:lpstr>
      <vt:lpstr>Corpo Diretivo ATUAÇÃO ACADÊMICA E PROFISSIONAL</vt:lpstr>
      <vt:lpstr>Apresentação do PowerPoint</vt:lpstr>
      <vt:lpstr>Introdução</vt:lpstr>
      <vt:lpstr>Introdução</vt:lpstr>
      <vt:lpstr>Objetivo</vt:lpstr>
      <vt:lpstr>Objetivo</vt:lpstr>
      <vt:lpstr>Objetivo</vt:lpstr>
      <vt:lpstr>Arquitetura</vt:lpstr>
      <vt:lpstr>Arquitetura do projeto</vt:lpstr>
      <vt:lpstr>Apresentação do PowerPoint</vt:lpstr>
      <vt:lpstr>Motivo das escolhas</vt:lpstr>
      <vt:lpstr>Apresentação do PowerPoint</vt:lpstr>
      <vt:lpstr>Metadados - GTFS</vt:lpstr>
      <vt:lpstr>Metadados - GTFS</vt:lpstr>
      <vt:lpstr>Metadados - GTFS</vt:lpstr>
      <vt:lpstr>Metadados - GTFS</vt:lpstr>
      <vt:lpstr>Metadados</vt:lpstr>
      <vt:lpstr>GitHub</vt:lpstr>
      <vt:lpstr>Linkedin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Victoria Rodrigues de Castro</dc:creator>
  <cp:lastModifiedBy>vinicius Macedo Martins</cp:lastModifiedBy>
  <cp:revision>2</cp:revision>
  <dcterms:created xsi:type="dcterms:W3CDTF">2025-11-10T01:12:29Z</dcterms:created>
  <dcterms:modified xsi:type="dcterms:W3CDTF">2025-11-12T08:00:15Z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2025-11-10T00:00:00Z</vt:filetime>
  </property>
  <property fmtid="{D5CDD505-2E9C-101B-9397-08002B2CF9AE}" pid="5" name="Producer">
    <vt:lpwstr>Microsoft® PowerPoint® 2019</vt:lpwstr>
  </property>
  <property fmtid="{D5CDD505-2E9C-101B-9397-08002B2CF9AE}" pid="6" name="MSIP_Label_defa4170-0d19-0005-0004-bc88714345d2_Enabled">
    <vt:lpwstr>true</vt:lpwstr>
  </property>
  <property fmtid="{D5CDD505-2E9C-101B-9397-08002B2CF9AE}" pid="7" name="MSIP_Label_defa4170-0d19-0005-0004-bc88714345d2_SetDate">
    <vt:lpwstr>2025-11-10T03:52:48Z</vt:lpwstr>
  </property>
  <property fmtid="{D5CDD505-2E9C-101B-9397-08002B2CF9AE}" pid="8" name="MSIP_Label_defa4170-0d19-0005-0004-bc88714345d2_Method">
    <vt:lpwstr>Standard</vt:lpwstr>
  </property>
  <property fmtid="{D5CDD505-2E9C-101B-9397-08002B2CF9AE}" pid="9" name="MSIP_Label_defa4170-0d19-0005-0004-bc88714345d2_Name">
    <vt:lpwstr>defa4170-0d19-0005-0004-bc88714345d2</vt:lpwstr>
  </property>
  <property fmtid="{D5CDD505-2E9C-101B-9397-08002B2CF9AE}" pid="10" name="MSIP_Label_defa4170-0d19-0005-0004-bc88714345d2_SiteId">
    <vt:lpwstr>38ae2f02-5710-4e12-80bb-83600c3fdf1e</vt:lpwstr>
  </property>
  <property fmtid="{D5CDD505-2E9C-101B-9397-08002B2CF9AE}" pid="11" name="MSIP_Label_defa4170-0d19-0005-0004-bc88714345d2_ActionId">
    <vt:lpwstr>1984303f-94cf-429a-979b-0941a0045f09</vt:lpwstr>
  </property>
  <property fmtid="{D5CDD505-2E9C-101B-9397-08002B2CF9AE}" pid="12" name="MSIP_Label_defa4170-0d19-0005-0004-bc88714345d2_ContentBits">
    <vt:lpwstr>0</vt:lpwstr>
  </property>
  <property fmtid="{D5CDD505-2E9C-101B-9397-08002B2CF9AE}" pid="13" name="MSIP_Label_defa4170-0d19-0005-0004-bc88714345d2_Tag">
    <vt:lpwstr>10, 3, 0, 1</vt:lpwstr>
  </property>
</Properties>
</file>